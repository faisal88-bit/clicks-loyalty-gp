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7"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6B61"/>
    <a:srgbClr val="959DA1"/>
    <a:srgbClr val="10242C"/>
    <a:srgbClr val="D8F3EC"/>
    <a:srgbClr val="B9B9B9"/>
    <a:srgbClr val="0E28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100" d="100"/>
          <a:sy n="100" d="100"/>
        </p:scale>
        <p:origin x="4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sal abidy" userId="5d173d2289cb2987" providerId="LiveId" clId="{15B7CFFE-0E9F-4671-BA2D-C0F2876F24F4}"/>
    <pc:docChg chg="undo custSel modSld">
      <pc:chgData name="faisal abidy" userId="5d173d2289cb2987" providerId="LiveId" clId="{15B7CFFE-0E9F-4671-BA2D-C0F2876F24F4}" dt="2026-06-02T18:43:55" v="27" actId="207"/>
      <pc:docMkLst>
        <pc:docMk/>
      </pc:docMkLst>
      <pc:sldChg chg="modSp mod">
        <pc:chgData name="faisal abidy" userId="5d173d2289cb2987" providerId="LiveId" clId="{15B7CFFE-0E9F-4671-BA2D-C0F2876F24F4}" dt="2026-06-02T18:42:54.902" v="24" actId="208"/>
        <pc:sldMkLst>
          <pc:docMk/>
          <pc:sldMk cId="0" sldId="260"/>
        </pc:sldMkLst>
        <pc:spChg chg="mod">
          <ac:chgData name="faisal abidy" userId="5d173d2289cb2987" providerId="LiveId" clId="{15B7CFFE-0E9F-4671-BA2D-C0F2876F24F4}" dt="2026-06-02T18:42:48.299" v="22" actId="208"/>
          <ac:spMkLst>
            <pc:docMk/>
            <pc:sldMk cId="0" sldId="260"/>
            <ac:spMk id="288" creationId="{00000000-0000-0000-0000-000000000000}"/>
          </ac:spMkLst>
        </pc:spChg>
        <pc:spChg chg="mod">
          <ac:chgData name="faisal abidy" userId="5d173d2289cb2987" providerId="LiveId" clId="{15B7CFFE-0E9F-4671-BA2D-C0F2876F24F4}" dt="2026-06-02T18:42:44.181" v="21" actId="208"/>
          <ac:spMkLst>
            <pc:docMk/>
            <pc:sldMk cId="0" sldId="260"/>
            <ac:spMk id="298" creationId="{00000000-0000-0000-0000-000000000000}"/>
          </ac:spMkLst>
        </pc:spChg>
        <pc:spChg chg="mod">
          <ac:chgData name="faisal abidy" userId="5d173d2289cb2987" providerId="LiveId" clId="{15B7CFFE-0E9F-4671-BA2D-C0F2876F24F4}" dt="2026-06-02T18:42:42.320" v="20" actId="208"/>
          <ac:spMkLst>
            <pc:docMk/>
            <pc:sldMk cId="0" sldId="260"/>
            <ac:spMk id="308" creationId="{00000000-0000-0000-0000-000000000000}"/>
          </ac:spMkLst>
        </pc:spChg>
        <pc:spChg chg="mod">
          <ac:chgData name="faisal abidy" userId="5d173d2289cb2987" providerId="LiveId" clId="{15B7CFFE-0E9F-4671-BA2D-C0F2876F24F4}" dt="2026-06-02T18:42:11.074" v="15" actId="207"/>
          <ac:spMkLst>
            <pc:docMk/>
            <pc:sldMk cId="0" sldId="260"/>
            <ac:spMk id="310" creationId="{00000000-0000-0000-0000-000000000000}"/>
          </ac:spMkLst>
        </pc:spChg>
        <pc:spChg chg="mod">
          <ac:chgData name="faisal abidy" userId="5d173d2289cb2987" providerId="LiveId" clId="{15B7CFFE-0E9F-4671-BA2D-C0F2876F24F4}" dt="2026-06-02T18:42:36.681" v="19" actId="207"/>
          <ac:spMkLst>
            <pc:docMk/>
            <pc:sldMk cId="0" sldId="260"/>
            <ac:spMk id="318" creationId="{00000000-0000-0000-0000-000000000000}"/>
          </ac:spMkLst>
        </pc:spChg>
        <pc:spChg chg="mod">
          <ac:chgData name="faisal abidy" userId="5d173d2289cb2987" providerId="LiveId" clId="{15B7CFFE-0E9F-4671-BA2D-C0F2876F24F4}" dt="2026-06-02T18:42:15.421" v="16" actId="207"/>
          <ac:spMkLst>
            <pc:docMk/>
            <pc:sldMk cId="0" sldId="260"/>
            <ac:spMk id="320" creationId="{00000000-0000-0000-0000-000000000000}"/>
          </ac:spMkLst>
        </pc:spChg>
        <pc:spChg chg="mod">
          <ac:chgData name="faisal abidy" userId="5d173d2289cb2987" providerId="LiveId" clId="{15B7CFFE-0E9F-4671-BA2D-C0F2876F24F4}" dt="2026-06-02T18:42:30.002" v="18" actId="207"/>
          <ac:spMkLst>
            <pc:docMk/>
            <pc:sldMk cId="0" sldId="260"/>
            <ac:spMk id="323" creationId="{00000000-0000-0000-0000-000000000000}"/>
          </ac:spMkLst>
        </pc:spChg>
        <pc:spChg chg="mod">
          <ac:chgData name="faisal abidy" userId="5d173d2289cb2987" providerId="LiveId" clId="{15B7CFFE-0E9F-4671-BA2D-C0F2876F24F4}" dt="2026-06-02T18:42:50.850" v="23" actId="208"/>
          <ac:spMkLst>
            <pc:docMk/>
            <pc:sldMk cId="0" sldId="260"/>
            <ac:spMk id="328" creationId="{00000000-0000-0000-0000-000000000000}"/>
          </ac:spMkLst>
        </pc:spChg>
        <pc:spChg chg="mod">
          <ac:chgData name="faisal abidy" userId="5d173d2289cb2987" providerId="LiveId" clId="{15B7CFFE-0E9F-4671-BA2D-C0F2876F24F4}" dt="2026-06-02T18:42:54.902" v="24" actId="208"/>
          <ac:spMkLst>
            <pc:docMk/>
            <pc:sldMk cId="0" sldId="260"/>
            <ac:spMk id="338" creationId="{00000000-0000-0000-0000-000000000000}"/>
          </ac:spMkLst>
        </pc:spChg>
      </pc:sldChg>
      <pc:sldChg chg="modSp mod">
        <pc:chgData name="faisal abidy" userId="5d173d2289cb2987" providerId="LiveId" clId="{15B7CFFE-0E9F-4671-BA2D-C0F2876F24F4}" dt="2026-06-02T18:43:55" v="27" actId="207"/>
        <pc:sldMkLst>
          <pc:docMk/>
          <pc:sldMk cId="0" sldId="275"/>
        </pc:sldMkLst>
        <pc:spChg chg="mod">
          <ac:chgData name="faisal abidy" userId="5d173d2289cb2987" providerId="LiveId" clId="{15B7CFFE-0E9F-4671-BA2D-C0F2876F24F4}" dt="2026-06-02T18:43:52.124" v="26" actId="207"/>
          <ac:spMkLst>
            <pc:docMk/>
            <pc:sldMk cId="0" sldId="275"/>
            <ac:spMk id="1565" creationId="{00000000-0000-0000-0000-000000000000}"/>
          </ac:spMkLst>
        </pc:spChg>
        <pc:spChg chg="mod">
          <ac:chgData name="faisal abidy" userId="5d173d2289cb2987" providerId="LiveId" clId="{15B7CFFE-0E9F-4671-BA2D-C0F2876F24F4}" dt="2026-06-02T18:43:55" v="27" actId="207"/>
          <ac:spMkLst>
            <pc:docMk/>
            <pc:sldMk cId="0" sldId="275"/>
            <ac:spMk id="1589" creationId="{00000000-0000-0000-0000-000000000000}"/>
          </ac:spMkLst>
        </pc:spChg>
      </pc:sldChg>
      <pc:sldChg chg="modSp mod">
        <pc:chgData name="faisal abidy" userId="5d173d2289cb2987" providerId="LiveId" clId="{15B7CFFE-0E9F-4671-BA2D-C0F2876F24F4}" dt="2026-06-02T18:41:45.517" v="14" actId="207"/>
        <pc:sldMkLst>
          <pc:docMk/>
          <pc:sldMk cId="3538532677" sldId="281"/>
        </pc:sldMkLst>
        <pc:spChg chg="mod">
          <ac:chgData name="faisal abidy" userId="5d173d2289cb2987" providerId="LiveId" clId="{15B7CFFE-0E9F-4671-BA2D-C0F2876F24F4}" dt="2026-06-02T18:41:06.819" v="8" actId="208"/>
          <ac:spMkLst>
            <pc:docMk/>
            <pc:sldMk cId="3538532677" sldId="281"/>
            <ac:spMk id="111" creationId="{B6CD73ED-A543-58D5-0FCC-B99717CFE9C6}"/>
          </ac:spMkLst>
        </pc:spChg>
        <pc:spChg chg="mod">
          <ac:chgData name="faisal abidy" userId="5d173d2289cb2987" providerId="LiveId" clId="{15B7CFFE-0E9F-4671-BA2D-C0F2876F24F4}" dt="2026-06-02T18:41:03.782" v="7" actId="208"/>
          <ac:spMkLst>
            <pc:docMk/>
            <pc:sldMk cId="3538532677" sldId="281"/>
            <ac:spMk id="112" creationId="{937AFE77-F4B9-3595-1F39-295A8EFBEC4C}"/>
          </ac:spMkLst>
        </pc:spChg>
        <pc:spChg chg="mod">
          <ac:chgData name="faisal abidy" userId="5d173d2289cb2987" providerId="LiveId" clId="{15B7CFFE-0E9F-4671-BA2D-C0F2876F24F4}" dt="2026-06-02T18:41:03.782" v="7" actId="208"/>
          <ac:spMkLst>
            <pc:docMk/>
            <pc:sldMk cId="3538532677" sldId="281"/>
            <ac:spMk id="113" creationId="{1AC5C98A-C3D7-FA32-371D-07D63741E0D4}"/>
          </ac:spMkLst>
        </pc:spChg>
        <pc:spChg chg="mod">
          <ac:chgData name="faisal abidy" userId="5d173d2289cb2987" providerId="LiveId" clId="{15B7CFFE-0E9F-4671-BA2D-C0F2876F24F4}" dt="2026-06-02T18:41:37.240" v="12" actId="207"/>
          <ac:spMkLst>
            <pc:docMk/>
            <pc:sldMk cId="3538532677" sldId="281"/>
            <ac:spMk id="115" creationId="{5094F69D-8BEF-5F27-2B4F-B16368AC331D}"/>
          </ac:spMkLst>
        </pc:spChg>
        <pc:spChg chg="mod">
          <ac:chgData name="faisal abidy" userId="5d173d2289cb2987" providerId="LiveId" clId="{15B7CFFE-0E9F-4671-BA2D-C0F2876F24F4}" dt="2026-06-02T18:40:58.181" v="5" actId="208"/>
          <ac:spMkLst>
            <pc:docMk/>
            <pc:sldMk cId="3538532677" sldId="281"/>
            <ac:spMk id="122" creationId="{230432D3-C0E9-A1E3-1C3B-6CFA473E2C5D}"/>
          </ac:spMkLst>
        </pc:spChg>
        <pc:spChg chg="mod">
          <ac:chgData name="faisal abidy" userId="5d173d2289cb2987" providerId="LiveId" clId="{15B7CFFE-0E9F-4671-BA2D-C0F2876F24F4}" dt="2026-06-02T18:41:33.856" v="11" actId="207"/>
          <ac:spMkLst>
            <pc:docMk/>
            <pc:sldMk cId="3538532677" sldId="281"/>
            <ac:spMk id="126" creationId="{A4BCA308-6AEB-D592-0393-0998F28DF653}"/>
          </ac:spMkLst>
        </pc:spChg>
        <pc:spChg chg="mod">
          <ac:chgData name="faisal abidy" userId="5d173d2289cb2987" providerId="LiveId" clId="{15B7CFFE-0E9F-4671-BA2D-C0F2876F24F4}" dt="2026-06-02T18:40:53.530" v="4" actId="208"/>
          <ac:spMkLst>
            <pc:docMk/>
            <pc:sldMk cId="3538532677" sldId="281"/>
            <ac:spMk id="133" creationId="{D15F4D57-8C99-03EA-11A6-A69F1CD6C945}"/>
          </ac:spMkLst>
        </pc:spChg>
        <pc:spChg chg="mod">
          <ac:chgData name="faisal abidy" userId="5d173d2289cb2987" providerId="LiveId" clId="{15B7CFFE-0E9F-4671-BA2D-C0F2876F24F4}" dt="2026-06-02T18:41:40.643" v="13" actId="207"/>
          <ac:spMkLst>
            <pc:docMk/>
            <pc:sldMk cId="3538532677" sldId="281"/>
            <ac:spMk id="137" creationId="{324766DD-45C7-BAA1-0E4D-66C26F5C344D}"/>
          </ac:spMkLst>
        </pc:spChg>
        <pc:spChg chg="mod">
          <ac:chgData name="faisal abidy" userId="5d173d2289cb2987" providerId="LiveId" clId="{15B7CFFE-0E9F-4671-BA2D-C0F2876F24F4}" dt="2026-06-02T18:40:50.745" v="3" actId="208"/>
          <ac:spMkLst>
            <pc:docMk/>
            <pc:sldMk cId="3538532677" sldId="281"/>
            <ac:spMk id="144" creationId="{8877E905-406F-8DAF-116C-90AE9F46E791}"/>
          </ac:spMkLst>
        </pc:spChg>
        <pc:spChg chg="mod">
          <ac:chgData name="faisal abidy" userId="5d173d2289cb2987" providerId="LiveId" clId="{15B7CFFE-0E9F-4671-BA2D-C0F2876F24F4}" dt="2026-06-02T18:41:45.517" v="14" actId="207"/>
          <ac:spMkLst>
            <pc:docMk/>
            <pc:sldMk cId="3538532677" sldId="281"/>
            <ac:spMk id="148" creationId="{9781FFDC-4F28-2432-9731-C1BAFD38D947}"/>
          </ac:spMkLst>
        </pc:spChg>
        <pc:spChg chg="mod">
          <ac:chgData name="faisal abidy" userId="5d173d2289cb2987" providerId="LiveId" clId="{15B7CFFE-0E9F-4671-BA2D-C0F2876F24F4}" dt="2026-06-02T18:40:40.902" v="2" actId="207"/>
          <ac:spMkLst>
            <pc:docMk/>
            <pc:sldMk cId="3538532677" sldId="281"/>
            <ac:spMk id="155" creationId="{F153E33C-21C0-8447-DDE5-090584D5B9A4}"/>
          </ac:spMkLst>
        </pc:spChg>
        <pc:spChg chg="mod">
          <ac:chgData name="faisal abidy" userId="5d173d2289cb2987" providerId="LiveId" clId="{15B7CFFE-0E9F-4671-BA2D-C0F2876F24F4}" dt="2026-06-02T18:40:33.408" v="1" actId="207"/>
          <ac:spMkLst>
            <pc:docMk/>
            <pc:sldMk cId="3538532677" sldId="281"/>
            <ac:spMk id="157" creationId="{6402E618-0AD2-3094-943D-7178B192557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14400" y="1844675"/>
            <a:ext cx="10363200" cy="20415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3" name="Body Level One…"/>
          <p:cNvSpPr txBox="1">
            <a:spLocks noGrp="1"/>
          </p:cNvSpPr>
          <p:nvPr>
            <p:ph type="body" idx="1"/>
          </p:nvPr>
        </p:nvSpPr>
        <p:spPr>
          <a:xfrm>
            <a:off x="1828800" y="3886200"/>
            <a:ext cx="8534400" cy="2971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sz="28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p:cNvSpPr/>
          <p:nvPr/>
        </p:nvSpPr>
        <p:spPr>
          <a:xfrm>
            <a:off x="0" y="0"/>
            <a:ext cx="12192000" cy="76200"/>
          </a:xfrm>
          <a:prstGeom prst="rect">
            <a:avLst/>
          </a:prstGeom>
          <a:solidFill>
            <a:srgbClr val="0E2834"/>
          </a:solidFill>
          <a:ln w="3175">
            <a:solidFill>
              <a:srgbClr val="000000">
                <a:alpha val="0"/>
              </a:srgbClr>
            </a:solidFill>
          </a:ln>
        </p:spPr>
        <p:txBody>
          <a:bodyPr lIns="0" tIns="0" rIns="0" bIns="0"/>
          <a:lstStyle/>
          <a:p>
            <a:endParaRPr/>
          </a:p>
        </p:txBody>
      </p:sp>
      <p:grpSp>
        <p:nvGrpSpPr>
          <p:cNvPr id="107" name="Group"/>
          <p:cNvGrpSpPr/>
          <p:nvPr/>
        </p:nvGrpSpPr>
        <p:grpSpPr>
          <a:xfrm>
            <a:off x="533400" y="6438900"/>
            <a:ext cx="4953000" cy="228600"/>
            <a:chOff x="0" y="0"/>
            <a:chExt cx="4953000" cy="228600"/>
          </a:xfrm>
        </p:grpSpPr>
        <p:sp>
          <p:nvSpPr>
            <p:cNvPr id="105"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06"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endParaRPr dirty="0"/>
            </a:p>
          </p:txBody>
        </p:sp>
      </p:grpSp>
      <p:grpSp>
        <p:nvGrpSpPr>
          <p:cNvPr id="110" name="Group"/>
          <p:cNvGrpSpPr/>
          <p:nvPr/>
        </p:nvGrpSpPr>
        <p:grpSpPr>
          <a:xfrm>
            <a:off x="11125200" y="6419850"/>
            <a:ext cx="514350" cy="228600"/>
            <a:chOff x="0" y="0"/>
            <a:chExt cx="514350" cy="228600"/>
          </a:xfrm>
        </p:grpSpPr>
        <p:sp>
          <p:nvSpPr>
            <p:cNvPr id="108"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09" name="02"/>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rPr dirty="0"/>
                <a:t>0</a:t>
              </a:r>
              <a:r>
                <a:rPr lang="en-US" dirty="0"/>
                <a:t>1</a:t>
              </a:r>
              <a:endParaRPr dirty="0"/>
            </a:p>
          </p:txBody>
        </p:sp>
      </p:grpSp>
      <p:sp>
        <p:nvSpPr>
          <p:cNvPr id="4" name="Soft Panel"/>
          <p:cNvSpPr/>
          <p:nvPr/>
        </p:nvSpPr>
        <p:spPr>
          <a:xfrm>
            <a:off x="4860000" y="1133686"/>
            <a:ext cx="5700000" cy="4460000"/>
          </a:xfrm>
          <a:prstGeom prst="rect">
            <a:avLst/>
          </a:prstGeom>
          <a:solidFill>
            <a:srgbClr val="EAF3F0"/>
          </a:solidFill>
          <a:ln>
            <a:noFill/>
          </a:ln>
        </p:spPr>
        <p:txBody>
          <a:bodyPr/>
          <a:lstStyle/>
          <a:p>
            <a:endParaRPr/>
          </a:p>
        </p:txBody>
      </p:sp>
      <p:sp>
        <p:nvSpPr>
          <p:cNvPr id="5" name="Project Accent"/>
          <p:cNvSpPr/>
          <p:nvPr/>
        </p:nvSpPr>
        <p:spPr>
          <a:xfrm>
            <a:off x="4850000" y="1860000"/>
            <a:ext cx="125000" cy="1360000"/>
          </a:xfrm>
          <a:prstGeom prst="rect">
            <a:avLst/>
          </a:prstGeom>
          <a:solidFill>
            <a:srgbClr val="0A6B61"/>
          </a:solidFill>
          <a:ln>
            <a:noFill/>
          </a:ln>
        </p:spPr>
        <p:txBody>
          <a:bodyPr/>
          <a:lstStyle/>
          <a:p>
            <a:endParaRPr/>
          </a:p>
        </p:txBody>
      </p:sp>
      <p:sp>
        <p:nvSpPr>
          <p:cNvPr id="6" name="Project Label"/>
          <p:cNvSpPr txBox="1"/>
          <p:nvPr/>
        </p:nvSpPr>
        <p:spPr>
          <a:xfrm>
            <a:off x="5200000" y="1450000"/>
            <a:ext cx="4550000" cy="280000"/>
          </a:xfrm>
          <a:prstGeom prst="rect">
            <a:avLst/>
          </a:prstGeom>
          <a:noFill/>
          <a:ln>
            <a:noFill/>
          </a:ln>
        </p:spPr>
        <p:txBody>
          <a:bodyPr wrap="square" lIns="0" tIns="0" rIns="0" bIns="0" anchor="t">
            <a:spAutoFit/>
          </a:bodyPr>
          <a:lstStyle/>
          <a:p>
            <a:pPr algn="l">
              <a:lnSpc>
                <a:spcPct val="100000"/>
              </a:lnSpc>
              <a:spcBef>
                <a:spcPts val="0"/>
              </a:spcBef>
              <a:spcAft>
                <a:spcPts val="0"/>
              </a:spcAft>
            </a:pPr>
            <a:r>
              <a:rPr lang="en-US" sz="1350" b="1">
                <a:solidFill>
                  <a:srgbClr val="0A6B61"/>
                </a:solidFill>
                <a:latin typeface="Aptos Display"/>
                <a:ea typeface="Aptos Display"/>
                <a:cs typeface="Aptos Display"/>
              </a:rPr>
              <a:t>GRADUATION PROJECT</a:t>
            </a:r>
          </a:p>
        </p:txBody>
      </p:sp>
      <p:sp>
        <p:nvSpPr>
          <p:cNvPr id="7" name="Project Title"/>
          <p:cNvSpPr txBox="1"/>
          <p:nvPr/>
        </p:nvSpPr>
        <p:spPr>
          <a:xfrm>
            <a:off x="5200000" y="1880000"/>
            <a:ext cx="5000000" cy="1400000"/>
          </a:xfrm>
          <a:prstGeom prst="rect">
            <a:avLst/>
          </a:prstGeom>
          <a:noFill/>
          <a:ln>
            <a:noFill/>
          </a:ln>
        </p:spPr>
        <p:txBody>
          <a:bodyPr wrap="square" lIns="0" tIns="0" rIns="0" bIns="0" anchor="t">
            <a:spAutoFit/>
          </a:bodyPr>
          <a:lstStyle/>
          <a:p>
            <a:pPr algn="l">
              <a:lnSpc>
                <a:spcPct val="100000"/>
              </a:lnSpc>
              <a:spcBef>
                <a:spcPts val="0"/>
              </a:spcBef>
              <a:spcAft>
                <a:spcPts val="0"/>
              </a:spcAft>
            </a:pPr>
            <a:r>
              <a:rPr lang="en-US" sz="3200" b="1">
                <a:solidFill>
                  <a:srgbClr val="123B5D"/>
                </a:solidFill>
                <a:latin typeface="Aptos Display"/>
                <a:ea typeface="Aptos Display"/>
                <a:cs typeface="Aptos Display"/>
              </a:rPr>
              <a:t>Clicks Loyalty Analytics</a:t>
            </a:r>
          </a:p>
          <a:p>
            <a:pPr algn="l">
              <a:lnSpc>
                <a:spcPct val="100000"/>
              </a:lnSpc>
              <a:spcBef>
                <a:spcPts val="0"/>
              </a:spcBef>
              <a:spcAft>
                <a:spcPts val="0"/>
              </a:spcAft>
            </a:pPr>
            <a:r>
              <a:rPr lang="en-US" sz="3200" b="1">
                <a:solidFill>
                  <a:srgbClr val="123B5D"/>
                </a:solidFill>
                <a:latin typeface="Aptos Display"/>
                <a:ea typeface="Aptos Display"/>
                <a:cs typeface="Aptos Display"/>
              </a:rPr>
              <a:t>And Machine Learning System</a:t>
            </a:r>
          </a:p>
        </p:txBody>
      </p:sp>
      <p:sp>
        <p:nvSpPr>
          <p:cNvPr id="8" name="Byline Rule"/>
          <p:cNvSpPr/>
          <p:nvPr/>
        </p:nvSpPr>
        <p:spPr>
          <a:xfrm>
            <a:off x="5200000" y="3940000"/>
            <a:ext cx="1300000" cy="55000"/>
          </a:xfrm>
          <a:prstGeom prst="rect">
            <a:avLst/>
          </a:prstGeom>
          <a:solidFill>
            <a:srgbClr val="0A6B61"/>
          </a:solidFill>
          <a:ln>
            <a:noFill/>
          </a:ln>
        </p:spPr>
        <p:txBody>
          <a:bodyPr/>
          <a:lstStyle/>
          <a:p>
            <a:endParaRPr/>
          </a:p>
        </p:txBody>
      </p:sp>
      <p:sp>
        <p:nvSpPr>
          <p:cNvPr id="9" name="Done By"/>
          <p:cNvSpPr txBox="1"/>
          <p:nvPr/>
        </p:nvSpPr>
        <p:spPr>
          <a:xfrm>
            <a:off x="5200000" y="4170000"/>
            <a:ext cx="1500000" cy="280000"/>
          </a:xfrm>
          <a:prstGeom prst="rect">
            <a:avLst/>
          </a:prstGeom>
          <a:noFill/>
          <a:ln>
            <a:noFill/>
          </a:ln>
        </p:spPr>
        <p:txBody>
          <a:bodyPr wrap="square" lIns="0" tIns="0" rIns="0" bIns="0" anchor="t">
            <a:spAutoFit/>
          </a:bodyPr>
          <a:lstStyle/>
          <a:p>
            <a:pPr algn="l">
              <a:lnSpc>
                <a:spcPct val="100000"/>
              </a:lnSpc>
              <a:spcBef>
                <a:spcPts val="0"/>
              </a:spcBef>
              <a:spcAft>
                <a:spcPts val="0"/>
              </a:spcAft>
            </a:pPr>
            <a:r>
              <a:rPr lang="en-US" sz="1250" b="1">
                <a:solidFill>
                  <a:srgbClr val="0A6B61"/>
                </a:solidFill>
                <a:latin typeface="Aptos Display"/>
                <a:ea typeface="Aptos Display"/>
                <a:cs typeface="Aptos Display"/>
              </a:rPr>
              <a:t>DONE BY</a:t>
            </a:r>
          </a:p>
        </p:txBody>
      </p:sp>
      <p:sp>
        <p:nvSpPr>
          <p:cNvPr id="10" name="Student Names"/>
          <p:cNvSpPr txBox="1"/>
          <p:nvPr/>
        </p:nvSpPr>
        <p:spPr>
          <a:xfrm>
            <a:off x="5200000" y="4520000"/>
            <a:ext cx="3850000" cy="760000"/>
          </a:xfrm>
          <a:prstGeom prst="rect">
            <a:avLst/>
          </a:prstGeom>
          <a:noFill/>
          <a:ln>
            <a:noFill/>
          </a:ln>
        </p:spPr>
        <p:txBody>
          <a:bodyPr wrap="square" lIns="0" tIns="0" rIns="0" bIns="0" anchor="t">
            <a:spAutoFit/>
          </a:bodyPr>
          <a:lstStyle/>
          <a:p>
            <a:pPr algn="l">
              <a:lnSpc>
                <a:spcPct val="100000"/>
              </a:lnSpc>
              <a:spcBef>
                <a:spcPts val="0"/>
              </a:spcBef>
              <a:spcAft>
                <a:spcPts val="0"/>
              </a:spcAft>
            </a:pPr>
            <a:r>
              <a:rPr lang="en-US" sz="1700">
                <a:solidFill>
                  <a:srgbClr val="1F2937"/>
                </a:solidFill>
                <a:latin typeface="Aptos Display"/>
                <a:ea typeface="Aptos Display"/>
                <a:cs typeface="Aptos Display"/>
              </a:rPr>
              <a:t>Faisal Abidy</a:t>
            </a:r>
          </a:p>
          <a:p>
            <a:pPr algn="l">
              <a:lnSpc>
                <a:spcPct val="100000"/>
              </a:lnSpc>
              <a:spcBef>
                <a:spcPts val="0"/>
              </a:spcBef>
              <a:spcAft>
                <a:spcPts val="0"/>
              </a:spcAft>
            </a:pPr>
            <a:r>
              <a:rPr lang="en-US" sz="1700">
                <a:solidFill>
                  <a:srgbClr val="1F2937"/>
                </a:solidFill>
                <a:latin typeface="Aptos Display"/>
                <a:ea typeface="Aptos Display"/>
                <a:cs typeface="Aptos Display"/>
              </a:rPr>
              <a:t>Armen Balian</a:t>
            </a:r>
          </a:p>
          <a:p>
            <a:pPr algn="l">
              <a:lnSpc>
                <a:spcPct val="100000"/>
              </a:lnSpc>
              <a:spcBef>
                <a:spcPts val="0"/>
              </a:spcBef>
              <a:spcAft>
                <a:spcPts val="0"/>
              </a:spcAft>
            </a:pPr>
            <a:r>
              <a:rPr lang="en-US" sz="1700">
                <a:solidFill>
                  <a:srgbClr val="1F2937"/>
                </a:solidFill>
                <a:latin typeface="Aptos Display"/>
                <a:ea typeface="Aptos Display"/>
                <a:cs typeface="Aptos Display"/>
              </a:rPr>
              <a:t>Mohammed Al Kouz</a:t>
            </a:r>
          </a:p>
        </p:txBody>
      </p:sp>
      <p:sp>
        <p:nvSpPr>
          <p:cNvPr id="2" name="Left Accent"/>
          <p:cNvSpPr/>
          <p:nvPr/>
        </p:nvSpPr>
        <p:spPr>
          <a:xfrm>
            <a:off x="0" y="-1"/>
            <a:ext cx="4300000" cy="6858001"/>
          </a:xfrm>
          <a:prstGeom prst="rect">
            <a:avLst/>
          </a:prstGeom>
          <a:solidFill>
            <a:srgbClr val="0E2834"/>
          </a:solidFill>
          <a:ln>
            <a:noFill/>
          </a:ln>
        </p:spPr>
        <p:txBody>
          <a:bodyPr/>
          <a:lstStyle/>
          <a:p>
            <a:endParaRPr/>
          </a:p>
        </p:txBody>
      </p:sp>
      <p:sp>
        <p:nvSpPr>
          <p:cNvPr id="11" name="Clicks Mark"/>
          <p:cNvSpPr txBox="1"/>
          <p:nvPr/>
        </p:nvSpPr>
        <p:spPr>
          <a:xfrm>
            <a:off x="10000" y="2626608"/>
            <a:ext cx="4300000" cy="630942"/>
          </a:xfrm>
          <a:prstGeom prst="rect">
            <a:avLst/>
          </a:prstGeom>
          <a:noFill/>
          <a:ln>
            <a:noFill/>
          </a:ln>
        </p:spPr>
        <p:txBody>
          <a:bodyPr wrap="square" lIns="0" tIns="0" rIns="0" bIns="0" anchor="t">
            <a:spAutoFit/>
          </a:bodyPr>
          <a:lstStyle/>
          <a:p>
            <a:pPr algn="ctr">
              <a:lnSpc>
                <a:spcPct val="100000"/>
              </a:lnSpc>
              <a:spcBef>
                <a:spcPts val="0"/>
              </a:spcBef>
              <a:spcAft>
                <a:spcPts val="0"/>
              </a:spcAft>
            </a:pPr>
            <a:r>
              <a:rPr lang="en-US" sz="4100" b="1" dirty="0">
                <a:solidFill>
                  <a:srgbClr val="B9B9B9"/>
                </a:solidFill>
                <a:latin typeface="Aptos Display"/>
                <a:ea typeface="Aptos Display"/>
                <a:cs typeface="Aptos Display"/>
              </a:rPr>
              <a:t>CLICKS LOYALTY</a:t>
            </a:r>
          </a:p>
        </p:txBody>
      </p:sp>
      <p:sp>
        <p:nvSpPr>
          <p:cNvPr id="12" name="Analytics Mark"/>
          <p:cNvSpPr txBox="1"/>
          <p:nvPr/>
        </p:nvSpPr>
        <p:spPr>
          <a:xfrm>
            <a:off x="533400" y="3280000"/>
            <a:ext cx="3100000" cy="276999"/>
          </a:xfrm>
          <a:prstGeom prst="rect">
            <a:avLst/>
          </a:prstGeom>
          <a:noFill/>
          <a:ln>
            <a:noFill/>
          </a:ln>
        </p:spPr>
        <p:txBody>
          <a:bodyPr wrap="square" lIns="0" tIns="0" rIns="0" bIns="0" anchor="t">
            <a:spAutoFit/>
          </a:bodyPr>
          <a:lstStyle/>
          <a:p>
            <a:pPr algn="ctr">
              <a:lnSpc>
                <a:spcPct val="100000"/>
              </a:lnSpc>
              <a:spcBef>
                <a:spcPts val="0"/>
              </a:spcBef>
              <a:spcAft>
                <a:spcPts val="0"/>
              </a:spcAft>
            </a:pPr>
            <a:r>
              <a:rPr lang="en-US" b="1" dirty="0">
                <a:solidFill>
                  <a:srgbClr val="D8F3EC"/>
                </a:solidFill>
                <a:latin typeface="Aptos Display"/>
                <a:ea typeface="Aptos Display"/>
                <a:cs typeface="Aptos Display"/>
              </a:rPr>
              <a:t>Customer Analytics System</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3AA58-1A25-BAC5-A7C4-FF5314235FAC}"/>
            </a:ext>
          </a:extLst>
        </p:cNvPr>
        <p:cNvGrpSpPr/>
        <p:nvPr/>
      </p:nvGrpSpPr>
      <p:grpSpPr>
        <a:xfrm>
          <a:off x="0" y="0"/>
          <a:ext cx="0" cy="0"/>
          <a:chOff x="0" y="0"/>
          <a:chExt cx="0" cy="0"/>
        </a:xfrm>
      </p:grpSpPr>
      <p:sp>
        <p:nvSpPr>
          <p:cNvPr id="94" name="Rectangle">
            <a:extLst>
              <a:ext uri="{FF2B5EF4-FFF2-40B4-BE49-F238E27FC236}">
                <a16:creationId xmlns:a16="http://schemas.microsoft.com/office/drawing/2014/main" id="{9EDD6904-19C0-61DD-0658-10051572FA71}"/>
              </a:ext>
            </a:extLst>
          </p:cNvPr>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95" name="Rectangle">
            <a:extLst>
              <a:ext uri="{FF2B5EF4-FFF2-40B4-BE49-F238E27FC236}">
                <a16:creationId xmlns:a16="http://schemas.microsoft.com/office/drawing/2014/main" id="{57FDAEE9-0BAF-659C-0776-C49F9871553F}"/>
              </a:ext>
            </a:extLst>
          </p:cNvPr>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98" name="Group">
            <a:extLst>
              <a:ext uri="{FF2B5EF4-FFF2-40B4-BE49-F238E27FC236}">
                <a16:creationId xmlns:a16="http://schemas.microsoft.com/office/drawing/2014/main" id="{4A6279B5-BB72-C17A-7B7A-4C567EDAE679}"/>
              </a:ext>
            </a:extLst>
          </p:cNvPr>
          <p:cNvGrpSpPr/>
          <p:nvPr/>
        </p:nvGrpSpPr>
        <p:grpSpPr>
          <a:xfrm>
            <a:off x="533400" y="323850"/>
            <a:ext cx="4953000" cy="228600"/>
            <a:chOff x="0" y="0"/>
            <a:chExt cx="4953000" cy="228600"/>
          </a:xfrm>
        </p:grpSpPr>
        <p:sp>
          <p:nvSpPr>
            <p:cNvPr id="96" name="Rectangle">
              <a:extLst>
                <a:ext uri="{FF2B5EF4-FFF2-40B4-BE49-F238E27FC236}">
                  <a16:creationId xmlns:a16="http://schemas.microsoft.com/office/drawing/2014/main" id="{79B19E3B-3FE6-2451-EB32-E2B951F77591}"/>
                </a:ext>
              </a:extLst>
            </p:cNvPr>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97" name="CLICKS LOYALTY ANALYTICS">
              <a:extLst>
                <a:ext uri="{FF2B5EF4-FFF2-40B4-BE49-F238E27FC236}">
                  <a16:creationId xmlns:a16="http://schemas.microsoft.com/office/drawing/2014/main" id="{839E31B1-967F-1C18-22FC-230A4674394B}"/>
                </a:ext>
              </a:extLst>
            </p:cNvPr>
            <p:cNvSpPr txBox="1"/>
            <p:nvPr/>
          </p:nvSpPr>
          <p:spPr>
            <a:xfrm>
              <a:off x="0" y="0"/>
              <a:ext cx="4953000" cy="1397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rPr dirty="0"/>
                <a:t>CLICKS LOYALTY ANALYTICS</a:t>
              </a:r>
            </a:p>
          </p:txBody>
        </p:sp>
      </p:grpSp>
      <p:grpSp>
        <p:nvGrpSpPr>
          <p:cNvPr id="101" name="Group">
            <a:extLst>
              <a:ext uri="{FF2B5EF4-FFF2-40B4-BE49-F238E27FC236}">
                <a16:creationId xmlns:a16="http://schemas.microsoft.com/office/drawing/2014/main" id="{568B6568-37AB-EE11-6253-42895DFFFAC6}"/>
              </a:ext>
            </a:extLst>
          </p:cNvPr>
          <p:cNvGrpSpPr/>
          <p:nvPr/>
        </p:nvGrpSpPr>
        <p:grpSpPr>
          <a:xfrm>
            <a:off x="533400" y="723900"/>
            <a:ext cx="6667500" cy="609600"/>
            <a:chOff x="0" y="0"/>
            <a:chExt cx="6667500" cy="609600"/>
          </a:xfrm>
        </p:grpSpPr>
        <p:sp>
          <p:nvSpPr>
            <p:cNvPr id="99" name="Rectangle">
              <a:extLst>
                <a:ext uri="{FF2B5EF4-FFF2-40B4-BE49-F238E27FC236}">
                  <a16:creationId xmlns:a16="http://schemas.microsoft.com/office/drawing/2014/main" id="{E41A61C3-29DA-6CF6-60B1-BE7A75C3AD82}"/>
                </a:ext>
              </a:extLst>
            </p:cNvPr>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00" name="Project Outline">
              <a:extLst>
                <a:ext uri="{FF2B5EF4-FFF2-40B4-BE49-F238E27FC236}">
                  <a16:creationId xmlns:a16="http://schemas.microsoft.com/office/drawing/2014/main" id="{AE1F7D60-7F64-F5F1-873A-796616324C64}"/>
                </a:ext>
              </a:extLst>
            </p:cNvPr>
            <p:cNvSpPr txBox="1"/>
            <p:nvPr/>
          </p:nvSpPr>
          <p:spPr>
            <a:xfrm>
              <a:off x="0" y="0"/>
              <a:ext cx="6667500"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Project Outline</a:t>
              </a:r>
            </a:p>
          </p:txBody>
        </p:sp>
      </p:grpSp>
      <p:grpSp>
        <p:nvGrpSpPr>
          <p:cNvPr id="104" name="Group">
            <a:extLst>
              <a:ext uri="{FF2B5EF4-FFF2-40B4-BE49-F238E27FC236}">
                <a16:creationId xmlns:a16="http://schemas.microsoft.com/office/drawing/2014/main" id="{FABEBEDC-B148-5537-ABDF-595F6930D606}"/>
              </a:ext>
            </a:extLst>
          </p:cNvPr>
          <p:cNvGrpSpPr/>
          <p:nvPr/>
        </p:nvGrpSpPr>
        <p:grpSpPr>
          <a:xfrm>
            <a:off x="552450" y="1485900"/>
            <a:ext cx="6477000" cy="457200"/>
            <a:chOff x="0" y="0"/>
            <a:chExt cx="6477000" cy="457200"/>
          </a:xfrm>
        </p:grpSpPr>
        <p:sp>
          <p:nvSpPr>
            <p:cNvPr id="102" name="Rectangle">
              <a:extLst>
                <a:ext uri="{FF2B5EF4-FFF2-40B4-BE49-F238E27FC236}">
                  <a16:creationId xmlns:a16="http://schemas.microsoft.com/office/drawing/2014/main" id="{4792995F-E101-B51A-358F-A2EEE52C8ED6}"/>
                </a:ext>
              </a:extLst>
            </p:cNvPr>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03" name="The presentation follows the same logic as the analytics system: clean the data, engineer the score, compare models, and translate the output into business actions.">
              <a:extLst>
                <a:ext uri="{FF2B5EF4-FFF2-40B4-BE49-F238E27FC236}">
                  <a16:creationId xmlns:a16="http://schemas.microsoft.com/office/drawing/2014/main" id="{67009C54-2C35-E037-76AA-ACB5D50390B0}"/>
                </a:ext>
              </a:extLst>
            </p:cNvPr>
            <p:cNvSpPr txBox="1"/>
            <p:nvPr/>
          </p:nvSpPr>
          <p:spPr>
            <a:xfrm>
              <a:off x="0" y="0"/>
              <a:ext cx="6477000" cy="406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presentation follows the same logic as the analytics system: clean the data, engineer the score, compare models, and translate the output into business actions.</a:t>
              </a:r>
            </a:p>
          </p:txBody>
        </p:sp>
      </p:grpSp>
      <p:grpSp>
        <p:nvGrpSpPr>
          <p:cNvPr id="107" name="Group">
            <a:extLst>
              <a:ext uri="{FF2B5EF4-FFF2-40B4-BE49-F238E27FC236}">
                <a16:creationId xmlns:a16="http://schemas.microsoft.com/office/drawing/2014/main" id="{318B72C4-8CE9-D5A2-C16B-D956EC83484B}"/>
              </a:ext>
            </a:extLst>
          </p:cNvPr>
          <p:cNvGrpSpPr/>
          <p:nvPr/>
        </p:nvGrpSpPr>
        <p:grpSpPr>
          <a:xfrm>
            <a:off x="533400" y="6438900"/>
            <a:ext cx="4953000" cy="228600"/>
            <a:chOff x="0" y="0"/>
            <a:chExt cx="4953000" cy="228600"/>
          </a:xfrm>
        </p:grpSpPr>
        <p:sp>
          <p:nvSpPr>
            <p:cNvPr id="105" name="Rectangle">
              <a:extLst>
                <a:ext uri="{FF2B5EF4-FFF2-40B4-BE49-F238E27FC236}">
                  <a16:creationId xmlns:a16="http://schemas.microsoft.com/office/drawing/2014/main" id="{AD8CD096-3223-F49E-8D30-99472FA96538}"/>
                </a:ext>
              </a:extLst>
            </p:cNvPr>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06" name="Clicks Loyalty Customer Analytics System">
              <a:extLst>
                <a:ext uri="{FF2B5EF4-FFF2-40B4-BE49-F238E27FC236}">
                  <a16:creationId xmlns:a16="http://schemas.microsoft.com/office/drawing/2014/main" id="{35972C51-F0AA-6E9F-B76C-7727E178FCB7}"/>
                </a:ext>
              </a:extLst>
            </p:cNvPr>
            <p:cNvSpPr txBox="1"/>
            <p:nvPr/>
          </p:nvSpPr>
          <p:spPr>
            <a:xfrm>
              <a:off x="0" y="0"/>
              <a:ext cx="4953000"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10" name="Group">
            <a:extLst>
              <a:ext uri="{FF2B5EF4-FFF2-40B4-BE49-F238E27FC236}">
                <a16:creationId xmlns:a16="http://schemas.microsoft.com/office/drawing/2014/main" id="{243024B8-33D8-4805-2AAE-3A0AF142780D}"/>
              </a:ext>
            </a:extLst>
          </p:cNvPr>
          <p:cNvGrpSpPr/>
          <p:nvPr/>
        </p:nvGrpSpPr>
        <p:grpSpPr>
          <a:xfrm>
            <a:off x="11125200" y="6419850"/>
            <a:ext cx="514350" cy="228600"/>
            <a:chOff x="0" y="0"/>
            <a:chExt cx="514350" cy="228600"/>
          </a:xfrm>
        </p:grpSpPr>
        <p:sp>
          <p:nvSpPr>
            <p:cNvPr id="108" name="Rectangle">
              <a:extLst>
                <a:ext uri="{FF2B5EF4-FFF2-40B4-BE49-F238E27FC236}">
                  <a16:creationId xmlns:a16="http://schemas.microsoft.com/office/drawing/2014/main" id="{892ECE57-96C9-4361-1806-DD818E321615}"/>
                </a:ext>
              </a:extLst>
            </p:cNvPr>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09" name="02">
              <a:extLst>
                <a:ext uri="{FF2B5EF4-FFF2-40B4-BE49-F238E27FC236}">
                  <a16:creationId xmlns:a16="http://schemas.microsoft.com/office/drawing/2014/main" id="{89C47C59-383C-6256-CEA9-CF0693708D9A}"/>
                </a:ext>
              </a:extLst>
            </p:cNvPr>
            <p:cNvSpPr txBox="1"/>
            <p:nvPr/>
          </p:nvSpPr>
          <p:spPr>
            <a:xfrm>
              <a:off x="0" y="0"/>
              <a:ext cx="514350" cy="1397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02</a:t>
              </a:r>
            </a:p>
          </p:txBody>
        </p:sp>
      </p:grpSp>
      <p:sp>
        <p:nvSpPr>
          <p:cNvPr id="111" name="Square">
            <a:extLst>
              <a:ext uri="{FF2B5EF4-FFF2-40B4-BE49-F238E27FC236}">
                <a16:creationId xmlns:a16="http://schemas.microsoft.com/office/drawing/2014/main" id="{B6CD73ED-A543-58D5-0FCC-B99717CFE9C6}"/>
              </a:ext>
            </a:extLst>
          </p:cNvPr>
          <p:cNvSpPr/>
          <p:nvPr/>
        </p:nvSpPr>
        <p:spPr>
          <a:xfrm>
            <a:off x="685800" y="2190750"/>
            <a:ext cx="457200" cy="457200"/>
          </a:xfrm>
          <a:prstGeom prst="rect">
            <a:avLst/>
          </a:prstGeom>
          <a:solidFill>
            <a:srgbClr val="FFFFFF"/>
          </a:solidFill>
          <a:ln>
            <a:solidFill>
              <a:srgbClr val="0A6B61"/>
            </a:solidFill>
          </a:ln>
        </p:spPr>
        <p:txBody>
          <a:bodyPr lIns="0" tIns="0" rIns="0" bIns="0"/>
          <a:lstStyle/>
          <a:p>
            <a:endParaRPr/>
          </a:p>
        </p:txBody>
      </p:sp>
      <p:grpSp>
        <p:nvGrpSpPr>
          <p:cNvPr id="114" name="Group">
            <a:extLst>
              <a:ext uri="{FF2B5EF4-FFF2-40B4-BE49-F238E27FC236}">
                <a16:creationId xmlns:a16="http://schemas.microsoft.com/office/drawing/2014/main" id="{5DE0C50A-5388-6CB5-2A1D-B0744FD6FDE5}"/>
              </a:ext>
            </a:extLst>
          </p:cNvPr>
          <p:cNvGrpSpPr/>
          <p:nvPr/>
        </p:nvGrpSpPr>
        <p:grpSpPr>
          <a:xfrm>
            <a:off x="685800" y="2305050"/>
            <a:ext cx="457200" cy="190500"/>
            <a:chOff x="0" y="0"/>
            <a:chExt cx="457200" cy="190500"/>
          </a:xfrm>
        </p:grpSpPr>
        <p:sp>
          <p:nvSpPr>
            <p:cNvPr id="112" name="Rectangle">
              <a:extLst>
                <a:ext uri="{FF2B5EF4-FFF2-40B4-BE49-F238E27FC236}">
                  <a16:creationId xmlns:a16="http://schemas.microsoft.com/office/drawing/2014/main" id="{937AFE77-F4B9-3595-1F39-295A8EFBEC4C}"/>
                </a:ext>
              </a:extLst>
            </p:cNvPr>
            <p:cNvSpPr/>
            <p:nvPr/>
          </p:nvSpPr>
          <p:spPr>
            <a:xfrm>
              <a:off x="0" y="0"/>
              <a:ext cx="45720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0A6B61"/>
                  </a:solidFill>
                  <a:latin typeface="Aptos"/>
                  <a:ea typeface="Aptos"/>
                  <a:cs typeface="Aptos"/>
                  <a:sym typeface="Aptos"/>
                </a:defRPr>
              </a:pPr>
              <a:endParaRPr/>
            </a:p>
          </p:txBody>
        </p:sp>
        <p:sp>
          <p:nvSpPr>
            <p:cNvPr id="113" name="01">
              <a:extLst>
                <a:ext uri="{FF2B5EF4-FFF2-40B4-BE49-F238E27FC236}">
                  <a16:creationId xmlns:a16="http://schemas.microsoft.com/office/drawing/2014/main" id="{1AC5C98A-C3D7-FA32-371D-07D63741E0D4}"/>
                </a:ext>
              </a:extLst>
            </p:cNvPr>
            <p:cNvSpPr txBox="1"/>
            <p:nvPr/>
          </p:nvSpPr>
          <p:spPr>
            <a:xfrm>
              <a:off x="0" y="0"/>
              <a:ext cx="457200" cy="1692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100" b="1">
                  <a:solidFill>
                    <a:srgbClr val="0A6B61"/>
                  </a:solidFill>
                  <a:latin typeface="Aptos"/>
                  <a:ea typeface="Aptos"/>
                  <a:cs typeface="Aptos"/>
                  <a:sym typeface="Aptos"/>
                </a:defRPr>
              </a:lvl1pPr>
            </a:lstStyle>
            <a:p>
              <a:r>
                <a:rPr dirty="0"/>
                <a:t>01</a:t>
              </a:r>
            </a:p>
          </p:txBody>
        </p:sp>
      </p:grpSp>
      <p:sp>
        <p:nvSpPr>
          <p:cNvPr id="115" name="Rectangle">
            <a:extLst>
              <a:ext uri="{FF2B5EF4-FFF2-40B4-BE49-F238E27FC236}">
                <a16:creationId xmlns:a16="http://schemas.microsoft.com/office/drawing/2014/main" id="{5094F69D-8BEF-5F27-2B4F-B16368AC331D}"/>
              </a:ext>
            </a:extLst>
          </p:cNvPr>
          <p:cNvSpPr/>
          <p:nvPr/>
        </p:nvSpPr>
        <p:spPr>
          <a:xfrm>
            <a:off x="1409700" y="2409825"/>
            <a:ext cx="60960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18" name="Group">
            <a:extLst>
              <a:ext uri="{FF2B5EF4-FFF2-40B4-BE49-F238E27FC236}">
                <a16:creationId xmlns:a16="http://schemas.microsoft.com/office/drawing/2014/main" id="{0DA8F25C-6870-D87A-D5A9-48D3E7331D31}"/>
              </a:ext>
            </a:extLst>
          </p:cNvPr>
          <p:cNvGrpSpPr/>
          <p:nvPr/>
        </p:nvGrpSpPr>
        <p:grpSpPr>
          <a:xfrm>
            <a:off x="2209800" y="2162175"/>
            <a:ext cx="2762250" cy="266700"/>
            <a:chOff x="0" y="0"/>
            <a:chExt cx="2762250" cy="266700"/>
          </a:xfrm>
        </p:grpSpPr>
        <p:sp>
          <p:nvSpPr>
            <p:cNvPr id="116" name="Rectangle">
              <a:extLst>
                <a:ext uri="{FF2B5EF4-FFF2-40B4-BE49-F238E27FC236}">
                  <a16:creationId xmlns:a16="http://schemas.microsoft.com/office/drawing/2014/main" id="{EFF5B5B6-DD2A-0732-146C-EF446A5C3C9A}"/>
                </a:ext>
              </a:extLst>
            </p:cNvPr>
            <p:cNvSpPr/>
            <p:nvPr/>
          </p:nvSpPr>
          <p:spPr>
            <a:xfrm>
              <a:off x="0" y="0"/>
              <a:ext cx="2762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600" b="1">
                  <a:solidFill>
                    <a:srgbClr val="10242C"/>
                  </a:solidFill>
                  <a:latin typeface="Aptos Display"/>
                  <a:ea typeface="Aptos Display"/>
                  <a:cs typeface="Aptos Display"/>
                  <a:sym typeface="Aptos Display"/>
                </a:defRPr>
              </a:pPr>
              <a:endParaRPr/>
            </a:p>
          </p:txBody>
        </p:sp>
        <p:sp>
          <p:nvSpPr>
            <p:cNvPr id="117" name="Data Foundation">
              <a:extLst>
                <a:ext uri="{FF2B5EF4-FFF2-40B4-BE49-F238E27FC236}">
                  <a16:creationId xmlns:a16="http://schemas.microsoft.com/office/drawing/2014/main" id="{63C287D0-F402-3A0B-0A63-ED1F801F1CEF}"/>
                </a:ext>
              </a:extLst>
            </p:cNvPr>
            <p:cNvSpPr txBox="1"/>
            <p:nvPr/>
          </p:nvSpPr>
          <p:spPr>
            <a:xfrm>
              <a:off x="0" y="0"/>
              <a:ext cx="2762250" cy="241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600" b="1">
                  <a:solidFill>
                    <a:srgbClr val="10242C"/>
                  </a:solidFill>
                  <a:latin typeface="Aptos Display"/>
                  <a:ea typeface="Aptos Display"/>
                  <a:cs typeface="Aptos Display"/>
                  <a:sym typeface="Aptos Display"/>
                </a:defRPr>
              </a:lvl1pPr>
            </a:lstStyle>
            <a:p>
              <a:r>
                <a:t>Data Foundation</a:t>
              </a:r>
            </a:p>
          </p:txBody>
        </p:sp>
      </p:grpSp>
      <p:grpSp>
        <p:nvGrpSpPr>
          <p:cNvPr id="121" name="Group">
            <a:extLst>
              <a:ext uri="{FF2B5EF4-FFF2-40B4-BE49-F238E27FC236}">
                <a16:creationId xmlns:a16="http://schemas.microsoft.com/office/drawing/2014/main" id="{E72E415E-5F85-183D-6CFE-335C119DAC68}"/>
              </a:ext>
            </a:extLst>
          </p:cNvPr>
          <p:cNvGrpSpPr/>
          <p:nvPr/>
        </p:nvGrpSpPr>
        <p:grpSpPr>
          <a:xfrm>
            <a:off x="5219700" y="2190750"/>
            <a:ext cx="5381625" cy="419100"/>
            <a:chOff x="0" y="0"/>
            <a:chExt cx="5381625" cy="419100"/>
          </a:xfrm>
        </p:grpSpPr>
        <p:sp>
          <p:nvSpPr>
            <p:cNvPr id="119" name="Rectangle">
              <a:extLst>
                <a:ext uri="{FF2B5EF4-FFF2-40B4-BE49-F238E27FC236}">
                  <a16:creationId xmlns:a16="http://schemas.microsoft.com/office/drawing/2014/main" id="{4BCD77F0-9574-53CD-AFCE-B63A734D6FBC}"/>
                </a:ext>
              </a:extLst>
            </p:cNvPr>
            <p:cNvSpPr/>
            <p:nvPr/>
          </p:nvSpPr>
          <p:spPr>
            <a:xfrm>
              <a:off x="0" y="0"/>
              <a:ext cx="5381625"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20" name="Customer records are standardized, validated, and checked for duplicates before analysis.">
              <a:extLst>
                <a:ext uri="{FF2B5EF4-FFF2-40B4-BE49-F238E27FC236}">
                  <a16:creationId xmlns:a16="http://schemas.microsoft.com/office/drawing/2014/main" id="{68738476-92FF-D56E-6403-82DCEC4546AF}"/>
                </a:ext>
              </a:extLst>
            </p:cNvPr>
            <p:cNvSpPr txBox="1"/>
            <p:nvPr/>
          </p:nvSpPr>
          <p:spPr>
            <a:xfrm>
              <a:off x="0" y="0"/>
              <a:ext cx="5381625" cy="355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Customer records are standardized, validated, and checked for duplicates before analysis.</a:t>
              </a:r>
            </a:p>
          </p:txBody>
        </p:sp>
      </p:grpSp>
      <p:sp>
        <p:nvSpPr>
          <p:cNvPr id="122" name="Square">
            <a:extLst>
              <a:ext uri="{FF2B5EF4-FFF2-40B4-BE49-F238E27FC236}">
                <a16:creationId xmlns:a16="http://schemas.microsoft.com/office/drawing/2014/main" id="{230432D3-C0E9-A1E3-1C3B-6CFA473E2C5D}"/>
              </a:ext>
            </a:extLst>
          </p:cNvPr>
          <p:cNvSpPr/>
          <p:nvPr/>
        </p:nvSpPr>
        <p:spPr>
          <a:xfrm>
            <a:off x="685800" y="2914650"/>
            <a:ext cx="457200" cy="457200"/>
          </a:xfrm>
          <a:prstGeom prst="rect">
            <a:avLst/>
          </a:prstGeom>
          <a:solidFill>
            <a:srgbClr val="FFFFFF"/>
          </a:solidFill>
          <a:ln>
            <a:solidFill>
              <a:srgbClr val="0A6B61"/>
            </a:solidFill>
          </a:ln>
        </p:spPr>
        <p:txBody>
          <a:bodyPr lIns="0" tIns="0" rIns="0" bIns="0"/>
          <a:lstStyle/>
          <a:p>
            <a:endParaRPr/>
          </a:p>
        </p:txBody>
      </p:sp>
      <p:grpSp>
        <p:nvGrpSpPr>
          <p:cNvPr id="125" name="Group">
            <a:extLst>
              <a:ext uri="{FF2B5EF4-FFF2-40B4-BE49-F238E27FC236}">
                <a16:creationId xmlns:a16="http://schemas.microsoft.com/office/drawing/2014/main" id="{9B7EE031-CAAA-5743-69B0-C9206AA331CA}"/>
              </a:ext>
            </a:extLst>
          </p:cNvPr>
          <p:cNvGrpSpPr/>
          <p:nvPr/>
        </p:nvGrpSpPr>
        <p:grpSpPr>
          <a:xfrm>
            <a:off x="685800" y="3028950"/>
            <a:ext cx="457200" cy="190500"/>
            <a:chOff x="0" y="0"/>
            <a:chExt cx="457200" cy="190500"/>
          </a:xfrm>
        </p:grpSpPr>
        <p:sp>
          <p:nvSpPr>
            <p:cNvPr id="123" name="Rectangle">
              <a:extLst>
                <a:ext uri="{FF2B5EF4-FFF2-40B4-BE49-F238E27FC236}">
                  <a16:creationId xmlns:a16="http://schemas.microsoft.com/office/drawing/2014/main" id="{5086A633-F2D3-FFE0-8F84-A427AD7659B3}"/>
                </a:ext>
              </a:extLst>
            </p:cNvPr>
            <p:cNvSpPr/>
            <p:nvPr/>
          </p:nvSpPr>
          <p:spPr>
            <a:xfrm>
              <a:off x="0" y="0"/>
              <a:ext cx="45720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0A6B61"/>
                  </a:solidFill>
                  <a:latin typeface="Aptos"/>
                  <a:ea typeface="Aptos"/>
                  <a:cs typeface="Aptos"/>
                  <a:sym typeface="Aptos"/>
                </a:defRPr>
              </a:pPr>
              <a:endParaRPr/>
            </a:p>
          </p:txBody>
        </p:sp>
        <p:sp>
          <p:nvSpPr>
            <p:cNvPr id="124" name="02">
              <a:extLst>
                <a:ext uri="{FF2B5EF4-FFF2-40B4-BE49-F238E27FC236}">
                  <a16:creationId xmlns:a16="http://schemas.microsoft.com/office/drawing/2014/main" id="{F098EA4B-3733-8ADA-7AF5-BA23DF4515B0}"/>
                </a:ext>
              </a:extLst>
            </p:cNvPr>
            <p:cNvSpPr txBox="1"/>
            <p:nvPr/>
          </p:nvSpPr>
          <p:spPr>
            <a:xfrm>
              <a:off x="0" y="0"/>
              <a:ext cx="457200" cy="165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100" b="1">
                  <a:solidFill>
                    <a:srgbClr val="0A6B61"/>
                  </a:solidFill>
                  <a:latin typeface="Aptos"/>
                  <a:ea typeface="Aptos"/>
                  <a:cs typeface="Aptos"/>
                  <a:sym typeface="Aptos"/>
                </a:defRPr>
              </a:lvl1pPr>
            </a:lstStyle>
            <a:p>
              <a:r>
                <a:rPr dirty="0"/>
                <a:t>02</a:t>
              </a:r>
            </a:p>
          </p:txBody>
        </p:sp>
      </p:grpSp>
      <p:sp>
        <p:nvSpPr>
          <p:cNvPr id="126" name="Rectangle">
            <a:extLst>
              <a:ext uri="{FF2B5EF4-FFF2-40B4-BE49-F238E27FC236}">
                <a16:creationId xmlns:a16="http://schemas.microsoft.com/office/drawing/2014/main" id="{A4BCA308-6AEB-D592-0393-0998F28DF653}"/>
              </a:ext>
            </a:extLst>
          </p:cNvPr>
          <p:cNvSpPr/>
          <p:nvPr/>
        </p:nvSpPr>
        <p:spPr>
          <a:xfrm>
            <a:off x="1409700" y="3133725"/>
            <a:ext cx="609600" cy="19050"/>
          </a:xfrm>
          <a:prstGeom prst="rect">
            <a:avLst/>
          </a:prstGeom>
          <a:solidFill>
            <a:srgbClr val="0A6B61"/>
          </a:solidFill>
          <a:ln w="3175">
            <a:solidFill>
              <a:srgbClr val="0A6B61">
                <a:alpha val="0"/>
              </a:srgbClr>
            </a:solidFill>
          </a:ln>
        </p:spPr>
        <p:txBody>
          <a:bodyPr lIns="0" tIns="0" rIns="0" bIns="0"/>
          <a:lstStyle/>
          <a:p>
            <a:endParaRPr/>
          </a:p>
        </p:txBody>
      </p:sp>
      <p:grpSp>
        <p:nvGrpSpPr>
          <p:cNvPr id="129" name="Group">
            <a:extLst>
              <a:ext uri="{FF2B5EF4-FFF2-40B4-BE49-F238E27FC236}">
                <a16:creationId xmlns:a16="http://schemas.microsoft.com/office/drawing/2014/main" id="{6BDB48B4-4CC9-57AB-D111-9CA9D872F8C1}"/>
              </a:ext>
            </a:extLst>
          </p:cNvPr>
          <p:cNvGrpSpPr/>
          <p:nvPr/>
        </p:nvGrpSpPr>
        <p:grpSpPr>
          <a:xfrm>
            <a:off x="2209800" y="2886075"/>
            <a:ext cx="2762250" cy="266700"/>
            <a:chOff x="0" y="0"/>
            <a:chExt cx="2762250" cy="266700"/>
          </a:xfrm>
        </p:grpSpPr>
        <p:sp>
          <p:nvSpPr>
            <p:cNvPr id="127" name="Rectangle">
              <a:extLst>
                <a:ext uri="{FF2B5EF4-FFF2-40B4-BE49-F238E27FC236}">
                  <a16:creationId xmlns:a16="http://schemas.microsoft.com/office/drawing/2014/main" id="{7AC43B98-2E68-53E7-C5E1-FFEDAFC94D13}"/>
                </a:ext>
              </a:extLst>
            </p:cNvPr>
            <p:cNvSpPr/>
            <p:nvPr/>
          </p:nvSpPr>
          <p:spPr>
            <a:xfrm>
              <a:off x="0" y="0"/>
              <a:ext cx="2762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600" b="1">
                  <a:solidFill>
                    <a:srgbClr val="10242C"/>
                  </a:solidFill>
                  <a:latin typeface="Aptos Display"/>
                  <a:ea typeface="Aptos Display"/>
                  <a:cs typeface="Aptos Display"/>
                  <a:sym typeface="Aptos Display"/>
                </a:defRPr>
              </a:pPr>
              <a:endParaRPr/>
            </a:p>
          </p:txBody>
        </p:sp>
        <p:sp>
          <p:nvSpPr>
            <p:cNvPr id="128" name="Feature Engineering">
              <a:extLst>
                <a:ext uri="{FF2B5EF4-FFF2-40B4-BE49-F238E27FC236}">
                  <a16:creationId xmlns:a16="http://schemas.microsoft.com/office/drawing/2014/main" id="{BD153C4F-B5A5-5F90-66C7-8926CE36648D}"/>
                </a:ext>
              </a:extLst>
            </p:cNvPr>
            <p:cNvSpPr txBox="1"/>
            <p:nvPr/>
          </p:nvSpPr>
          <p:spPr>
            <a:xfrm>
              <a:off x="0" y="0"/>
              <a:ext cx="2762250" cy="241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600" b="1">
                  <a:solidFill>
                    <a:srgbClr val="10242C"/>
                  </a:solidFill>
                  <a:latin typeface="Aptos Display"/>
                  <a:ea typeface="Aptos Display"/>
                  <a:cs typeface="Aptos Display"/>
                  <a:sym typeface="Aptos Display"/>
                </a:defRPr>
              </a:lvl1pPr>
            </a:lstStyle>
            <a:p>
              <a:r>
                <a:t>Feature Engineering</a:t>
              </a:r>
            </a:p>
          </p:txBody>
        </p:sp>
      </p:grpSp>
      <p:grpSp>
        <p:nvGrpSpPr>
          <p:cNvPr id="132" name="Group">
            <a:extLst>
              <a:ext uri="{FF2B5EF4-FFF2-40B4-BE49-F238E27FC236}">
                <a16:creationId xmlns:a16="http://schemas.microsoft.com/office/drawing/2014/main" id="{C180F70E-0AB4-91C7-1CBA-C3762D8D0312}"/>
              </a:ext>
            </a:extLst>
          </p:cNvPr>
          <p:cNvGrpSpPr/>
          <p:nvPr/>
        </p:nvGrpSpPr>
        <p:grpSpPr>
          <a:xfrm>
            <a:off x="5219700" y="2914650"/>
            <a:ext cx="5381625" cy="419100"/>
            <a:chOff x="0" y="0"/>
            <a:chExt cx="5381625" cy="419100"/>
          </a:xfrm>
        </p:grpSpPr>
        <p:sp>
          <p:nvSpPr>
            <p:cNvPr id="130" name="Rectangle">
              <a:extLst>
                <a:ext uri="{FF2B5EF4-FFF2-40B4-BE49-F238E27FC236}">
                  <a16:creationId xmlns:a16="http://schemas.microsoft.com/office/drawing/2014/main" id="{B63AAAEF-B74B-5FF4-E9CC-EBA873A099CB}"/>
                </a:ext>
              </a:extLst>
            </p:cNvPr>
            <p:cNvSpPr/>
            <p:nvPr/>
          </p:nvSpPr>
          <p:spPr>
            <a:xfrm>
              <a:off x="0" y="0"/>
              <a:ext cx="5381625"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31" name="Raw columns are transformed into age, membership duration, logarithmic points, and points velocity.">
              <a:extLst>
                <a:ext uri="{FF2B5EF4-FFF2-40B4-BE49-F238E27FC236}">
                  <a16:creationId xmlns:a16="http://schemas.microsoft.com/office/drawing/2014/main" id="{16077B6C-F261-1F52-C078-47003DBAF413}"/>
                </a:ext>
              </a:extLst>
            </p:cNvPr>
            <p:cNvSpPr txBox="1"/>
            <p:nvPr/>
          </p:nvSpPr>
          <p:spPr>
            <a:xfrm>
              <a:off x="0" y="0"/>
              <a:ext cx="5381625" cy="355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Raw columns are transformed into age, membership duration, logarithmic points, and points velocity.</a:t>
              </a:r>
            </a:p>
          </p:txBody>
        </p:sp>
      </p:grpSp>
      <p:sp>
        <p:nvSpPr>
          <p:cNvPr id="133" name="Square">
            <a:extLst>
              <a:ext uri="{FF2B5EF4-FFF2-40B4-BE49-F238E27FC236}">
                <a16:creationId xmlns:a16="http://schemas.microsoft.com/office/drawing/2014/main" id="{D15F4D57-8C99-03EA-11A6-A69F1CD6C945}"/>
              </a:ext>
            </a:extLst>
          </p:cNvPr>
          <p:cNvSpPr/>
          <p:nvPr/>
        </p:nvSpPr>
        <p:spPr>
          <a:xfrm>
            <a:off x="685800" y="3638550"/>
            <a:ext cx="457200" cy="457200"/>
          </a:xfrm>
          <a:prstGeom prst="rect">
            <a:avLst/>
          </a:prstGeom>
          <a:solidFill>
            <a:srgbClr val="FFFFFF"/>
          </a:solidFill>
          <a:ln>
            <a:solidFill>
              <a:srgbClr val="0A6B61"/>
            </a:solidFill>
          </a:ln>
        </p:spPr>
        <p:txBody>
          <a:bodyPr lIns="0" tIns="0" rIns="0" bIns="0"/>
          <a:lstStyle/>
          <a:p>
            <a:endParaRPr/>
          </a:p>
        </p:txBody>
      </p:sp>
      <p:grpSp>
        <p:nvGrpSpPr>
          <p:cNvPr id="136" name="Group">
            <a:extLst>
              <a:ext uri="{FF2B5EF4-FFF2-40B4-BE49-F238E27FC236}">
                <a16:creationId xmlns:a16="http://schemas.microsoft.com/office/drawing/2014/main" id="{29BCD713-F8DD-ED80-07C3-D3D93384C6A8}"/>
              </a:ext>
            </a:extLst>
          </p:cNvPr>
          <p:cNvGrpSpPr/>
          <p:nvPr/>
        </p:nvGrpSpPr>
        <p:grpSpPr>
          <a:xfrm>
            <a:off x="685800" y="3752850"/>
            <a:ext cx="457200" cy="190500"/>
            <a:chOff x="0" y="0"/>
            <a:chExt cx="457200" cy="190500"/>
          </a:xfrm>
        </p:grpSpPr>
        <p:sp>
          <p:nvSpPr>
            <p:cNvPr id="134" name="Rectangle">
              <a:extLst>
                <a:ext uri="{FF2B5EF4-FFF2-40B4-BE49-F238E27FC236}">
                  <a16:creationId xmlns:a16="http://schemas.microsoft.com/office/drawing/2014/main" id="{19915E40-3B93-03DE-7854-D34084AA0542}"/>
                </a:ext>
              </a:extLst>
            </p:cNvPr>
            <p:cNvSpPr/>
            <p:nvPr/>
          </p:nvSpPr>
          <p:spPr>
            <a:xfrm>
              <a:off x="0" y="0"/>
              <a:ext cx="45720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0A6B61"/>
                  </a:solidFill>
                  <a:latin typeface="Aptos"/>
                  <a:ea typeface="Aptos"/>
                  <a:cs typeface="Aptos"/>
                  <a:sym typeface="Aptos"/>
                </a:defRPr>
              </a:pPr>
              <a:endParaRPr/>
            </a:p>
          </p:txBody>
        </p:sp>
        <p:sp>
          <p:nvSpPr>
            <p:cNvPr id="135" name="03">
              <a:extLst>
                <a:ext uri="{FF2B5EF4-FFF2-40B4-BE49-F238E27FC236}">
                  <a16:creationId xmlns:a16="http://schemas.microsoft.com/office/drawing/2014/main" id="{3C39374A-1DEE-0F8A-156A-BBD44BD217FB}"/>
                </a:ext>
              </a:extLst>
            </p:cNvPr>
            <p:cNvSpPr txBox="1"/>
            <p:nvPr/>
          </p:nvSpPr>
          <p:spPr>
            <a:xfrm>
              <a:off x="0" y="0"/>
              <a:ext cx="457200" cy="165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100" b="1">
                  <a:solidFill>
                    <a:srgbClr val="0A6B61"/>
                  </a:solidFill>
                  <a:latin typeface="Aptos"/>
                  <a:ea typeface="Aptos"/>
                  <a:cs typeface="Aptos"/>
                  <a:sym typeface="Aptos"/>
                </a:defRPr>
              </a:lvl1pPr>
            </a:lstStyle>
            <a:p>
              <a:r>
                <a:t>03</a:t>
              </a:r>
            </a:p>
          </p:txBody>
        </p:sp>
      </p:grpSp>
      <p:sp>
        <p:nvSpPr>
          <p:cNvPr id="137" name="Rectangle">
            <a:extLst>
              <a:ext uri="{FF2B5EF4-FFF2-40B4-BE49-F238E27FC236}">
                <a16:creationId xmlns:a16="http://schemas.microsoft.com/office/drawing/2014/main" id="{324766DD-45C7-BAA1-0E4D-66C26F5C344D}"/>
              </a:ext>
            </a:extLst>
          </p:cNvPr>
          <p:cNvSpPr/>
          <p:nvPr/>
        </p:nvSpPr>
        <p:spPr>
          <a:xfrm>
            <a:off x="1409700" y="3857625"/>
            <a:ext cx="60960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40" name="Group">
            <a:extLst>
              <a:ext uri="{FF2B5EF4-FFF2-40B4-BE49-F238E27FC236}">
                <a16:creationId xmlns:a16="http://schemas.microsoft.com/office/drawing/2014/main" id="{75F4E7F1-79C6-4638-3A30-A1E0C62822C9}"/>
              </a:ext>
            </a:extLst>
          </p:cNvPr>
          <p:cNvGrpSpPr/>
          <p:nvPr/>
        </p:nvGrpSpPr>
        <p:grpSpPr>
          <a:xfrm>
            <a:off x="2209800" y="3609975"/>
            <a:ext cx="2762250" cy="266700"/>
            <a:chOff x="0" y="0"/>
            <a:chExt cx="2762250" cy="266700"/>
          </a:xfrm>
        </p:grpSpPr>
        <p:sp>
          <p:nvSpPr>
            <p:cNvPr id="138" name="Rectangle">
              <a:extLst>
                <a:ext uri="{FF2B5EF4-FFF2-40B4-BE49-F238E27FC236}">
                  <a16:creationId xmlns:a16="http://schemas.microsoft.com/office/drawing/2014/main" id="{2F2D03B5-D960-6125-77EA-1C17ED51066E}"/>
                </a:ext>
              </a:extLst>
            </p:cNvPr>
            <p:cNvSpPr/>
            <p:nvPr/>
          </p:nvSpPr>
          <p:spPr>
            <a:xfrm>
              <a:off x="0" y="0"/>
              <a:ext cx="2762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600" b="1">
                  <a:solidFill>
                    <a:srgbClr val="10242C"/>
                  </a:solidFill>
                  <a:latin typeface="Aptos Display"/>
                  <a:ea typeface="Aptos Display"/>
                  <a:cs typeface="Aptos Display"/>
                  <a:sym typeface="Aptos Display"/>
                </a:defRPr>
              </a:pPr>
              <a:endParaRPr/>
            </a:p>
          </p:txBody>
        </p:sp>
        <p:sp>
          <p:nvSpPr>
            <p:cNvPr id="139" name="Loyalty Scoring">
              <a:extLst>
                <a:ext uri="{FF2B5EF4-FFF2-40B4-BE49-F238E27FC236}">
                  <a16:creationId xmlns:a16="http://schemas.microsoft.com/office/drawing/2014/main" id="{6CA77366-64ED-69FC-BC43-61F8037F12FF}"/>
                </a:ext>
              </a:extLst>
            </p:cNvPr>
            <p:cNvSpPr txBox="1"/>
            <p:nvPr/>
          </p:nvSpPr>
          <p:spPr>
            <a:xfrm>
              <a:off x="0" y="0"/>
              <a:ext cx="2762250" cy="241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600" b="1">
                  <a:solidFill>
                    <a:srgbClr val="10242C"/>
                  </a:solidFill>
                  <a:latin typeface="Aptos Display"/>
                  <a:ea typeface="Aptos Display"/>
                  <a:cs typeface="Aptos Display"/>
                  <a:sym typeface="Aptos Display"/>
                </a:defRPr>
              </a:lvl1pPr>
            </a:lstStyle>
            <a:p>
              <a:r>
                <a:t>Loyalty Scoring</a:t>
              </a:r>
            </a:p>
          </p:txBody>
        </p:sp>
      </p:grpSp>
      <p:grpSp>
        <p:nvGrpSpPr>
          <p:cNvPr id="143" name="Group">
            <a:extLst>
              <a:ext uri="{FF2B5EF4-FFF2-40B4-BE49-F238E27FC236}">
                <a16:creationId xmlns:a16="http://schemas.microsoft.com/office/drawing/2014/main" id="{0C8D9923-17D6-B1D7-0DE9-C4736D6161AF}"/>
              </a:ext>
            </a:extLst>
          </p:cNvPr>
          <p:cNvGrpSpPr/>
          <p:nvPr/>
        </p:nvGrpSpPr>
        <p:grpSpPr>
          <a:xfrm>
            <a:off x="5219700" y="3638550"/>
            <a:ext cx="5381625" cy="419100"/>
            <a:chOff x="0" y="0"/>
            <a:chExt cx="5381625" cy="419100"/>
          </a:xfrm>
        </p:grpSpPr>
        <p:sp>
          <p:nvSpPr>
            <p:cNvPr id="141" name="Rectangle">
              <a:extLst>
                <a:ext uri="{FF2B5EF4-FFF2-40B4-BE49-F238E27FC236}">
                  <a16:creationId xmlns:a16="http://schemas.microsoft.com/office/drawing/2014/main" id="{74C270B0-D41E-0FBD-E99C-3A18B9BE4864}"/>
                </a:ext>
              </a:extLst>
            </p:cNvPr>
            <p:cNvSpPr/>
            <p:nvPr/>
          </p:nvSpPr>
          <p:spPr>
            <a:xfrm>
              <a:off x="0" y="0"/>
              <a:ext cx="5381625"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42" name="A weighted ranking formula converts behavior into a single loyalty score and ordered customer rank.">
              <a:extLst>
                <a:ext uri="{FF2B5EF4-FFF2-40B4-BE49-F238E27FC236}">
                  <a16:creationId xmlns:a16="http://schemas.microsoft.com/office/drawing/2014/main" id="{8D6CD242-191A-41B9-0F70-D657AB558D90}"/>
                </a:ext>
              </a:extLst>
            </p:cNvPr>
            <p:cNvSpPr txBox="1"/>
            <p:nvPr/>
          </p:nvSpPr>
          <p:spPr>
            <a:xfrm>
              <a:off x="0" y="0"/>
              <a:ext cx="5381625" cy="355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A weighted ranking formula converts behavior into a single loyalty score and ordered customer rank.</a:t>
              </a:r>
            </a:p>
          </p:txBody>
        </p:sp>
      </p:grpSp>
      <p:sp>
        <p:nvSpPr>
          <p:cNvPr id="144" name="Square">
            <a:extLst>
              <a:ext uri="{FF2B5EF4-FFF2-40B4-BE49-F238E27FC236}">
                <a16:creationId xmlns:a16="http://schemas.microsoft.com/office/drawing/2014/main" id="{8877E905-406F-8DAF-116C-90AE9F46E791}"/>
              </a:ext>
            </a:extLst>
          </p:cNvPr>
          <p:cNvSpPr/>
          <p:nvPr/>
        </p:nvSpPr>
        <p:spPr>
          <a:xfrm>
            <a:off x="685800" y="4362450"/>
            <a:ext cx="457200" cy="457200"/>
          </a:xfrm>
          <a:prstGeom prst="rect">
            <a:avLst/>
          </a:prstGeom>
          <a:solidFill>
            <a:srgbClr val="FFFFFF"/>
          </a:solidFill>
          <a:ln>
            <a:solidFill>
              <a:srgbClr val="0A6B61"/>
            </a:solidFill>
          </a:ln>
        </p:spPr>
        <p:txBody>
          <a:bodyPr lIns="0" tIns="0" rIns="0" bIns="0"/>
          <a:lstStyle/>
          <a:p>
            <a:endParaRPr/>
          </a:p>
        </p:txBody>
      </p:sp>
      <p:grpSp>
        <p:nvGrpSpPr>
          <p:cNvPr id="147" name="Group">
            <a:extLst>
              <a:ext uri="{FF2B5EF4-FFF2-40B4-BE49-F238E27FC236}">
                <a16:creationId xmlns:a16="http://schemas.microsoft.com/office/drawing/2014/main" id="{E3136EB5-E1C4-50FD-2CCB-ABA08A3D1270}"/>
              </a:ext>
            </a:extLst>
          </p:cNvPr>
          <p:cNvGrpSpPr/>
          <p:nvPr/>
        </p:nvGrpSpPr>
        <p:grpSpPr>
          <a:xfrm>
            <a:off x="685800" y="4476750"/>
            <a:ext cx="457200" cy="190500"/>
            <a:chOff x="0" y="0"/>
            <a:chExt cx="457200" cy="190500"/>
          </a:xfrm>
        </p:grpSpPr>
        <p:sp>
          <p:nvSpPr>
            <p:cNvPr id="145" name="Rectangle">
              <a:extLst>
                <a:ext uri="{FF2B5EF4-FFF2-40B4-BE49-F238E27FC236}">
                  <a16:creationId xmlns:a16="http://schemas.microsoft.com/office/drawing/2014/main" id="{7FB2DE12-5901-0F2A-00EB-7DA9A46343A6}"/>
                </a:ext>
              </a:extLst>
            </p:cNvPr>
            <p:cNvSpPr/>
            <p:nvPr/>
          </p:nvSpPr>
          <p:spPr>
            <a:xfrm>
              <a:off x="0" y="0"/>
              <a:ext cx="45720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0A6B61"/>
                  </a:solidFill>
                  <a:latin typeface="Aptos"/>
                  <a:ea typeface="Aptos"/>
                  <a:cs typeface="Aptos"/>
                  <a:sym typeface="Aptos"/>
                </a:defRPr>
              </a:pPr>
              <a:endParaRPr/>
            </a:p>
          </p:txBody>
        </p:sp>
        <p:sp>
          <p:nvSpPr>
            <p:cNvPr id="146" name="04">
              <a:extLst>
                <a:ext uri="{FF2B5EF4-FFF2-40B4-BE49-F238E27FC236}">
                  <a16:creationId xmlns:a16="http://schemas.microsoft.com/office/drawing/2014/main" id="{34526D64-8131-FA18-06DC-76A8B9E644C3}"/>
                </a:ext>
              </a:extLst>
            </p:cNvPr>
            <p:cNvSpPr txBox="1"/>
            <p:nvPr/>
          </p:nvSpPr>
          <p:spPr>
            <a:xfrm>
              <a:off x="0" y="0"/>
              <a:ext cx="457200" cy="165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100" b="1">
                  <a:solidFill>
                    <a:srgbClr val="0A6B61"/>
                  </a:solidFill>
                  <a:latin typeface="Aptos"/>
                  <a:ea typeface="Aptos"/>
                  <a:cs typeface="Aptos"/>
                  <a:sym typeface="Aptos"/>
                </a:defRPr>
              </a:lvl1pPr>
            </a:lstStyle>
            <a:p>
              <a:r>
                <a:t>04</a:t>
              </a:r>
            </a:p>
          </p:txBody>
        </p:sp>
      </p:grpSp>
      <p:sp>
        <p:nvSpPr>
          <p:cNvPr id="148" name="Rectangle">
            <a:extLst>
              <a:ext uri="{FF2B5EF4-FFF2-40B4-BE49-F238E27FC236}">
                <a16:creationId xmlns:a16="http://schemas.microsoft.com/office/drawing/2014/main" id="{9781FFDC-4F28-2432-9731-C1BAFD38D947}"/>
              </a:ext>
            </a:extLst>
          </p:cNvPr>
          <p:cNvSpPr/>
          <p:nvPr/>
        </p:nvSpPr>
        <p:spPr>
          <a:xfrm>
            <a:off x="1409700" y="4581525"/>
            <a:ext cx="60960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51" name="Group">
            <a:extLst>
              <a:ext uri="{FF2B5EF4-FFF2-40B4-BE49-F238E27FC236}">
                <a16:creationId xmlns:a16="http://schemas.microsoft.com/office/drawing/2014/main" id="{778779FC-840C-1161-15DC-295EB9CB3D95}"/>
              </a:ext>
            </a:extLst>
          </p:cNvPr>
          <p:cNvGrpSpPr/>
          <p:nvPr/>
        </p:nvGrpSpPr>
        <p:grpSpPr>
          <a:xfrm>
            <a:off x="2209800" y="4333875"/>
            <a:ext cx="2762250" cy="266700"/>
            <a:chOff x="0" y="0"/>
            <a:chExt cx="2762250" cy="266700"/>
          </a:xfrm>
        </p:grpSpPr>
        <p:sp>
          <p:nvSpPr>
            <p:cNvPr id="149" name="Rectangle">
              <a:extLst>
                <a:ext uri="{FF2B5EF4-FFF2-40B4-BE49-F238E27FC236}">
                  <a16:creationId xmlns:a16="http://schemas.microsoft.com/office/drawing/2014/main" id="{74EB0177-D159-7C4A-0EE5-5EDC0314196B}"/>
                </a:ext>
              </a:extLst>
            </p:cNvPr>
            <p:cNvSpPr/>
            <p:nvPr/>
          </p:nvSpPr>
          <p:spPr>
            <a:xfrm>
              <a:off x="0" y="0"/>
              <a:ext cx="2762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600" b="1">
                  <a:solidFill>
                    <a:srgbClr val="10242C"/>
                  </a:solidFill>
                  <a:latin typeface="Aptos Display"/>
                  <a:ea typeface="Aptos Display"/>
                  <a:cs typeface="Aptos Display"/>
                  <a:sym typeface="Aptos Display"/>
                </a:defRPr>
              </a:pPr>
              <a:endParaRPr/>
            </a:p>
          </p:txBody>
        </p:sp>
        <p:sp>
          <p:nvSpPr>
            <p:cNvPr id="150" name="Segmentation &amp; Clustering">
              <a:extLst>
                <a:ext uri="{FF2B5EF4-FFF2-40B4-BE49-F238E27FC236}">
                  <a16:creationId xmlns:a16="http://schemas.microsoft.com/office/drawing/2014/main" id="{A1848813-3045-A1B3-7647-7D2F0A2F51B9}"/>
                </a:ext>
              </a:extLst>
            </p:cNvPr>
            <p:cNvSpPr txBox="1"/>
            <p:nvPr/>
          </p:nvSpPr>
          <p:spPr>
            <a:xfrm>
              <a:off x="0" y="0"/>
              <a:ext cx="2762250" cy="241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600" b="1">
                  <a:solidFill>
                    <a:srgbClr val="10242C"/>
                  </a:solidFill>
                  <a:latin typeface="Aptos Display"/>
                  <a:ea typeface="Aptos Display"/>
                  <a:cs typeface="Aptos Display"/>
                  <a:sym typeface="Aptos Display"/>
                </a:defRPr>
              </a:lvl1pPr>
            </a:lstStyle>
            <a:p>
              <a:r>
                <a:t>Segmentation &amp; Clustering</a:t>
              </a:r>
            </a:p>
          </p:txBody>
        </p:sp>
      </p:grpSp>
      <p:grpSp>
        <p:nvGrpSpPr>
          <p:cNvPr id="154" name="Group">
            <a:extLst>
              <a:ext uri="{FF2B5EF4-FFF2-40B4-BE49-F238E27FC236}">
                <a16:creationId xmlns:a16="http://schemas.microsoft.com/office/drawing/2014/main" id="{1BC3209B-F1A8-B9FB-263C-1577056A498E}"/>
              </a:ext>
            </a:extLst>
          </p:cNvPr>
          <p:cNvGrpSpPr/>
          <p:nvPr/>
        </p:nvGrpSpPr>
        <p:grpSpPr>
          <a:xfrm>
            <a:off x="5219700" y="4362450"/>
            <a:ext cx="5381625" cy="419100"/>
            <a:chOff x="0" y="0"/>
            <a:chExt cx="5381625" cy="419100"/>
          </a:xfrm>
        </p:grpSpPr>
        <p:sp>
          <p:nvSpPr>
            <p:cNvPr id="152" name="Rectangle">
              <a:extLst>
                <a:ext uri="{FF2B5EF4-FFF2-40B4-BE49-F238E27FC236}">
                  <a16:creationId xmlns:a16="http://schemas.microsoft.com/office/drawing/2014/main" id="{D0DDFABB-D63C-7C81-3C4A-AC2925F9C928}"/>
                </a:ext>
              </a:extLst>
            </p:cNvPr>
            <p:cNvSpPr/>
            <p:nvPr/>
          </p:nvSpPr>
          <p:spPr>
            <a:xfrm>
              <a:off x="0" y="0"/>
              <a:ext cx="5381625"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3" name="Customers are grouped into practical loyalty tiers and unsupervised behavioral clusters.">
              <a:extLst>
                <a:ext uri="{FF2B5EF4-FFF2-40B4-BE49-F238E27FC236}">
                  <a16:creationId xmlns:a16="http://schemas.microsoft.com/office/drawing/2014/main" id="{63DCD54E-CAED-7965-6E0C-903981FC72AA}"/>
                </a:ext>
              </a:extLst>
            </p:cNvPr>
            <p:cNvSpPr txBox="1"/>
            <p:nvPr/>
          </p:nvSpPr>
          <p:spPr>
            <a:xfrm>
              <a:off x="0" y="0"/>
              <a:ext cx="5381625" cy="355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Customers are grouped into practical loyalty tiers and unsupervised behavioral clusters.</a:t>
              </a:r>
            </a:p>
          </p:txBody>
        </p:sp>
      </p:grpSp>
      <p:sp>
        <p:nvSpPr>
          <p:cNvPr id="155" name="Square">
            <a:extLst>
              <a:ext uri="{FF2B5EF4-FFF2-40B4-BE49-F238E27FC236}">
                <a16:creationId xmlns:a16="http://schemas.microsoft.com/office/drawing/2014/main" id="{F153E33C-21C0-8447-DDE5-090584D5B9A4}"/>
              </a:ext>
            </a:extLst>
          </p:cNvPr>
          <p:cNvSpPr/>
          <p:nvPr/>
        </p:nvSpPr>
        <p:spPr>
          <a:xfrm>
            <a:off x="685800" y="5086350"/>
            <a:ext cx="457200" cy="457200"/>
          </a:xfrm>
          <a:prstGeom prst="rect">
            <a:avLst/>
          </a:prstGeom>
          <a:solidFill>
            <a:schemeClr val="bg1"/>
          </a:solidFill>
          <a:ln>
            <a:solidFill>
              <a:srgbClr val="0A6B61"/>
            </a:solidFill>
          </a:ln>
        </p:spPr>
        <p:txBody>
          <a:bodyPr lIns="0" tIns="0" rIns="0" bIns="0"/>
          <a:lstStyle/>
          <a:p>
            <a:endParaRPr/>
          </a:p>
        </p:txBody>
      </p:sp>
      <p:grpSp>
        <p:nvGrpSpPr>
          <p:cNvPr id="158" name="Group">
            <a:extLst>
              <a:ext uri="{FF2B5EF4-FFF2-40B4-BE49-F238E27FC236}">
                <a16:creationId xmlns:a16="http://schemas.microsoft.com/office/drawing/2014/main" id="{02647379-7072-FEE1-4E8C-44E4B2B11F9B}"/>
              </a:ext>
            </a:extLst>
          </p:cNvPr>
          <p:cNvGrpSpPr/>
          <p:nvPr/>
        </p:nvGrpSpPr>
        <p:grpSpPr>
          <a:xfrm>
            <a:off x="685800" y="5200650"/>
            <a:ext cx="457200" cy="190500"/>
            <a:chOff x="0" y="0"/>
            <a:chExt cx="457200" cy="190500"/>
          </a:xfrm>
        </p:grpSpPr>
        <p:sp>
          <p:nvSpPr>
            <p:cNvPr id="156" name="Rectangle">
              <a:extLst>
                <a:ext uri="{FF2B5EF4-FFF2-40B4-BE49-F238E27FC236}">
                  <a16:creationId xmlns:a16="http://schemas.microsoft.com/office/drawing/2014/main" id="{6AEBFB01-1314-8F77-5E89-A66DD1AEB659}"/>
                </a:ext>
              </a:extLst>
            </p:cNvPr>
            <p:cNvSpPr/>
            <p:nvPr/>
          </p:nvSpPr>
          <p:spPr>
            <a:xfrm>
              <a:off x="0" y="0"/>
              <a:ext cx="45720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FFFFFF"/>
                  </a:solidFill>
                  <a:latin typeface="Aptos"/>
                  <a:ea typeface="Aptos"/>
                  <a:cs typeface="Aptos"/>
                  <a:sym typeface="Aptos"/>
                </a:defRPr>
              </a:pPr>
              <a:endParaRPr/>
            </a:p>
          </p:txBody>
        </p:sp>
        <p:sp>
          <p:nvSpPr>
            <p:cNvPr id="157" name="05">
              <a:extLst>
                <a:ext uri="{FF2B5EF4-FFF2-40B4-BE49-F238E27FC236}">
                  <a16:creationId xmlns:a16="http://schemas.microsoft.com/office/drawing/2014/main" id="{6402E618-0AD2-3094-943D-7178B1925573}"/>
                </a:ext>
              </a:extLst>
            </p:cNvPr>
            <p:cNvSpPr txBox="1"/>
            <p:nvPr/>
          </p:nvSpPr>
          <p:spPr>
            <a:xfrm>
              <a:off x="0" y="0"/>
              <a:ext cx="457200" cy="1692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1100" b="1">
                  <a:solidFill>
                    <a:srgbClr val="FFFFFF"/>
                  </a:solidFill>
                  <a:latin typeface="Aptos"/>
                  <a:ea typeface="Aptos"/>
                  <a:cs typeface="Aptos"/>
                  <a:sym typeface="Aptos"/>
                </a:defRPr>
              </a:lvl1pPr>
            </a:lstStyle>
            <a:p>
              <a:r>
                <a:rPr dirty="0">
                  <a:solidFill>
                    <a:srgbClr val="0A6B61"/>
                  </a:solidFill>
                </a:rPr>
                <a:t>05</a:t>
              </a:r>
            </a:p>
          </p:txBody>
        </p:sp>
      </p:grpSp>
      <p:sp>
        <p:nvSpPr>
          <p:cNvPr id="159" name="Rectangle">
            <a:extLst>
              <a:ext uri="{FF2B5EF4-FFF2-40B4-BE49-F238E27FC236}">
                <a16:creationId xmlns:a16="http://schemas.microsoft.com/office/drawing/2014/main" id="{0B350141-841E-6D2A-C3D0-BC3449938C42}"/>
              </a:ext>
            </a:extLst>
          </p:cNvPr>
          <p:cNvSpPr/>
          <p:nvPr/>
        </p:nvSpPr>
        <p:spPr>
          <a:xfrm>
            <a:off x="1409700" y="5305425"/>
            <a:ext cx="60960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62" name="Group">
            <a:extLst>
              <a:ext uri="{FF2B5EF4-FFF2-40B4-BE49-F238E27FC236}">
                <a16:creationId xmlns:a16="http://schemas.microsoft.com/office/drawing/2014/main" id="{F87AA909-44F2-0DA1-3551-C9CF7AEADCD8}"/>
              </a:ext>
            </a:extLst>
          </p:cNvPr>
          <p:cNvGrpSpPr/>
          <p:nvPr/>
        </p:nvGrpSpPr>
        <p:grpSpPr>
          <a:xfrm>
            <a:off x="2209800" y="5057775"/>
            <a:ext cx="2762250" cy="266700"/>
            <a:chOff x="0" y="0"/>
            <a:chExt cx="2762250" cy="266700"/>
          </a:xfrm>
        </p:grpSpPr>
        <p:sp>
          <p:nvSpPr>
            <p:cNvPr id="160" name="Rectangle">
              <a:extLst>
                <a:ext uri="{FF2B5EF4-FFF2-40B4-BE49-F238E27FC236}">
                  <a16:creationId xmlns:a16="http://schemas.microsoft.com/office/drawing/2014/main" id="{198E6D66-F46E-98EE-27EB-8E372A3F30BE}"/>
                </a:ext>
              </a:extLst>
            </p:cNvPr>
            <p:cNvSpPr/>
            <p:nvPr/>
          </p:nvSpPr>
          <p:spPr>
            <a:xfrm>
              <a:off x="0" y="0"/>
              <a:ext cx="2762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600" b="1">
                  <a:solidFill>
                    <a:srgbClr val="10242C"/>
                  </a:solidFill>
                  <a:latin typeface="Aptos Display"/>
                  <a:ea typeface="Aptos Display"/>
                  <a:cs typeface="Aptos Display"/>
                  <a:sym typeface="Aptos Display"/>
                </a:defRPr>
              </a:pPr>
              <a:endParaRPr/>
            </a:p>
          </p:txBody>
        </p:sp>
        <p:sp>
          <p:nvSpPr>
            <p:cNvPr id="161" name="Modeling &amp; Decisions">
              <a:extLst>
                <a:ext uri="{FF2B5EF4-FFF2-40B4-BE49-F238E27FC236}">
                  <a16:creationId xmlns:a16="http://schemas.microsoft.com/office/drawing/2014/main" id="{2DA93E25-35CB-9925-21F9-5C9098A2FBE0}"/>
                </a:ext>
              </a:extLst>
            </p:cNvPr>
            <p:cNvSpPr txBox="1"/>
            <p:nvPr/>
          </p:nvSpPr>
          <p:spPr>
            <a:xfrm>
              <a:off x="0" y="0"/>
              <a:ext cx="2762250" cy="241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600" b="1">
                  <a:solidFill>
                    <a:srgbClr val="10242C"/>
                  </a:solidFill>
                  <a:latin typeface="Aptos Display"/>
                  <a:ea typeface="Aptos Display"/>
                  <a:cs typeface="Aptos Display"/>
                  <a:sym typeface="Aptos Display"/>
                </a:defRPr>
              </a:lvl1pPr>
            </a:lstStyle>
            <a:p>
              <a:r>
                <a:t>Modeling &amp; Decisions</a:t>
              </a:r>
            </a:p>
          </p:txBody>
        </p:sp>
      </p:grpSp>
      <p:grpSp>
        <p:nvGrpSpPr>
          <p:cNvPr id="165" name="Group">
            <a:extLst>
              <a:ext uri="{FF2B5EF4-FFF2-40B4-BE49-F238E27FC236}">
                <a16:creationId xmlns:a16="http://schemas.microsoft.com/office/drawing/2014/main" id="{1B909A90-983C-8CB2-5C68-60FCEF7A6A0C}"/>
              </a:ext>
            </a:extLst>
          </p:cNvPr>
          <p:cNvGrpSpPr/>
          <p:nvPr/>
        </p:nvGrpSpPr>
        <p:grpSpPr>
          <a:xfrm>
            <a:off x="5219700" y="5086350"/>
            <a:ext cx="5381625" cy="419100"/>
            <a:chOff x="0" y="0"/>
            <a:chExt cx="5381625" cy="419100"/>
          </a:xfrm>
        </p:grpSpPr>
        <p:sp>
          <p:nvSpPr>
            <p:cNvPr id="163" name="Rectangle">
              <a:extLst>
                <a:ext uri="{FF2B5EF4-FFF2-40B4-BE49-F238E27FC236}">
                  <a16:creationId xmlns:a16="http://schemas.microsoft.com/office/drawing/2014/main" id="{0E60DB3B-080E-9D13-C631-7F5962C030A5}"/>
                </a:ext>
              </a:extLst>
            </p:cNvPr>
            <p:cNvSpPr/>
            <p:nvPr/>
          </p:nvSpPr>
          <p:spPr>
            <a:xfrm>
              <a:off x="0" y="0"/>
              <a:ext cx="5381625"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64" name="Classification and regression models are evaluated, then converted into campaign recommendations.">
              <a:extLst>
                <a:ext uri="{FF2B5EF4-FFF2-40B4-BE49-F238E27FC236}">
                  <a16:creationId xmlns:a16="http://schemas.microsoft.com/office/drawing/2014/main" id="{4E54D44C-B654-9B39-A868-DCDDE2FA3DFA}"/>
                </a:ext>
              </a:extLst>
            </p:cNvPr>
            <p:cNvSpPr txBox="1"/>
            <p:nvPr/>
          </p:nvSpPr>
          <p:spPr>
            <a:xfrm>
              <a:off x="0" y="0"/>
              <a:ext cx="5381625" cy="355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Classification and regression models are evaluated, then converted into campaign recommendations.</a:t>
              </a:r>
            </a:p>
          </p:txBody>
        </p:sp>
      </p:grpSp>
      <p:sp>
        <p:nvSpPr>
          <p:cNvPr id="166" name="Rectangle">
            <a:extLst>
              <a:ext uri="{FF2B5EF4-FFF2-40B4-BE49-F238E27FC236}">
                <a16:creationId xmlns:a16="http://schemas.microsoft.com/office/drawing/2014/main" id="{A521DA86-4A9C-B853-2D3F-88C9E982E831}"/>
              </a:ext>
            </a:extLst>
          </p:cNvPr>
          <p:cNvSpPr/>
          <p:nvPr/>
        </p:nvSpPr>
        <p:spPr>
          <a:xfrm>
            <a:off x="685800" y="5903912"/>
            <a:ext cx="9906000" cy="12701"/>
          </a:xfrm>
          <a:prstGeom prst="rect">
            <a:avLst/>
          </a:prstGeom>
          <a:solidFill>
            <a:srgbClr val="E4EAE7"/>
          </a:solidFill>
          <a:ln w="3175">
            <a:solidFill>
              <a:srgbClr val="000000">
                <a:alpha val="0"/>
              </a:srgbClr>
            </a:solidFill>
          </a:ln>
        </p:spPr>
        <p:txBody>
          <a:bodyPr lIns="0" tIns="0" rIns="0" bIns="0"/>
          <a:lstStyle/>
          <a:p>
            <a:endParaRPr/>
          </a:p>
        </p:txBody>
      </p:sp>
      <p:grpSp>
        <p:nvGrpSpPr>
          <p:cNvPr id="169" name="Group">
            <a:extLst>
              <a:ext uri="{FF2B5EF4-FFF2-40B4-BE49-F238E27FC236}">
                <a16:creationId xmlns:a16="http://schemas.microsoft.com/office/drawing/2014/main" id="{B9EDCB13-7D0C-3421-72F1-3B93F3B60963}"/>
              </a:ext>
            </a:extLst>
          </p:cNvPr>
          <p:cNvGrpSpPr/>
          <p:nvPr/>
        </p:nvGrpSpPr>
        <p:grpSpPr>
          <a:xfrm>
            <a:off x="685800" y="6038850"/>
            <a:ext cx="9620250" cy="247650"/>
            <a:chOff x="0" y="0"/>
            <a:chExt cx="9620250" cy="247650"/>
          </a:xfrm>
        </p:grpSpPr>
        <p:sp>
          <p:nvSpPr>
            <p:cNvPr id="167" name="Rectangle">
              <a:extLst>
                <a:ext uri="{FF2B5EF4-FFF2-40B4-BE49-F238E27FC236}">
                  <a16:creationId xmlns:a16="http://schemas.microsoft.com/office/drawing/2014/main" id="{E5D46FD3-92E9-588F-B3D1-4E9839F12330}"/>
                </a:ext>
              </a:extLst>
            </p:cNvPr>
            <p:cNvSpPr/>
            <p:nvPr/>
          </p:nvSpPr>
          <p:spPr>
            <a:xfrm>
              <a:off x="0" y="0"/>
              <a:ext cx="962025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68" name="The aim is not only to get a high model score, but to create a defensible customer analytics process that a business team can understand and repeat.">
              <a:extLst>
                <a:ext uri="{FF2B5EF4-FFF2-40B4-BE49-F238E27FC236}">
                  <a16:creationId xmlns:a16="http://schemas.microsoft.com/office/drawing/2014/main" id="{91D6BF52-0314-15A5-F0F3-AC565BB3FB0B}"/>
                </a:ext>
              </a:extLst>
            </p:cNvPr>
            <p:cNvSpPr txBox="1"/>
            <p:nvPr/>
          </p:nvSpPr>
          <p:spPr>
            <a:xfrm>
              <a:off x="0" y="0"/>
              <a:ext cx="9620250" cy="165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The aim is not only to get a high model score, but to create a defensible customer analytics process that a business team can understand and repeat.</a:t>
              </a:r>
            </a:p>
          </p:txBody>
        </p:sp>
      </p:grpSp>
    </p:spTree>
    <p:extLst>
      <p:ext uri="{BB962C8B-B14F-4D97-AF65-F5344CB8AC3E}">
        <p14:creationId xmlns:p14="http://schemas.microsoft.com/office/powerpoint/2010/main" val="353853267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ectangle"/>
          <p:cNvSpPr/>
          <p:nvPr/>
        </p:nvSpPr>
        <p:spPr>
          <a:xfrm>
            <a:off x="0" y="0"/>
            <a:ext cx="12192000" cy="6858000"/>
          </a:xfrm>
          <a:prstGeom prst="rect">
            <a:avLst/>
          </a:prstGeom>
          <a:solidFill>
            <a:srgbClr val="0E2834"/>
          </a:solidFill>
          <a:ln w="3175">
            <a:solidFill>
              <a:srgbClr val="000000">
                <a:alpha val="0"/>
              </a:srgbClr>
            </a:solidFill>
          </a:ln>
        </p:spPr>
        <p:txBody>
          <a:bodyPr lIns="0" tIns="0" rIns="0" bIns="0"/>
          <a:lstStyle/>
          <a:p>
            <a:endParaRPr dirty="0"/>
          </a:p>
        </p:txBody>
      </p:sp>
      <p:sp>
        <p:nvSpPr>
          <p:cNvPr id="172" name="Rectangle"/>
          <p:cNvSpPr/>
          <p:nvPr/>
        </p:nvSpPr>
        <p:spPr>
          <a:xfrm>
            <a:off x="0" y="0"/>
            <a:ext cx="12192000" cy="76200"/>
          </a:xfrm>
          <a:prstGeom prst="rect">
            <a:avLst/>
          </a:prstGeom>
          <a:solidFill>
            <a:srgbClr val="3C9D72"/>
          </a:solidFill>
          <a:ln w="3175">
            <a:solidFill>
              <a:srgbClr val="000000">
                <a:alpha val="0"/>
              </a:srgbClr>
            </a:solidFill>
          </a:ln>
        </p:spPr>
        <p:txBody>
          <a:bodyPr lIns="0" tIns="0" rIns="0" bIns="0"/>
          <a:lstStyle/>
          <a:p>
            <a:endParaRPr/>
          </a:p>
        </p:txBody>
      </p:sp>
      <p:grpSp>
        <p:nvGrpSpPr>
          <p:cNvPr id="175" name="Group"/>
          <p:cNvGrpSpPr/>
          <p:nvPr/>
        </p:nvGrpSpPr>
        <p:grpSpPr>
          <a:xfrm>
            <a:off x="533400" y="323850"/>
            <a:ext cx="4953000" cy="228600"/>
            <a:chOff x="0" y="0"/>
            <a:chExt cx="4953000" cy="228600"/>
          </a:xfrm>
        </p:grpSpPr>
        <p:sp>
          <p:nvSpPr>
            <p:cNvPr id="17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BDE8DD"/>
                  </a:solidFill>
                  <a:latin typeface="Aptos"/>
                  <a:ea typeface="Aptos"/>
                  <a:cs typeface="Aptos"/>
                  <a:sym typeface="Aptos"/>
                </a:defRPr>
              </a:pPr>
              <a:endParaRPr/>
            </a:p>
          </p:txBody>
        </p:sp>
        <p:sp>
          <p:nvSpPr>
            <p:cNvPr id="174"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BDE8DD"/>
                  </a:solidFill>
                  <a:latin typeface="Aptos"/>
                  <a:ea typeface="Aptos"/>
                  <a:cs typeface="Aptos"/>
                  <a:sym typeface="Aptos"/>
                </a:defRPr>
              </a:lvl1pPr>
            </a:lstStyle>
            <a:p>
              <a:r>
                <a:t>CLICKS LOYALTY ANALYTICS</a:t>
              </a:r>
            </a:p>
          </p:txBody>
        </p:sp>
      </p:grpSp>
      <p:grpSp>
        <p:nvGrpSpPr>
          <p:cNvPr id="178" name="Group"/>
          <p:cNvGrpSpPr/>
          <p:nvPr/>
        </p:nvGrpSpPr>
        <p:grpSpPr>
          <a:xfrm>
            <a:off x="533400" y="723900"/>
            <a:ext cx="5715000" cy="609600"/>
            <a:chOff x="0" y="0"/>
            <a:chExt cx="5715000" cy="609600"/>
          </a:xfrm>
        </p:grpSpPr>
        <p:sp>
          <p:nvSpPr>
            <p:cNvPr id="176" name="Rectangle"/>
            <p:cNvSpPr/>
            <p:nvPr/>
          </p:nvSpPr>
          <p:spPr>
            <a:xfrm>
              <a:off x="0" y="0"/>
              <a:ext cx="57150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FFFFFF"/>
                  </a:solidFill>
                  <a:latin typeface="Aptos Display"/>
                  <a:ea typeface="Aptos Display"/>
                  <a:cs typeface="Aptos Display"/>
                  <a:sym typeface="Aptos Display"/>
                </a:defRPr>
              </a:pPr>
              <a:endParaRPr/>
            </a:p>
          </p:txBody>
        </p:sp>
        <p:sp>
          <p:nvSpPr>
            <p:cNvPr id="177" name="Clicks Loyalty Analytics"/>
            <p:cNvSpPr txBox="1"/>
            <p:nvPr/>
          </p:nvSpPr>
          <p:spPr>
            <a:xfrm>
              <a:off x="0" y="0"/>
              <a:ext cx="57150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FFFFFF"/>
                  </a:solidFill>
                  <a:latin typeface="Aptos Display"/>
                  <a:ea typeface="Aptos Display"/>
                  <a:cs typeface="Aptos Display"/>
                  <a:sym typeface="Aptos Display"/>
                </a:defRPr>
              </a:lvl1pPr>
            </a:lstStyle>
            <a:p>
              <a:r>
                <a:t>Clicks Loyalty Analytics</a:t>
              </a:r>
            </a:p>
          </p:txBody>
        </p:sp>
      </p:grpSp>
      <p:grpSp>
        <p:nvGrpSpPr>
          <p:cNvPr id="181" name="Group"/>
          <p:cNvGrpSpPr/>
          <p:nvPr/>
        </p:nvGrpSpPr>
        <p:grpSpPr>
          <a:xfrm>
            <a:off x="552450" y="1485900"/>
            <a:ext cx="5334000" cy="457200"/>
            <a:chOff x="0" y="0"/>
            <a:chExt cx="5334000" cy="457200"/>
          </a:xfrm>
        </p:grpSpPr>
        <p:sp>
          <p:nvSpPr>
            <p:cNvPr id="179" name="Rectangle"/>
            <p:cNvSpPr/>
            <p:nvPr/>
          </p:nvSpPr>
          <p:spPr>
            <a:xfrm>
              <a:off x="0" y="0"/>
              <a:ext cx="5334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DBE7E5"/>
                  </a:solidFill>
                  <a:latin typeface="Aptos"/>
                  <a:ea typeface="Aptos"/>
                  <a:cs typeface="Aptos"/>
                  <a:sym typeface="Aptos"/>
                </a:defRPr>
              </a:pPr>
              <a:endParaRPr/>
            </a:p>
          </p:txBody>
        </p:sp>
        <p:sp>
          <p:nvSpPr>
            <p:cNvPr id="180" name="A machine learning system for ranking members, identifying loyalty segments, and supporting targeted customer decisions."/>
            <p:cNvSpPr txBox="1"/>
            <p:nvPr/>
          </p:nvSpPr>
          <p:spPr>
            <a:xfrm>
              <a:off x="0" y="0"/>
              <a:ext cx="5334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DBE7E5"/>
                  </a:solidFill>
                  <a:latin typeface="Aptos"/>
                  <a:ea typeface="Aptos"/>
                  <a:cs typeface="Aptos"/>
                  <a:sym typeface="Aptos"/>
                </a:defRPr>
              </a:lvl1pPr>
            </a:lstStyle>
            <a:p>
              <a:r>
                <a:t>A machine learning system for ranking members, identifying loyalty segments, and supporting targeted customer decisions.</a:t>
              </a:r>
            </a:p>
          </p:txBody>
        </p:sp>
      </p:grpSp>
      <p:grpSp>
        <p:nvGrpSpPr>
          <p:cNvPr id="184" name="Group"/>
          <p:cNvGrpSpPr/>
          <p:nvPr/>
        </p:nvGrpSpPr>
        <p:grpSpPr>
          <a:xfrm>
            <a:off x="533400" y="6438900"/>
            <a:ext cx="4953000" cy="228600"/>
            <a:chOff x="0" y="0"/>
            <a:chExt cx="4953000" cy="228600"/>
          </a:xfrm>
        </p:grpSpPr>
        <p:sp>
          <p:nvSpPr>
            <p:cNvPr id="18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B6C9C6"/>
                  </a:solidFill>
                  <a:latin typeface="Aptos"/>
                  <a:ea typeface="Aptos"/>
                  <a:cs typeface="Aptos"/>
                  <a:sym typeface="Aptos"/>
                </a:defRPr>
              </a:pPr>
              <a:endParaRPr/>
            </a:p>
          </p:txBody>
        </p:sp>
        <p:sp>
          <p:nvSpPr>
            <p:cNvPr id="18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B6C9C6"/>
                  </a:solidFill>
                  <a:latin typeface="Aptos"/>
                  <a:ea typeface="Aptos"/>
                  <a:cs typeface="Aptos"/>
                  <a:sym typeface="Aptos"/>
                </a:defRPr>
              </a:lvl1pPr>
            </a:lstStyle>
            <a:p>
              <a:r>
                <a:t>Clicks Loyalty Customer Analytics System</a:t>
              </a:r>
            </a:p>
          </p:txBody>
        </p:sp>
      </p:grpSp>
      <p:grpSp>
        <p:nvGrpSpPr>
          <p:cNvPr id="187" name="Group"/>
          <p:cNvGrpSpPr/>
          <p:nvPr/>
        </p:nvGrpSpPr>
        <p:grpSpPr>
          <a:xfrm>
            <a:off x="11125200" y="6419850"/>
            <a:ext cx="514350" cy="228600"/>
            <a:chOff x="0" y="0"/>
            <a:chExt cx="514350" cy="228600"/>
          </a:xfrm>
        </p:grpSpPr>
        <p:sp>
          <p:nvSpPr>
            <p:cNvPr id="18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BDE8DD"/>
                  </a:solidFill>
                  <a:latin typeface="Aptos"/>
                  <a:ea typeface="Aptos"/>
                  <a:cs typeface="Aptos"/>
                  <a:sym typeface="Aptos"/>
                </a:defRPr>
              </a:pPr>
              <a:endParaRPr/>
            </a:p>
          </p:txBody>
        </p:sp>
        <p:sp>
          <p:nvSpPr>
            <p:cNvPr id="186" name="01"/>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BDE8DD"/>
                  </a:solidFill>
                  <a:latin typeface="Aptos"/>
                  <a:ea typeface="Aptos"/>
                  <a:cs typeface="Aptos"/>
                  <a:sym typeface="Aptos"/>
                </a:defRPr>
              </a:lvl1pPr>
            </a:lstStyle>
            <a:p>
              <a:r>
                <a:t>01</a:t>
              </a:r>
            </a:p>
          </p:txBody>
        </p:sp>
      </p:grpSp>
      <p:grpSp>
        <p:nvGrpSpPr>
          <p:cNvPr id="190" name="Group"/>
          <p:cNvGrpSpPr/>
          <p:nvPr/>
        </p:nvGrpSpPr>
        <p:grpSpPr>
          <a:xfrm>
            <a:off x="552450" y="2095500"/>
            <a:ext cx="5286375" cy="971550"/>
            <a:chOff x="0" y="0"/>
            <a:chExt cx="5286375" cy="971550"/>
          </a:xfrm>
        </p:grpSpPr>
        <p:sp>
          <p:nvSpPr>
            <p:cNvPr id="188" name="Rectangle"/>
            <p:cNvSpPr/>
            <p:nvPr/>
          </p:nvSpPr>
          <p:spPr>
            <a:xfrm>
              <a:off x="0" y="0"/>
              <a:ext cx="5286375" cy="971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FFFFFF"/>
                  </a:solidFill>
                  <a:latin typeface="Aptos Display"/>
                  <a:ea typeface="Aptos Display"/>
                  <a:cs typeface="Aptos Display"/>
                  <a:sym typeface="Aptos Display"/>
                </a:defRPr>
              </a:pPr>
              <a:endParaRPr/>
            </a:p>
          </p:txBody>
        </p:sp>
        <p:sp>
          <p:nvSpPr>
            <p:cNvPr id="189" name="The project turns raw loyalty records into an explainable scoring, segmentation, clustering, and model comparison workflow."/>
            <p:cNvSpPr txBox="1"/>
            <p:nvPr/>
          </p:nvSpPr>
          <p:spPr>
            <a:xfrm>
              <a:off x="0" y="0"/>
              <a:ext cx="5286375" cy="838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FFFFFF"/>
                  </a:solidFill>
                  <a:latin typeface="Aptos Display"/>
                  <a:ea typeface="Aptos Display"/>
                  <a:cs typeface="Aptos Display"/>
                  <a:sym typeface="Aptos Display"/>
                </a:defRPr>
              </a:lvl1pPr>
            </a:lstStyle>
            <a:p>
              <a:r>
                <a:t>The project turns raw loyalty records into an explainable scoring, segmentation, clustering, and model comparison workflow.</a:t>
              </a:r>
            </a:p>
          </p:txBody>
        </p:sp>
      </p:grpSp>
      <p:sp>
        <p:nvSpPr>
          <p:cNvPr id="191" name="Rectangle"/>
          <p:cNvSpPr/>
          <p:nvPr/>
        </p:nvSpPr>
        <p:spPr>
          <a:xfrm>
            <a:off x="552450" y="3667125"/>
            <a:ext cx="1524000" cy="971550"/>
          </a:xfrm>
          <a:prstGeom prst="rect">
            <a:avLst/>
          </a:prstGeom>
          <a:solidFill>
            <a:srgbClr val="143744"/>
          </a:solidFill>
          <a:ln>
            <a:solidFill>
              <a:srgbClr val="2B5260"/>
            </a:solidFill>
          </a:ln>
        </p:spPr>
        <p:txBody>
          <a:bodyPr lIns="0" tIns="0" rIns="0" bIns="0"/>
          <a:lstStyle/>
          <a:p>
            <a:endParaRPr/>
          </a:p>
        </p:txBody>
      </p:sp>
      <p:sp>
        <p:nvSpPr>
          <p:cNvPr id="192" name="Rectangle"/>
          <p:cNvSpPr/>
          <p:nvPr/>
        </p:nvSpPr>
        <p:spPr>
          <a:xfrm>
            <a:off x="552450" y="3667125"/>
            <a:ext cx="47625" cy="971550"/>
          </a:xfrm>
          <a:prstGeom prst="rect">
            <a:avLst/>
          </a:prstGeom>
          <a:solidFill>
            <a:srgbClr val="3C9D72"/>
          </a:solidFill>
          <a:ln w="3175">
            <a:solidFill>
              <a:srgbClr val="000000">
                <a:alpha val="0"/>
              </a:srgbClr>
            </a:solidFill>
          </a:ln>
        </p:spPr>
        <p:txBody>
          <a:bodyPr lIns="0" tIns="0" rIns="0" bIns="0"/>
          <a:lstStyle/>
          <a:p>
            <a:endParaRPr/>
          </a:p>
        </p:txBody>
      </p:sp>
      <p:grpSp>
        <p:nvGrpSpPr>
          <p:cNvPr id="195" name="Group"/>
          <p:cNvGrpSpPr/>
          <p:nvPr/>
        </p:nvGrpSpPr>
        <p:grpSpPr>
          <a:xfrm>
            <a:off x="723900" y="3800475"/>
            <a:ext cx="1257300" cy="361950"/>
            <a:chOff x="0" y="0"/>
            <a:chExt cx="1257300" cy="361950"/>
          </a:xfrm>
        </p:grpSpPr>
        <p:sp>
          <p:nvSpPr>
            <p:cNvPr id="193"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FFFFFF"/>
                  </a:solidFill>
                  <a:latin typeface="Aptos Display"/>
                  <a:ea typeface="Aptos Display"/>
                  <a:cs typeface="Aptos Display"/>
                  <a:sym typeface="Aptos Display"/>
                </a:defRPr>
              </a:pPr>
              <a:endParaRPr/>
            </a:p>
          </p:txBody>
        </p:sp>
        <p:sp>
          <p:nvSpPr>
            <p:cNvPr id="194" name="446"/>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FFFFFF"/>
                  </a:solidFill>
                  <a:latin typeface="Aptos Display"/>
                  <a:ea typeface="Aptos Display"/>
                  <a:cs typeface="Aptos Display"/>
                  <a:sym typeface="Aptos Display"/>
                </a:defRPr>
              </a:lvl1pPr>
            </a:lstStyle>
            <a:p>
              <a:r>
                <a:t>446</a:t>
              </a:r>
            </a:p>
          </p:txBody>
        </p:sp>
      </p:grpSp>
      <p:grpSp>
        <p:nvGrpSpPr>
          <p:cNvPr id="198" name="Group"/>
          <p:cNvGrpSpPr/>
          <p:nvPr/>
        </p:nvGrpSpPr>
        <p:grpSpPr>
          <a:xfrm>
            <a:off x="723900" y="4191000"/>
            <a:ext cx="1257300" cy="285750"/>
            <a:chOff x="0" y="0"/>
            <a:chExt cx="1257300" cy="285750"/>
          </a:xfrm>
        </p:grpSpPr>
        <p:sp>
          <p:nvSpPr>
            <p:cNvPr id="196"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C5D5D2"/>
                  </a:solidFill>
                  <a:latin typeface="Aptos"/>
                  <a:ea typeface="Aptos"/>
                  <a:cs typeface="Aptos"/>
                  <a:sym typeface="Aptos"/>
                </a:defRPr>
              </a:pPr>
              <a:endParaRPr/>
            </a:p>
          </p:txBody>
        </p:sp>
        <p:sp>
          <p:nvSpPr>
            <p:cNvPr id="197" name="clean customer records"/>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C5D5D2"/>
                  </a:solidFill>
                  <a:latin typeface="Aptos"/>
                  <a:ea typeface="Aptos"/>
                  <a:cs typeface="Aptos"/>
                  <a:sym typeface="Aptos"/>
                </a:defRPr>
              </a:lvl1pPr>
            </a:lstStyle>
            <a:p>
              <a:r>
                <a:t>clean customer records</a:t>
              </a:r>
            </a:p>
          </p:txBody>
        </p:sp>
      </p:grpSp>
      <p:sp>
        <p:nvSpPr>
          <p:cNvPr id="199" name="Rectangle"/>
          <p:cNvSpPr/>
          <p:nvPr/>
        </p:nvSpPr>
        <p:spPr>
          <a:xfrm>
            <a:off x="2247900" y="3667125"/>
            <a:ext cx="1524000" cy="971550"/>
          </a:xfrm>
          <a:prstGeom prst="rect">
            <a:avLst/>
          </a:prstGeom>
          <a:solidFill>
            <a:srgbClr val="143744"/>
          </a:solidFill>
          <a:ln>
            <a:solidFill>
              <a:srgbClr val="2B5260"/>
            </a:solidFill>
          </a:ln>
        </p:spPr>
        <p:txBody>
          <a:bodyPr lIns="0" tIns="0" rIns="0" bIns="0"/>
          <a:lstStyle/>
          <a:p>
            <a:endParaRPr/>
          </a:p>
        </p:txBody>
      </p:sp>
      <p:sp>
        <p:nvSpPr>
          <p:cNvPr id="200" name="Rectangle"/>
          <p:cNvSpPr/>
          <p:nvPr/>
        </p:nvSpPr>
        <p:spPr>
          <a:xfrm>
            <a:off x="2247900" y="3667125"/>
            <a:ext cx="47625" cy="971550"/>
          </a:xfrm>
          <a:prstGeom prst="rect">
            <a:avLst/>
          </a:prstGeom>
          <a:solidFill>
            <a:srgbClr val="D99A16"/>
          </a:solidFill>
          <a:ln w="3175">
            <a:solidFill>
              <a:srgbClr val="000000">
                <a:alpha val="0"/>
              </a:srgbClr>
            </a:solidFill>
          </a:ln>
        </p:spPr>
        <p:txBody>
          <a:bodyPr lIns="0" tIns="0" rIns="0" bIns="0"/>
          <a:lstStyle/>
          <a:p>
            <a:endParaRPr/>
          </a:p>
        </p:txBody>
      </p:sp>
      <p:grpSp>
        <p:nvGrpSpPr>
          <p:cNvPr id="203" name="Group"/>
          <p:cNvGrpSpPr/>
          <p:nvPr/>
        </p:nvGrpSpPr>
        <p:grpSpPr>
          <a:xfrm>
            <a:off x="2419350" y="3800475"/>
            <a:ext cx="1257300" cy="361950"/>
            <a:chOff x="0" y="0"/>
            <a:chExt cx="1257300" cy="361950"/>
          </a:xfrm>
        </p:grpSpPr>
        <p:sp>
          <p:nvSpPr>
            <p:cNvPr id="201"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FFFFFF"/>
                  </a:solidFill>
                  <a:latin typeface="Aptos Display"/>
                  <a:ea typeface="Aptos Display"/>
                  <a:cs typeface="Aptos Display"/>
                  <a:sym typeface="Aptos Display"/>
                </a:defRPr>
              </a:pPr>
              <a:endParaRPr/>
            </a:p>
          </p:txBody>
        </p:sp>
        <p:sp>
          <p:nvSpPr>
            <p:cNvPr id="202" name="91.0%"/>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FFFFFF"/>
                  </a:solidFill>
                  <a:latin typeface="Aptos Display"/>
                  <a:ea typeface="Aptos Display"/>
                  <a:cs typeface="Aptos Display"/>
                  <a:sym typeface="Aptos Display"/>
                </a:defRPr>
              </a:lvl1pPr>
            </a:lstStyle>
            <a:p>
              <a:r>
                <a:t>91.0%</a:t>
              </a:r>
            </a:p>
          </p:txBody>
        </p:sp>
      </p:grpSp>
      <p:grpSp>
        <p:nvGrpSpPr>
          <p:cNvPr id="206" name="Group"/>
          <p:cNvGrpSpPr/>
          <p:nvPr/>
        </p:nvGrpSpPr>
        <p:grpSpPr>
          <a:xfrm>
            <a:off x="2419350" y="4191000"/>
            <a:ext cx="1257300" cy="285750"/>
            <a:chOff x="0" y="0"/>
            <a:chExt cx="1257300" cy="285750"/>
          </a:xfrm>
        </p:grpSpPr>
        <p:sp>
          <p:nvSpPr>
            <p:cNvPr id="204"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C5D5D2"/>
                  </a:solidFill>
                  <a:latin typeface="Aptos"/>
                  <a:ea typeface="Aptos"/>
                  <a:cs typeface="Aptos"/>
                  <a:sym typeface="Aptos"/>
                </a:defRPr>
              </a:pPr>
              <a:endParaRPr/>
            </a:p>
          </p:txBody>
        </p:sp>
        <p:sp>
          <p:nvSpPr>
            <p:cNvPr id="205" name="best test accuracy"/>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C5D5D2"/>
                  </a:solidFill>
                  <a:latin typeface="Aptos"/>
                  <a:ea typeface="Aptos"/>
                  <a:cs typeface="Aptos"/>
                  <a:sym typeface="Aptos"/>
                </a:defRPr>
              </a:lvl1pPr>
            </a:lstStyle>
            <a:p>
              <a:r>
                <a:t>best test accuracy</a:t>
              </a:r>
            </a:p>
          </p:txBody>
        </p:sp>
      </p:grpSp>
      <p:sp>
        <p:nvSpPr>
          <p:cNvPr id="207" name="Rectangle"/>
          <p:cNvSpPr/>
          <p:nvPr/>
        </p:nvSpPr>
        <p:spPr>
          <a:xfrm>
            <a:off x="3943350" y="3667125"/>
            <a:ext cx="1619250" cy="971550"/>
          </a:xfrm>
          <a:prstGeom prst="rect">
            <a:avLst/>
          </a:prstGeom>
          <a:solidFill>
            <a:srgbClr val="143744"/>
          </a:solidFill>
          <a:ln>
            <a:solidFill>
              <a:srgbClr val="2B5260"/>
            </a:solidFill>
          </a:ln>
        </p:spPr>
        <p:txBody>
          <a:bodyPr lIns="0" tIns="0" rIns="0" bIns="0"/>
          <a:lstStyle/>
          <a:p>
            <a:endParaRPr/>
          </a:p>
        </p:txBody>
      </p:sp>
      <p:sp>
        <p:nvSpPr>
          <p:cNvPr id="208" name="Rectangle"/>
          <p:cNvSpPr/>
          <p:nvPr/>
        </p:nvSpPr>
        <p:spPr>
          <a:xfrm>
            <a:off x="3943350" y="3667125"/>
            <a:ext cx="47625" cy="971550"/>
          </a:xfrm>
          <a:prstGeom prst="rect">
            <a:avLst/>
          </a:prstGeom>
          <a:solidFill>
            <a:srgbClr val="C94E3C"/>
          </a:solidFill>
          <a:ln w="3175">
            <a:solidFill>
              <a:srgbClr val="000000">
                <a:alpha val="0"/>
              </a:srgbClr>
            </a:solidFill>
          </a:ln>
        </p:spPr>
        <p:txBody>
          <a:bodyPr lIns="0" tIns="0" rIns="0" bIns="0"/>
          <a:lstStyle/>
          <a:p>
            <a:endParaRPr/>
          </a:p>
        </p:txBody>
      </p:sp>
      <p:grpSp>
        <p:nvGrpSpPr>
          <p:cNvPr id="211" name="Group"/>
          <p:cNvGrpSpPr/>
          <p:nvPr/>
        </p:nvGrpSpPr>
        <p:grpSpPr>
          <a:xfrm>
            <a:off x="4114800" y="3800475"/>
            <a:ext cx="1352550" cy="361950"/>
            <a:chOff x="0" y="0"/>
            <a:chExt cx="1352550" cy="361950"/>
          </a:xfrm>
        </p:grpSpPr>
        <p:sp>
          <p:nvSpPr>
            <p:cNvPr id="209" name="Rectangle"/>
            <p:cNvSpPr/>
            <p:nvPr/>
          </p:nvSpPr>
          <p:spPr>
            <a:xfrm>
              <a:off x="0" y="0"/>
              <a:ext cx="13525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FFFFFF"/>
                  </a:solidFill>
                  <a:latin typeface="Aptos Display"/>
                  <a:ea typeface="Aptos Display"/>
                  <a:cs typeface="Aptos Display"/>
                  <a:sym typeface="Aptos Display"/>
                </a:defRPr>
              </a:pPr>
              <a:endParaRPr/>
            </a:p>
          </p:txBody>
        </p:sp>
        <p:sp>
          <p:nvSpPr>
            <p:cNvPr id="210" name="91.2%"/>
            <p:cNvSpPr txBox="1"/>
            <p:nvPr/>
          </p:nvSpPr>
          <p:spPr>
            <a:xfrm>
              <a:off x="0" y="0"/>
              <a:ext cx="135255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FFFFFF"/>
                  </a:solidFill>
                  <a:latin typeface="Aptos Display"/>
                  <a:ea typeface="Aptos Display"/>
                  <a:cs typeface="Aptos Display"/>
                  <a:sym typeface="Aptos Display"/>
                </a:defRPr>
              </a:lvl1pPr>
            </a:lstStyle>
            <a:p>
              <a:r>
                <a:t>91.2%</a:t>
              </a:r>
            </a:p>
          </p:txBody>
        </p:sp>
      </p:grpSp>
      <p:grpSp>
        <p:nvGrpSpPr>
          <p:cNvPr id="214" name="Group"/>
          <p:cNvGrpSpPr/>
          <p:nvPr/>
        </p:nvGrpSpPr>
        <p:grpSpPr>
          <a:xfrm>
            <a:off x="4114800" y="4191000"/>
            <a:ext cx="1352550" cy="285750"/>
            <a:chOff x="0" y="0"/>
            <a:chExt cx="1352550" cy="285750"/>
          </a:xfrm>
        </p:grpSpPr>
        <p:sp>
          <p:nvSpPr>
            <p:cNvPr id="212" name="Rectangle"/>
            <p:cNvSpPr/>
            <p:nvPr/>
          </p:nvSpPr>
          <p:spPr>
            <a:xfrm>
              <a:off x="0" y="0"/>
              <a:ext cx="135255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C5D5D2"/>
                  </a:solidFill>
                  <a:latin typeface="Aptos"/>
                  <a:ea typeface="Aptos"/>
                  <a:cs typeface="Aptos"/>
                  <a:sym typeface="Aptos"/>
                </a:defRPr>
              </a:pPr>
              <a:endParaRPr/>
            </a:p>
          </p:txBody>
        </p:sp>
        <p:sp>
          <p:nvSpPr>
            <p:cNvPr id="213" name="best weighted F1 score"/>
            <p:cNvSpPr txBox="1"/>
            <p:nvPr/>
          </p:nvSpPr>
          <p:spPr>
            <a:xfrm>
              <a:off x="0" y="0"/>
              <a:ext cx="13525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C5D5D2"/>
                  </a:solidFill>
                  <a:latin typeface="Aptos"/>
                  <a:ea typeface="Aptos"/>
                  <a:cs typeface="Aptos"/>
                  <a:sym typeface="Aptos"/>
                </a:defRPr>
              </a:lvl1pPr>
            </a:lstStyle>
            <a:p>
              <a:r>
                <a:t>best weighted F1 score</a:t>
              </a:r>
            </a:p>
          </p:txBody>
        </p:sp>
      </p:grpSp>
      <p:sp>
        <p:nvSpPr>
          <p:cNvPr id="215" name="Rectangle"/>
          <p:cNvSpPr/>
          <p:nvPr/>
        </p:nvSpPr>
        <p:spPr>
          <a:xfrm>
            <a:off x="6572250" y="952500"/>
            <a:ext cx="4762500" cy="4048125"/>
          </a:xfrm>
          <a:prstGeom prst="rect">
            <a:avLst/>
          </a:prstGeom>
          <a:solidFill>
            <a:srgbClr val="FFFFFF"/>
          </a:solidFill>
          <a:ln>
            <a:solidFill>
              <a:srgbClr val="E4EAE7"/>
            </a:solidFill>
          </a:ln>
        </p:spPr>
        <p:txBody>
          <a:bodyPr lIns="0" tIns="0" rIns="0" bIns="0"/>
          <a:lstStyle/>
          <a:p>
            <a:endParaRPr/>
          </a:p>
        </p:txBody>
      </p:sp>
      <p:pic>
        <p:nvPicPr>
          <p:cNvPr id="216" name="image.png" descr="image.png"/>
          <p:cNvPicPr>
            <a:picLocks noChangeAspect="1"/>
          </p:cNvPicPr>
          <p:nvPr/>
        </p:nvPicPr>
        <p:blipFill>
          <a:blip r:embed="rId2"/>
          <a:stretch>
            <a:fillRect/>
          </a:stretch>
        </p:blipFill>
        <p:spPr>
          <a:xfrm>
            <a:off x="6648450" y="1469707"/>
            <a:ext cx="4610100" cy="2766062"/>
          </a:xfrm>
          <a:prstGeom prst="rect">
            <a:avLst/>
          </a:prstGeom>
          <a:ln w="12700">
            <a:miter lim="400000"/>
          </a:ln>
        </p:spPr>
      </p:pic>
      <p:grpSp>
        <p:nvGrpSpPr>
          <p:cNvPr id="219" name="Group"/>
          <p:cNvGrpSpPr/>
          <p:nvPr/>
        </p:nvGrpSpPr>
        <p:grpSpPr>
          <a:xfrm>
            <a:off x="6686550" y="4724400"/>
            <a:ext cx="4533900" cy="171450"/>
            <a:chOff x="0" y="0"/>
            <a:chExt cx="4533900" cy="171450"/>
          </a:xfrm>
        </p:grpSpPr>
        <p:sp>
          <p:nvSpPr>
            <p:cNvPr id="217" name="Rectangle"/>
            <p:cNvSpPr/>
            <p:nvPr/>
          </p:nvSpPr>
          <p:spPr>
            <a:xfrm>
              <a:off x="0" y="0"/>
              <a:ext cx="453390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218" name="Figure 1. Points and loyalty score relationship"/>
            <p:cNvSpPr txBox="1"/>
            <p:nvPr/>
          </p:nvSpPr>
          <p:spPr>
            <a:xfrm>
              <a:off x="0" y="0"/>
              <a:ext cx="45339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1. Points and loyalty score relationship</a:t>
              </a:r>
            </a:p>
          </p:txBody>
        </p:sp>
      </p:grpSp>
      <p:grpSp>
        <p:nvGrpSpPr>
          <p:cNvPr id="222" name="Group"/>
          <p:cNvGrpSpPr/>
          <p:nvPr/>
        </p:nvGrpSpPr>
        <p:grpSpPr>
          <a:xfrm>
            <a:off x="6572250" y="5200650"/>
            <a:ext cx="4762500" cy="552450"/>
            <a:chOff x="0" y="0"/>
            <a:chExt cx="4762500" cy="552450"/>
          </a:xfrm>
        </p:grpSpPr>
        <p:sp>
          <p:nvSpPr>
            <p:cNvPr id="220" name="Rectangle"/>
            <p:cNvSpPr/>
            <p:nvPr/>
          </p:nvSpPr>
          <p:spPr>
            <a:xfrm>
              <a:off x="0" y="0"/>
              <a:ext cx="4762500" cy="552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D8E5E2"/>
                  </a:solidFill>
                  <a:latin typeface="Aptos"/>
                  <a:ea typeface="Aptos"/>
                  <a:cs typeface="Aptos"/>
                  <a:sym typeface="Aptos"/>
                </a:defRPr>
              </a:pPr>
              <a:endParaRPr/>
            </a:p>
          </p:txBody>
        </p:sp>
        <p:sp>
          <p:nvSpPr>
            <p:cNvPr id="221" name="The strongest model is Gradient Boosting, selected because it delivered the highest accuracy, balanced accuracy, and F1 score across the tested classifiers."/>
            <p:cNvSpPr txBox="1"/>
            <p:nvPr/>
          </p:nvSpPr>
          <p:spPr>
            <a:xfrm>
              <a:off x="0" y="0"/>
              <a:ext cx="4762500" cy="533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D8E5E2"/>
                  </a:solidFill>
                  <a:latin typeface="Aptos"/>
                  <a:ea typeface="Aptos"/>
                  <a:cs typeface="Aptos"/>
                  <a:sym typeface="Aptos"/>
                </a:defRPr>
              </a:lvl1pPr>
            </a:lstStyle>
            <a:p>
              <a:r>
                <a:t>The strongest model is Gradient Boosting, selected because it delivered the highest accuracy, balanced accuracy, and F1 score across the tested classifiers.</a:t>
              </a: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225"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228" name="Group"/>
          <p:cNvGrpSpPr/>
          <p:nvPr/>
        </p:nvGrpSpPr>
        <p:grpSpPr>
          <a:xfrm>
            <a:off x="533400" y="323850"/>
            <a:ext cx="4953000" cy="228600"/>
            <a:chOff x="0" y="0"/>
            <a:chExt cx="4953000" cy="228600"/>
          </a:xfrm>
        </p:grpSpPr>
        <p:sp>
          <p:nvSpPr>
            <p:cNvPr id="226"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227"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231" name="Group"/>
          <p:cNvGrpSpPr/>
          <p:nvPr/>
        </p:nvGrpSpPr>
        <p:grpSpPr>
          <a:xfrm>
            <a:off x="533400" y="723900"/>
            <a:ext cx="6667500" cy="609600"/>
            <a:chOff x="0" y="0"/>
            <a:chExt cx="6667500" cy="609600"/>
          </a:xfrm>
        </p:grpSpPr>
        <p:sp>
          <p:nvSpPr>
            <p:cNvPr id="229"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230" name="Dataset Foundati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Dataset Foundation</a:t>
              </a:r>
            </a:p>
          </p:txBody>
        </p:sp>
      </p:grpSp>
      <p:grpSp>
        <p:nvGrpSpPr>
          <p:cNvPr id="234" name="Group"/>
          <p:cNvGrpSpPr/>
          <p:nvPr/>
        </p:nvGrpSpPr>
        <p:grpSpPr>
          <a:xfrm>
            <a:off x="533400" y="6438900"/>
            <a:ext cx="4953000" cy="228600"/>
            <a:chOff x="0" y="0"/>
            <a:chExt cx="4953000" cy="228600"/>
          </a:xfrm>
        </p:grpSpPr>
        <p:sp>
          <p:nvSpPr>
            <p:cNvPr id="23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23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237" name="Group"/>
          <p:cNvGrpSpPr/>
          <p:nvPr/>
        </p:nvGrpSpPr>
        <p:grpSpPr>
          <a:xfrm>
            <a:off x="11125200" y="6419850"/>
            <a:ext cx="514350" cy="228600"/>
            <a:chOff x="0" y="0"/>
            <a:chExt cx="514350" cy="228600"/>
          </a:xfrm>
        </p:grpSpPr>
        <p:sp>
          <p:nvSpPr>
            <p:cNvPr id="23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236" name="03"/>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03</a:t>
              </a:r>
            </a:p>
          </p:txBody>
        </p:sp>
      </p:grpSp>
      <p:sp>
        <p:nvSpPr>
          <p:cNvPr id="238" name="Rectangle"/>
          <p:cNvSpPr/>
          <p:nvPr/>
        </p:nvSpPr>
        <p:spPr>
          <a:xfrm>
            <a:off x="590550" y="2133600"/>
            <a:ext cx="1524000" cy="952500"/>
          </a:xfrm>
          <a:prstGeom prst="rect">
            <a:avLst/>
          </a:prstGeom>
          <a:solidFill>
            <a:srgbClr val="FFFFFF"/>
          </a:solidFill>
          <a:ln>
            <a:solidFill>
              <a:srgbClr val="E4EAE7"/>
            </a:solidFill>
          </a:ln>
        </p:spPr>
        <p:txBody>
          <a:bodyPr lIns="0" tIns="0" rIns="0" bIns="0"/>
          <a:lstStyle/>
          <a:p>
            <a:endParaRPr/>
          </a:p>
        </p:txBody>
      </p:sp>
      <p:sp>
        <p:nvSpPr>
          <p:cNvPr id="239" name="Rectangle"/>
          <p:cNvSpPr/>
          <p:nvPr/>
        </p:nvSpPr>
        <p:spPr>
          <a:xfrm>
            <a:off x="590550" y="2133600"/>
            <a:ext cx="47625" cy="952500"/>
          </a:xfrm>
          <a:prstGeom prst="rect">
            <a:avLst/>
          </a:prstGeom>
          <a:solidFill>
            <a:srgbClr val="0A6B61"/>
          </a:solidFill>
          <a:ln w="3175">
            <a:solidFill>
              <a:srgbClr val="000000">
                <a:alpha val="0"/>
              </a:srgbClr>
            </a:solidFill>
          </a:ln>
        </p:spPr>
        <p:txBody>
          <a:bodyPr lIns="0" tIns="0" rIns="0" bIns="0"/>
          <a:lstStyle/>
          <a:p>
            <a:endParaRPr/>
          </a:p>
        </p:txBody>
      </p:sp>
      <p:grpSp>
        <p:nvGrpSpPr>
          <p:cNvPr id="242" name="Group"/>
          <p:cNvGrpSpPr/>
          <p:nvPr/>
        </p:nvGrpSpPr>
        <p:grpSpPr>
          <a:xfrm>
            <a:off x="762000" y="2266950"/>
            <a:ext cx="1257300" cy="361950"/>
            <a:chOff x="0" y="0"/>
            <a:chExt cx="1257300" cy="361950"/>
          </a:xfrm>
        </p:grpSpPr>
        <p:sp>
          <p:nvSpPr>
            <p:cNvPr id="240"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241" name="446"/>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rPr dirty="0"/>
                <a:t>446</a:t>
              </a:r>
            </a:p>
          </p:txBody>
        </p:sp>
      </p:grpSp>
      <p:grpSp>
        <p:nvGrpSpPr>
          <p:cNvPr id="245" name="Group"/>
          <p:cNvGrpSpPr/>
          <p:nvPr/>
        </p:nvGrpSpPr>
        <p:grpSpPr>
          <a:xfrm>
            <a:off x="762000" y="2657475"/>
            <a:ext cx="1257300" cy="285750"/>
            <a:chOff x="0" y="0"/>
            <a:chExt cx="1257300" cy="285750"/>
          </a:xfrm>
        </p:grpSpPr>
        <p:sp>
          <p:nvSpPr>
            <p:cNvPr id="243"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244" name="rows after duplicate removal"/>
            <p:cNvSpPr txBox="1"/>
            <p:nvPr/>
          </p:nvSpPr>
          <p:spPr>
            <a:xfrm>
              <a:off x="0" y="0"/>
              <a:ext cx="12573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rPr dirty="0"/>
                <a:t>rows after duplicate removal</a:t>
              </a:r>
            </a:p>
          </p:txBody>
        </p:sp>
      </p:grpSp>
      <p:sp>
        <p:nvSpPr>
          <p:cNvPr id="246" name="Rectangle"/>
          <p:cNvSpPr/>
          <p:nvPr/>
        </p:nvSpPr>
        <p:spPr>
          <a:xfrm>
            <a:off x="2305050" y="2133600"/>
            <a:ext cx="1524000" cy="952500"/>
          </a:xfrm>
          <a:prstGeom prst="rect">
            <a:avLst/>
          </a:prstGeom>
          <a:solidFill>
            <a:srgbClr val="FFFFFF"/>
          </a:solidFill>
          <a:ln>
            <a:solidFill>
              <a:srgbClr val="E4EAE7"/>
            </a:solidFill>
          </a:ln>
        </p:spPr>
        <p:txBody>
          <a:bodyPr lIns="0" tIns="0" rIns="0" bIns="0"/>
          <a:lstStyle/>
          <a:p>
            <a:endParaRPr/>
          </a:p>
        </p:txBody>
      </p:sp>
      <p:sp>
        <p:nvSpPr>
          <p:cNvPr id="247" name="Rectangle"/>
          <p:cNvSpPr/>
          <p:nvPr/>
        </p:nvSpPr>
        <p:spPr>
          <a:xfrm>
            <a:off x="2305050" y="2133600"/>
            <a:ext cx="47625" cy="952500"/>
          </a:xfrm>
          <a:prstGeom prst="rect">
            <a:avLst/>
          </a:prstGeom>
          <a:solidFill>
            <a:srgbClr val="3C9D72"/>
          </a:solidFill>
          <a:ln w="3175">
            <a:solidFill>
              <a:srgbClr val="000000">
                <a:alpha val="0"/>
              </a:srgbClr>
            </a:solidFill>
          </a:ln>
        </p:spPr>
        <p:txBody>
          <a:bodyPr lIns="0" tIns="0" rIns="0" bIns="0"/>
          <a:lstStyle/>
          <a:p>
            <a:endParaRPr/>
          </a:p>
        </p:txBody>
      </p:sp>
      <p:grpSp>
        <p:nvGrpSpPr>
          <p:cNvPr id="250" name="Group"/>
          <p:cNvGrpSpPr/>
          <p:nvPr/>
        </p:nvGrpSpPr>
        <p:grpSpPr>
          <a:xfrm>
            <a:off x="2476500" y="2266950"/>
            <a:ext cx="1257300" cy="361950"/>
            <a:chOff x="0" y="0"/>
            <a:chExt cx="1257300" cy="361950"/>
          </a:xfrm>
        </p:grpSpPr>
        <p:sp>
          <p:nvSpPr>
            <p:cNvPr id="248"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249" name="0"/>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0</a:t>
              </a:r>
            </a:p>
          </p:txBody>
        </p:sp>
      </p:grpSp>
      <p:grpSp>
        <p:nvGrpSpPr>
          <p:cNvPr id="253" name="Group"/>
          <p:cNvGrpSpPr/>
          <p:nvPr/>
        </p:nvGrpSpPr>
        <p:grpSpPr>
          <a:xfrm>
            <a:off x="2476500" y="2657475"/>
            <a:ext cx="1257300" cy="285750"/>
            <a:chOff x="0" y="0"/>
            <a:chExt cx="1257300" cy="285750"/>
          </a:xfrm>
        </p:grpSpPr>
        <p:sp>
          <p:nvSpPr>
            <p:cNvPr id="251"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252" name="duplicates removed"/>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duplicates removed</a:t>
              </a:r>
            </a:p>
          </p:txBody>
        </p:sp>
      </p:grpSp>
      <p:sp>
        <p:nvSpPr>
          <p:cNvPr id="254" name="Rectangle"/>
          <p:cNvSpPr/>
          <p:nvPr/>
        </p:nvSpPr>
        <p:spPr>
          <a:xfrm>
            <a:off x="4019550" y="2133600"/>
            <a:ext cx="1600200" cy="952500"/>
          </a:xfrm>
          <a:prstGeom prst="rect">
            <a:avLst/>
          </a:prstGeom>
          <a:solidFill>
            <a:srgbClr val="FFFFFF"/>
          </a:solidFill>
          <a:ln>
            <a:solidFill>
              <a:srgbClr val="E4EAE7"/>
            </a:solidFill>
          </a:ln>
        </p:spPr>
        <p:txBody>
          <a:bodyPr lIns="0" tIns="0" rIns="0" bIns="0"/>
          <a:lstStyle/>
          <a:p>
            <a:endParaRPr/>
          </a:p>
        </p:txBody>
      </p:sp>
      <p:sp>
        <p:nvSpPr>
          <p:cNvPr id="255" name="Rectangle"/>
          <p:cNvSpPr/>
          <p:nvPr/>
        </p:nvSpPr>
        <p:spPr>
          <a:xfrm>
            <a:off x="4019550" y="2133600"/>
            <a:ext cx="47625" cy="952500"/>
          </a:xfrm>
          <a:prstGeom prst="rect">
            <a:avLst/>
          </a:prstGeom>
          <a:solidFill>
            <a:srgbClr val="D99A16"/>
          </a:solidFill>
          <a:ln w="3175">
            <a:solidFill>
              <a:srgbClr val="000000">
                <a:alpha val="0"/>
              </a:srgbClr>
            </a:solidFill>
          </a:ln>
        </p:spPr>
        <p:txBody>
          <a:bodyPr lIns="0" tIns="0" rIns="0" bIns="0"/>
          <a:lstStyle/>
          <a:p>
            <a:endParaRPr/>
          </a:p>
        </p:txBody>
      </p:sp>
      <p:grpSp>
        <p:nvGrpSpPr>
          <p:cNvPr id="258" name="Group"/>
          <p:cNvGrpSpPr/>
          <p:nvPr/>
        </p:nvGrpSpPr>
        <p:grpSpPr>
          <a:xfrm>
            <a:off x="4191000" y="2266950"/>
            <a:ext cx="1333500" cy="361950"/>
            <a:chOff x="0" y="0"/>
            <a:chExt cx="1333500" cy="361950"/>
          </a:xfrm>
        </p:grpSpPr>
        <p:sp>
          <p:nvSpPr>
            <p:cNvPr id="256" name="Rectangle"/>
            <p:cNvSpPr/>
            <p:nvPr/>
          </p:nvSpPr>
          <p:spPr>
            <a:xfrm>
              <a:off x="0" y="0"/>
              <a:ext cx="13335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257" name="5"/>
            <p:cNvSpPr txBox="1"/>
            <p:nvPr/>
          </p:nvSpPr>
          <p:spPr>
            <a:xfrm>
              <a:off x="0" y="0"/>
              <a:ext cx="13335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5</a:t>
              </a:r>
            </a:p>
          </p:txBody>
        </p:sp>
      </p:grpSp>
      <p:grpSp>
        <p:nvGrpSpPr>
          <p:cNvPr id="261" name="Group"/>
          <p:cNvGrpSpPr/>
          <p:nvPr/>
        </p:nvGrpSpPr>
        <p:grpSpPr>
          <a:xfrm>
            <a:off x="4191000" y="2657475"/>
            <a:ext cx="1333500" cy="285750"/>
            <a:chOff x="0" y="0"/>
            <a:chExt cx="1333500" cy="285750"/>
          </a:xfrm>
        </p:grpSpPr>
        <p:sp>
          <p:nvSpPr>
            <p:cNvPr id="259" name="Rectangle"/>
            <p:cNvSpPr/>
            <p:nvPr/>
          </p:nvSpPr>
          <p:spPr>
            <a:xfrm>
              <a:off x="0" y="0"/>
              <a:ext cx="13335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260" name="core dataset columns"/>
            <p:cNvSpPr txBox="1"/>
            <p:nvPr/>
          </p:nvSpPr>
          <p:spPr>
            <a:xfrm>
              <a:off x="0" y="0"/>
              <a:ext cx="13335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core dataset columns</a:t>
              </a:r>
            </a:p>
          </p:txBody>
        </p:sp>
      </p:grpSp>
      <p:sp>
        <p:nvSpPr>
          <p:cNvPr id="262" name="Rectangle"/>
          <p:cNvSpPr/>
          <p:nvPr/>
        </p:nvSpPr>
        <p:spPr>
          <a:xfrm>
            <a:off x="6343650" y="2076450"/>
            <a:ext cx="4857750" cy="3352800"/>
          </a:xfrm>
          <a:prstGeom prst="rect">
            <a:avLst/>
          </a:prstGeom>
          <a:solidFill>
            <a:srgbClr val="FFFFFF"/>
          </a:solidFill>
          <a:ln>
            <a:solidFill>
              <a:srgbClr val="E4EAE7"/>
            </a:solidFill>
          </a:ln>
        </p:spPr>
        <p:txBody>
          <a:bodyPr lIns="0" tIns="0" rIns="0" bIns="0"/>
          <a:lstStyle/>
          <a:p>
            <a:endParaRPr/>
          </a:p>
        </p:txBody>
      </p:sp>
      <p:pic>
        <p:nvPicPr>
          <p:cNvPr id="263" name="image2.png" descr="image2.png"/>
          <p:cNvPicPr>
            <a:picLocks noChangeAspect="1"/>
          </p:cNvPicPr>
          <p:nvPr/>
        </p:nvPicPr>
        <p:blipFill>
          <a:blip r:embed="rId2"/>
          <a:stretch>
            <a:fillRect/>
          </a:stretch>
        </p:blipFill>
        <p:spPr>
          <a:xfrm>
            <a:off x="6419850" y="2217420"/>
            <a:ext cx="4705350" cy="2823211"/>
          </a:xfrm>
          <a:prstGeom prst="rect">
            <a:avLst/>
          </a:prstGeom>
          <a:ln w="12700">
            <a:miter lim="400000"/>
          </a:ln>
        </p:spPr>
      </p:pic>
      <p:grpSp>
        <p:nvGrpSpPr>
          <p:cNvPr id="266" name="Group"/>
          <p:cNvGrpSpPr/>
          <p:nvPr/>
        </p:nvGrpSpPr>
        <p:grpSpPr>
          <a:xfrm>
            <a:off x="6457950" y="5153025"/>
            <a:ext cx="4629150" cy="171450"/>
            <a:chOff x="0" y="0"/>
            <a:chExt cx="4629150" cy="171450"/>
          </a:xfrm>
        </p:grpSpPr>
        <p:sp>
          <p:nvSpPr>
            <p:cNvPr id="264" name="Rectangle"/>
            <p:cNvSpPr/>
            <p:nvPr/>
          </p:nvSpPr>
          <p:spPr>
            <a:xfrm>
              <a:off x="0" y="0"/>
              <a:ext cx="46291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265" name="Figure 2. Distribution of customer points"/>
            <p:cNvSpPr txBox="1"/>
            <p:nvPr/>
          </p:nvSpPr>
          <p:spPr>
            <a:xfrm>
              <a:off x="0" y="0"/>
              <a:ext cx="46291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2. Distribution of customer points</a:t>
              </a:r>
            </a:p>
          </p:txBody>
        </p:sp>
      </p:grpSp>
      <p:grpSp>
        <p:nvGrpSpPr>
          <p:cNvPr id="269" name="Group"/>
          <p:cNvGrpSpPr/>
          <p:nvPr/>
        </p:nvGrpSpPr>
        <p:grpSpPr>
          <a:xfrm>
            <a:off x="6362700" y="5581650"/>
            <a:ext cx="4857750" cy="514350"/>
            <a:chOff x="0" y="0"/>
            <a:chExt cx="4857750" cy="514350"/>
          </a:xfrm>
        </p:grpSpPr>
        <p:sp>
          <p:nvSpPr>
            <p:cNvPr id="267" name="Rectangle"/>
            <p:cNvSpPr/>
            <p:nvPr/>
          </p:nvSpPr>
          <p:spPr>
            <a:xfrm>
              <a:off x="0" y="0"/>
              <a:ext cx="4857750" cy="5143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268" name="The point distribution is intentionally uneven because real retail loyalty programs usually have many low-to-mid activity members and a smaller group of very high value members."/>
            <p:cNvSpPr txBox="1"/>
            <p:nvPr/>
          </p:nvSpPr>
          <p:spPr>
            <a:xfrm>
              <a:off x="0" y="0"/>
              <a:ext cx="4857750" cy="495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The point distribution is intentionally uneven because real retail loyalty programs usually have many low-to-mid activity members and a smaller group of very high value members.</a:t>
              </a: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272"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275" name="Group"/>
          <p:cNvGrpSpPr/>
          <p:nvPr/>
        </p:nvGrpSpPr>
        <p:grpSpPr>
          <a:xfrm>
            <a:off x="533400" y="323850"/>
            <a:ext cx="4953000" cy="228600"/>
            <a:chOff x="0" y="0"/>
            <a:chExt cx="4953000" cy="228600"/>
          </a:xfrm>
        </p:grpSpPr>
        <p:sp>
          <p:nvSpPr>
            <p:cNvPr id="27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274"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278" name="Group"/>
          <p:cNvGrpSpPr/>
          <p:nvPr/>
        </p:nvGrpSpPr>
        <p:grpSpPr>
          <a:xfrm>
            <a:off x="533400" y="723900"/>
            <a:ext cx="6667500" cy="609600"/>
            <a:chOff x="0" y="0"/>
            <a:chExt cx="6667500" cy="609600"/>
          </a:xfrm>
        </p:grpSpPr>
        <p:sp>
          <p:nvSpPr>
            <p:cNvPr id="276"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277" name="Analytics Pipeline"/>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Analytics Pipeline</a:t>
              </a:r>
            </a:p>
          </p:txBody>
        </p:sp>
      </p:grpSp>
      <p:grpSp>
        <p:nvGrpSpPr>
          <p:cNvPr id="281" name="Group"/>
          <p:cNvGrpSpPr/>
          <p:nvPr/>
        </p:nvGrpSpPr>
        <p:grpSpPr>
          <a:xfrm>
            <a:off x="552450" y="1485900"/>
            <a:ext cx="6477000" cy="457200"/>
            <a:chOff x="0" y="0"/>
            <a:chExt cx="6477000" cy="457200"/>
          </a:xfrm>
        </p:grpSpPr>
        <p:sp>
          <p:nvSpPr>
            <p:cNvPr id="279"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280" name="The code follows a repeatable pipeline so every output can be traced back to a specific preparation, feature, and modeling step."/>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code follows a repeatable pipeline so every output can be traced back to a specific preparation, feature, and modeling step.</a:t>
              </a:r>
            </a:p>
          </p:txBody>
        </p:sp>
      </p:grpSp>
      <p:grpSp>
        <p:nvGrpSpPr>
          <p:cNvPr id="284" name="Group"/>
          <p:cNvGrpSpPr/>
          <p:nvPr/>
        </p:nvGrpSpPr>
        <p:grpSpPr>
          <a:xfrm>
            <a:off x="533400" y="6438900"/>
            <a:ext cx="4953000" cy="228600"/>
            <a:chOff x="0" y="0"/>
            <a:chExt cx="4953000" cy="228600"/>
          </a:xfrm>
        </p:grpSpPr>
        <p:sp>
          <p:nvSpPr>
            <p:cNvPr id="28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28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287" name="Group"/>
          <p:cNvGrpSpPr/>
          <p:nvPr/>
        </p:nvGrpSpPr>
        <p:grpSpPr>
          <a:xfrm>
            <a:off x="11125200" y="6419850"/>
            <a:ext cx="514350" cy="228600"/>
            <a:chOff x="0" y="0"/>
            <a:chExt cx="514350" cy="228600"/>
          </a:xfrm>
        </p:grpSpPr>
        <p:sp>
          <p:nvSpPr>
            <p:cNvPr id="28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286" name="04"/>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04</a:t>
              </a:r>
            </a:p>
          </p:txBody>
        </p:sp>
      </p:grpSp>
      <p:sp>
        <p:nvSpPr>
          <p:cNvPr id="288" name="Rectangle"/>
          <p:cNvSpPr/>
          <p:nvPr/>
        </p:nvSpPr>
        <p:spPr>
          <a:xfrm>
            <a:off x="590550" y="2552700"/>
            <a:ext cx="1504950" cy="819150"/>
          </a:xfrm>
          <a:prstGeom prst="rect">
            <a:avLst/>
          </a:prstGeom>
          <a:solidFill>
            <a:srgbClr val="FFFFFF"/>
          </a:solidFill>
          <a:ln>
            <a:solidFill>
              <a:srgbClr val="0A6B61"/>
            </a:solidFill>
          </a:ln>
        </p:spPr>
        <p:txBody>
          <a:bodyPr lIns="0" tIns="0" rIns="0" bIns="0"/>
          <a:lstStyle/>
          <a:p>
            <a:endParaRPr/>
          </a:p>
        </p:txBody>
      </p:sp>
      <p:grpSp>
        <p:nvGrpSpPr>
          <p:cNvPr id="291" name="Group"/>
          <p:cNvGrpSpPr/>
          <p:nvPr/>
        </p:nvGrpSpPr>
        <p:grpSpPr>
          <a:xfrm>
            <a:off x="723900" y="2705100"/>
            <a:ext cx="1238250" cy="209550"/>
            <a:chOff x="0" y="0"/>
            <a:chExt cx="1238250" cy="209550"/>
          </a:xfrm>
        </p:grpSpPr>
        <p:sp>
          <p:nvSpPr>
            <p:cNvPr id="28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290" name="Customer CSV"/>
            <p:cNvSpPr txBox="1"/>
            <p:nvPr/>
          </p:nvSpPr>
          <p:spPr>
            <a:xfrm>
              <a:off x="0" y="0"/>
              <a:ext cx="1238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Customer CSV</a:t>
              </a:r>
            </a:p>
          </p:txBody>
        </p:sp>
      </p:grpSp>
      <p:grpSp>
        <p:nvGrpSpPr>
          <p:cNvPr id="294" name="Group"/>
          <p:cNvGrpSpPr/>
          <p:nvPr/>
        </p:nvGrpSpPr>
        <p:grpSpPr>
          <a:xfrm>
            <a:off x="723900" y="2971800"/>
            <a:ext cx="1238250" cy="342900"/>
            <a:chOff x="0" y="0"/>
            <a:chExt cx="1238250" cy="342900"/>
          </a:xfrm>
        </p:grpSpPr>
        <p:sp>
          <p:nvSpPr>
            <p:cNvPr id="29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293" name="load required columns"/>
            <p:cNvSpPr txBox="1"/>
            <p:nvPr/>
          </p:nvSpPr>
          <p:spPr>
            <a:xfrm>
              <a:off x="0" y="0"/>
              <a:ext cx="1238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load required columns</a:t>
              </a:r>
            </a:p>
          </p:txBody>
        </p:sp>
      </p:grpSp>
      <p:grpSp>
        <p:nvGrpSpPr>
          <p:cNvPr id="297" name="Group"/>
          <p:cNvGrpSpPr/>
          <p:nvPr/>
        </p:nvGrpSpPr>
        <p:grpSpPr>
          <a:xfrm>
            <a:off x="2152650" y="2800350"/>
            <a:ext cx="266700" cy="241300"/>
            <a:chOff x="0" y="0"/>
            <a:chExt cx="266700" cy="241300"/>
          </a:xfrm>
        </p:grpSpPr>
        <p:sp>
          <p:nvSpPr>
            <p:cNvPr id="295" name="Rectangle"/>
            <p:cNvSpPr/>
            <p:nvPr/>
          </p:nvSpPr>
          <p:spPr>
            <a:xfrm>
              <a:off x="0" y="0"/>
              <a:ext cx="2667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600" b="1">
                  <a:solidFill>
                    <a:srgbClr val="0A6B61"/>
                  </a:solidFill>
                  <a:latin typeface="Aptos"/>
                  <a:ea typeface="Aptos"/>
                  <a:cs typeface="Aptos"/>
                  <a:sym typeface="Aptos"/>
                </a:defRPr>
              </a:pPr>
              <a:endParaRPr/>
            </a:p>
          </p:txBody>
        </p:sp>
        <p:sp>
          <p:nvSpPr>
            <p:cNvPr id="296" name="&gt;"/>
            <p:cNvSpPr txBox="1"/>
            <p:nvPr/>
          </p:nvSpPr>
          <p:spPr>
            <a:xfrm>
              <a:off x="0" y="0"/>
              <a:ext cx="266700" cy="241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600" b="1">
                  <a:solidFill>
                    <a:srgbClr val="0A6B61"/>
                  </a:solidFill>
                  <a:latin typeface="Aptos"/>
                  <a:ea typeface="Aptos"/>
                  <a:cs typeface="Aptos"/>
                  <a:sym typeface="Aptos"/>
                </a:defRPr>
              </a:lvl1pPr>
            </a:lstStyle>
            <a:p>
              <a:r>
                <a:t>&gt;</a:t>
              </a:r>
            </a:p>
          </p:txBody>
        </p:sp>
      </p:grpSp>
      <p:sp>
        <p:nvSpPr>
          <p:cNvPr id="298" name="Rectangle"/>
          <p:cNvSpPr/>
          <p:nvPr/>
        </p:nvSpPr>
        <p:spPr>
          <a:xfrm>
            <a:off x="2457450" y="3295650"/>
            <a:ext cx="1504950" cy="819150"/>
          </a:xfrm>
          <a:prstGeom prst="rect">
            <a:avLst/>
          </a:prstGeom>
          <a:solidFill>
            <a:srgbClr val="FFFFFF"/>
          </a:solidFill>
          <a:ln>
            <a:solidFill>
              <a:srgbClr val="0A6B61"/>
            </a:solidFill>
          </a:ln>
        </p:spPr>
        <p:txBody>
          <a:bodyPr lIns="0" tIns="0" rIns="0" bIns="0"/>
          <a:lstStyle/>
          <a:p>
            <a:endParaRPr/>
          </a:p>
        </p:txBody>
      </p:sp>
      <p:grpSp>
        <p:nvGrpSpPr>
          <p:cNvPr id="301" name="Group"/>
          <p:cNvGrpSpPr/>
          <p:nvPr/>
        </p:nvGrpSpPr>
        <p:grpSpPr>
          <a:xfrm>
            <a:off x="2590800" y="3448050"/>
            <a:ext cx="1238250" cy="209550"/>
            <a:chOff x="0" y="0"/>
            <a:chExt cx="1238250" cy="209550"/>
          </a:xfrm>
        </p:grpSpPr>
        <p:sp>
          <p:nvSpPr>
            <p:cNvPr id="29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300" name="Cleaning"/>
            <p:cNvSpPr txBox="1"/>
            <p:nvPr/>
          </p:nvSpPr>
          <p:spPr>
            <a:xfrm>
              <a:off x="0" y="0"/>
              <a:ext cx="1238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Cleaning</a:t>
              </a:r>
            </a:p>
          </p:txBody>
        </p:sp>
      </p:grpSp>
      <p:grpSp>
        <p:nvGrpSpPr>
          <p:cNvPr id="304" name="Group"/>
          <p:cNvGrpSpPr/>
          <p:nvPr/>
        </p:nvGrpSpPr>
        <p:grpSpPr>
          <a:xfrm>
            <a:off x="2590800" y="3714750"/>
            <a:ext cx="1238250" cy="342900"/>
            <a:chOff x="0" y="0"/>
            <a:chExt cx="1238250" cy="342900"/>
          </a:xfrm>
        </p:grpSpPr>
        <p:sp>
          <p:nvSpPr>
            <p:cNvPr id="30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303" name="dates, text, points, duplicates"/>
            <p:cNvSpPr txBox="1"/>
            <p:nvPr/>
          </p:nvSpPr>
          <p:spPr>
            <a:xfrm>
              <a:off x="0" y="0"/>
              <a:ext cx="12382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dates, text, points, duplicates</a:t>
              </a:r>
            </a:p>
          </p:txBody>
        </p:sp>
      </p:grpSp>
      <p:grpSp>
        <p:nvGrpSpPr>
          <p:cNvPr id="307" name="Group"/>
          <p:cNvGrpSpPr/>
          <p:nvPr/>
        </p:nvGrpSpPr>
        <p:grpSpPr>
          <a:xfrm>
            <a:off x="4019550" y="3543300"/>
            <a:ext cx="266700" cy="241300"/>
            <a:chOff x="0" y="0"/>
            <a:chExt cx="266700" cy="241300"/>
          </a:xfrm>
        </p:grpSpPr>
        <p:sp>
          <p:nvSpPr>
            <p:cNvPr id="305" name="Rectangle"/>
            <p:cNvSpPr/>
            <p:nvPr/>
          </p:nvSpPr>
          <p:spPr>
            <a:xfrm>
              <a:off x="0" y="0"/>
              <a:ext cx="2667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600" b="1">
                  <a:solidFill>
                    <a:srgbClr val="0A6B61"/>
                  </a:solidFill>
                  <a:latin typeface="Aptos"/>
                  <a:ea typeface="Aptos"/>
                  <a:cs typeface="Aptos"/>
                  <a:sym typeface="Aptos"/>
                </a:defRPr>
              </a:pPr>
              <a:endParaRPr/>
            </a:p>
          </p:txBody>
        </p:sp>
        <p:sp>
          <p:nvSpPr>
            <p:cNvPr id="306" name="&gt;"/>
            <p:cNvSpPr txBox="1"/>
            <p:nvPr/>
          </p:nvSpPr>
          <p:spPr>
            <a:xfrm>
              <a:off x="0" y="0"/>
              <a:ext cx="266700" cy="241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600" b="1">
                  <a:solidFill>
                    <a:srgbClr val="0A6B61"/>
                  </a:solidFill>
                  <a:latin typeface="Aptos"/>
                  <a:ea typeface="Aptos"/>
                  <a:cs typeface="Aptos"/>
                  <a:sym typeface="Aptos"/>
                </a:defRPr>
              </a:lvl1pPr>
            </a:lstStyle>
            <a:p>
              <a:r>
                <a:t>&gt;</a:t>
              </a:r>
            </a:p>
          </p:txBody>
        </p:sp>
      </p:grpSp>
      <p:sp>
        <p:nvSpPr>
          <p:cNvPr id="308" name="Rectangle"/>
          <p:cNvSpPr/>
          <p:nvPr/>
        </p:nvSpPr>
        <p:spPr>
          <a:xfrm>
            <a:off x="4324350" y="2552700"/>
            <a:ext cx="1504950" cy="819150"/>
          </a:xfrm>
          <a:prstGeom prst="rect">
            <a:avLst/>
          </a:prstGeom>
          <a:solidFill>
            <a:srgbClr val="FFFFFF"/>
          </a:solidFill>
          <a:ln>
            <a:solidFill>
              <a:srgbClr val="0A6B61"/>
            </a:solidFill>
          </a:ln>
        </p:spPr>
        <p:txBody>
          <a:bodyPr lIns="0" tIns="0" rIns="0" bIns="0"/>
          <a:lstStyle/>
          <a:p>
            <a:endParaRPr/>
          </a:p>
        </p:txBody>
      </p:sp>
      <p:grpSp>
        <p:nvGrpSpPr>
          <p:cNvPr id="311" name="Group"/>
          <p:cNvGrpSpPr/>
          <p:nvPr/>
        </p:nvGrpSpPr>
        <p:grpSpPr>
          <a:xfrm>
            <a:off x="4457700" y="2705100"/>
            <a:ext cx="1238250" cy="209550"/>
            <a:chOff x="0" y="0"/>
            <a:chExt cx="1238250" cy="209550"/>
          </a:xfrm>
        </p:grpSpPr>
        <p:sp>
          <p:nvSpPr>
            <p:cNvPr id="30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310" name="Features"/>
            <p:cNvSpPr txBox="1"/>
            <p:nvPr/>
          </p:nvSpPr>
          <p:spPr>
            <a:xfrm>
              <a:off x="0" y="0"/>
              <a:ext cx="1238250" cy="18466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rPr dirty="0"/>
                <a:t>Features</a:t>
              </a:r>
            </a:p>
          </p:txBody>
        </p:sp>
      </p:grpSp>
      <p:grpSp>
        <p:nvGrpSpPr>
          <p:cNvPr id="314" name="Group"/>
          <p:cNvGrpSpPr/>
          <p:nvPr/>
        </p:nvGrpSpPr>
        <p:grpSpPr>
          <a:xfrm>
            <a:off x="4457700" y="2971800"/>
            <a:ext cx="1238250" cy="342900"/>
            <a:chOff x="0" y="0"/>
            <a:chExt cx="1238250" cy="342900"/>
          </a:xfrm>
        </p:grpSpPr>
        <p:sp>
          <p:nvSpPr>
            <p:cNvPr id="31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313" name="age, duration, points velocity"/>
            <p:cNvSpPr txBox="1"/>
            <p:nvPr/>
          </p:nvSpPr>
          <p:spPr>
            <a:xfrm>
              <a:off x="0" y="0"/>
              <a:ext cx="12382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age, duration, points velocity</a:t>
              </a:r>
            </a:p>
          </p:txBody>
        </p:sp>
      </p:grpSp>
      <p:grpSp>
        <p:nvGrpSpPr>
          <p:cNvPr id="317" name="Group"/>
          <p:cNvGrpSpPr/>
          <p:nvPr/>
        </p:nvGrpSpPr>
        <p:grpSpPr>
          <a:xfrm>
            <a:off x="5886450" y="2800350"/>
            <a:ext cx="266700" cy="241300"/>
            <a:chOff x="0" y="0"/>
            <a:chExt cx="266700" cy="241300"/>
          </a:xfrm>
        </p:grpSpPr>
        <p:sp>
          <p:nvSpPr>
            <p:cNvPr id="315" name="Rectangle"/>
            <p:cNvSpPr/>
            <p:nvPr/>
          </p:nvSpPr>
          <p:spPr>
            <a:xfrm>
              <a:off x="0" y="0"/>
              <a:ext cx="2667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600" b="1">
                  <a:solidFill>
                    <a:srgbClr val="0A6B61"/>
                  </a:solidFill>
                  <a:latin typeface="Aptos"/>
                  <a:ea typeface="Aptos"/>
                  <a:cs typeface="Aptos"/>
                  <a:sym typeface="Aptos"/>
                </a:defRPr>
              </a:pPr>
              <a:endParaRPr/>
            </a:p>
          </p:txBody>
        </p:sp>
        <p:sp>
          <p:nvSpPr>
            <p:cNvPr id="316" name="&gt;"/>
            <p:cNvSpPr txBox="1"/>
            <p:nvPr/>
          </p:nvSpPr>
          <p:spPr>
            <a:xfrm>
              <a:off x="0" y="0"/>
              <a:ext cx="266700" cy="241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600" b="1">
                  <a:solidFill>
                    <a:srgbClr val="0A6B61"/>
                  </a:solidFill>
                  <a:latin typeface="Aptos"/>
                  <a:ea typeface="Aptos"/>
                  <a:cs typeface="Aptos"/>
                  <a:sym typeface="Aptos"/>
                </a:defRPr>
              </a:lvl1pPr>
            </a:lstStyle>
            <a:p>
              <a:r>
                <a:t>&gt;</a:t>
              </a:r>
            </a:p>
          </p:txBody>
        </p:sp>
      </p:grpSp>
      <p:sp>
        <p:nvSpPr>
          <p:cNvPr id="318" name="Rectangle"/>
          <p:cNvSpPr/>
          <p:nvPr/>
        </p:nvSpPr>
        <p:spPr>
          <a:xfrm>
            <a:off x="6191250" y="3295650"/>
            <a:ext cx="1504950" cy="819150"/>
          </a:xfrm>
          <a:prstGeom prst="rect">
            <a:avLst/>
          </a:prstGeom>
          <a:solidFill>
            <a:schemeClr val="bg1"/>
          </a:solidFill>
          <a:ln>
            <a:solidFill>
              <a:srgbClr val="0A6B61"/>
            </a:solidFill>
          </a:ln>
        </p:spPr>
        <p:txBody>
          <a:bodyPr lIns="0" tIns="0" rIns="0" bIns="0"/>
          <a:lstStyle/>
          <a:p>
            <a:endParaRPr/>
          </a:p>
        </p:txBody>
      </p:sp>
      <p:grpSp>
        <p:nvGrpSpPr>
          <p:cNvPr id="321" name="Group"/>
          <p:cNvGrpSpPr/>
          <p:nvPr/>
        </p:nvGrpSpPr>
        <p:grpSpPr>
          <a:xfrm>
            <a:off x="6324600" y="3448050"/>
            <a:ext cx="1238250" cy="209550"/>
            <a:chOff x="0" y="0"/>
            <a:chExt cx="1238250" cy="209550"/>
          </a:xfrm>
        </p:grpSpPr>
        <p:sp>
          <p:nvSpPr>
            <p:cNvPr id="31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FFFFFF"/>
                  </a:solidFill>
                  <a:latin typeface="Aptos Display"/>
                  <a:ea typeface="Aptos Display"/>
                  <a:cs typeface="Aptos Display"/>
                  <a:sym typeface="Aptos Display"/>
                </a:defRPr>
              </a:pPr>
              <a:endParaRPr/>
            </a:p>
          </p:txBody>
        </p:sp>
        <p:sp>
          <p:nvSpPr>
            <p:cNvPr id="320" name="Score &amp; Rank"/>
            <p:cNvSpPr txBox="1"/>
            <p:nvPr/>
          </p:nvSpPr>
          <p:spPr>
            <a:xfrm>
              <a:off x="0" y="0"/>
              <a:ext cx="1238250" cy="18466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FFFFFF"/>
                  </a:solidFill>
                  <a:latin typeface="Aptos Display"/>
                  <a:ea typeface="Aptos Display"/>
                  <a:cs typeface="Aptos Display"/>
                  <a:sym typeface="Aptos Display"/>
                </a:defRPr>
              </a:lvl1pPr>
            </a:lstStyle>
            <a:p>
              <a:r>
                <a:rPr dirty="0">
                  <a:solidFill>
                    <a:srgbClr val="10242C"/>
                  </a:solidFill>
                </a:rPr>
                <a:t>Score &amp; Rank</a:t>
              </a:r>
            </a:p>
          </p:txBody>
        </p:sp>
      </p:grpSp>
      <p:grpSp>
        <p:nvGrpSpPr>
          <p:cNvPr id="324" name="Group"/>
          <p:cNvGrpSpPr/>
          <p:nvPr/>
        </p:nvGrpSpPr>
        <p:grpSpPr>
          <a:xfrm>
            <a:off x="6324600" y="3714750"/>
            <a:ext cx="1238250" cy="342900"/>
            <a:chOff x="0" y="0"/>
            <a:chExt cx="1238250" cy="342900"/>
          </a:xfrm>
        </p:grpSpPr>
        <p:sp>
          <p:nvSpPr>
            <p:cNvPr id="32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DDEEEA"/>
                  </a:solidFill>
                  <a:latin typeface="Aptos"/>
                  <a:ea typeface="Aptos"/>
                  <a:cs typeface="Aptos"/>
                  <a:sym typeface="Aptos"/>
                </a:defRPr>
              </a:pPr>
              <a:endParaRPr/>
            </a:p>
          </p:txBody>
        </p:sp>
        <p:sp>
          <p:nvSpPr>
            <p:cNvPr id="323" name="weighted loyalty formula"/>
            <p:cNvSpPr txBox="1"/>
            <p:nvPr/>
          </p:nvSpPr>
          <p:spPr>
            <a:xfrm>
              <a:off x="0" y="0"/>
              <a:ext cx="1238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DDEEEA"/>
                  </a:solidFill>
                  <a:latin typeface="Aptos"/>
                  <a:ea typeface="Aptos"/>
                  <a:cs typeface="Aptos"/>
                  <a:sym typeface="Aptos"/>
                </a:defRPr>
              </a:lvl1pPr>
            </a:lstStyle>
            <a:p>
              <a:r>
                <a:rPr dirty="0">
                  <a:solidFill>
                    <a:srgbClr val="959DA1"/>
                  </a:solidFill>
                </a:rPr>
                <a:t>weighted loyalty formula</a:t>
              </a:r>
            </a:p>
          </p:txBody>
        </p:sp>
      </p:grpSp>
      <p:grpSp>
        <p:nvGrpSpPr>
          <p:cNvPr id="327" name="Group"/>
          <p:cNvGrpSpPr/>
          <p:nvPr/>
        </p:nvGrpSpPr>
        <p:grpSpPr>
          <a:xfrm>
            <a:off x="7753350" y="3543300"/>
            <a:ext cx="266700" cy="241300"/>
            <a:chOff x="0" y="0"/>
            <a:chExt cx="266700" cy="241300"/>
          </a:xfrm>
        </p:grpSpPr>
        <p:sp>
          <p:nvSpPr>
            <p:cNvPr id="325" name="Rectangle"/>
            <p:cNvSpPr/>
            <p:nvPr/>
          </p:nvSpPr>
          <p:spPr>
            <a:xfrm>
              <a:off x="0" y="0"/>
              <a:ext cx="2667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600" b="1">
                  <a:solidFill>
                    <a:srgbClr val="0A6B61"/>
                  </a:solidFill>
                  <a:latin typeface="Aptos"/>
                  <a:ea typeface="Aptos"/>
                  <a:cs typeface="Aptos"/>
                  <a:sym typeface="Aptos"/>
                </a:defRPr>
              </a:pPr>
              <a:endParaRPr/>
            </a:p>
          </p:txBody>
        </p:sp>
        <p:sp>
          <p:nvSpPr>
            <p:cNvPr id="326" name="&gt;"/>
            <p:cNvSpPr txBox="1"/>
            <p:nvPr/>
          </p:nvSpPr>
          <p:spPr>
            <a:xfrm>
              <a:off x="0" y="0"/>
              <a:ext cx="266700" cy="241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600" b="1">
                  <a:solidFill>
                    <a:srgbClr val="0A6B61"/>
                  </a:solidFill>
                  <a:latin typeface="Aptos"/>
                  <a:ea typeface="Aptos"/>
                  <a:cs typeface="Aptos"/>
                  <a:sym typeface="Aptos"/>
                </a:defRPr>
              </a:lvl1pPr>
            </a:lstStyle>
            <a:p>
              <a:r>
                <a:t>&gt;</a:t>
              </a:r>
            </a:p>
          </p:txBody>
        </p:sp>
      </p:grpSp>
      <p:sp>
        <p:nvSpPr>
          <p:cNvPr id="328" name="Rectangle"/>
          <p:cNvSpPr/>
          <p:nvPr/>
        </p:nvSpPr>
        <p:spPr>
          <a:xfrm>
            <a:off x="8058150" y="2552700"/>
            <a:ext cx="1504950" cy="819150"/>
          </a:xfrm>
          <a:prstGeom prst="rect">
            <a:avLst/>
          </a:prstGeom>
          <a:solidFill>
            <a:srgbClr val="FFFFFF"/>
          </a:solidFill>
          <a:ln>
            <a:solidFill>
              <a:srgbClr val="0A6B61"/>
            </a:solidFill>
          </a:ln>
        </p:spPr>
        <p:txBody>
          <a:bodyPr lIns="0" tIns="0" rIns="0" bIns="0"/>
          <a:lstStyle/>
          <a:p>
            <a:endParaRPr/>
          </a:p>
        </p:txBody>
      </p:sp>
      <p:grpSp>
        <p:nvGrpSpPr>
          <p:cNvPr id="331" name="Group"/>
          <p:cNvGrpSpPr/>
          <p:nvPr/>
        </p:nvGrpSpPr>
        <p:grpSpPr>
          <a:xfrm>
            <a:off x="8191500" y="2705100"/>
            <a:ext cx="1238250" cy="209550"/>
            <a:chOff x="0" y="0"/>
            <a:chExt cx="1238250" cy="209550"/>
          </a:xfrm>
        </p:grpSpPr>
        <p:sp>
          <p:nvSpPr>
            <p:cNvPr id="32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330" name="Segments"/>
            <p:cNvSpPr txBox="1"/>
            <p:nvPr/>
          </p:nvSpPr>
          <p:spPr>
            <a:xfrm>
              <a:off x="0" y="0"/>
              <a:ext cx="1238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Segments</a:t>
              </a:r>
            </a:p>
          </p:txBody>
        </p:sp>
      </p:grpSp>
      <p:grpSp>
        <p:nvGrpSpPr>
          <p:cNvPr id="334" name="Group"/>
          <p:cNvGrpSpPr/>
          <p:nvPr/>
        </p:nvGrpSpPr>
        <p:grpSpPr>
          <a:xfrm>
            <a:off x="8191500" y="2971800"/>
            <a:ext cx="1238250" cy="342900"/>
            <a:chOff x="0" y="0"/>
            <a:chExt cx="1238250" cy="342900"/>
          </a:xfrm>
        </p:grpSpPr>
        <p:sp>
          <p:nvSpPr>
            <p:cNvPr id="33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333" name="loyalty tiers and KMeans clusters"/>
            <p:cNvSpPr txBox="1"/>
            <p:nvPr/>
          </p:nvSpPr>
          <p:spPr>
            <a:xfrm>
              <a:off x="0" y="0"/>
              <a:ext cx="12382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loyalty tiers and KMeans clusters</a:t>
              </a:r>
            </a:p>
          </p:txBody>
        </p:sp>
      </p:grpSp>
      <p:grpSp>
        <p:nvGrpSpPr>
          <p:cNvPr id="337" name="Group"/>
          <p:cNvGrpSpPr/>
          <p:nvPr/>
        </p:nvGrpSpPr>
        <p:grpSpPr>
          <a:xfrm>
            <a:off x="9620250" y="2800350"/>
            <a:ext cx="266700" cy="241300"/>
            <a:chOff x="0" y="0"/>
            <a:chExt cx="266700" cy="241300"/>
          </a:xfrm>
        </p:grpSpPr>
        <p:sp>
          <p:nvSpPr>
            <p:cNvPr id="335" name="Rectangle"/>
            <p:cNvSpPr/>
            <p:nvPr/>
          </p:nvSpPr>
          <p:spPr>
            <a:xfrm>
              <a:off x="0" y="0"/>
              <a:ext cx="2667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600" b="1">
                  <a:solidFill>
                    <a:srgbClr val="0A6B61"/>
                  </a:solidFill>
                  <a:latin typeface="Aptos"/>
                  <a:ea typeface="Aptos"/>
                  <a:cs typeface="Aptos"/>
                  <a:sym typeface="Aptos"/>
                </a:defRPr>
              </a:pPr>
              <a:endParaRPr/>
            </a:p>
          </p:txBody>
        </p:sp>
        <p:sp>
          <p:nvSpPr>
            <p:cNvPr id="336" name="&gt;"/>
            <p:cNvSpPr txBox="1"/>
            <p:nvPr/>
          </p:nvSpPr>
          <p:spPr>
            <a:xfrm>
              <a:off x="0" y="0"/>
              <a:ext cx="266700" cy="241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600" b="1">
                  <a:solidFill>
                    <a:srgbClr val="0A6B61"/>
                  </a:solidFill>
                  <a:latin typeface="Aptos"/>
                  <a:ea typeface="Aptos"/>
                  <a:cs typeface="Aptos"/>
                  <a:sym typeface="Aptos"/>
                </a:defRPr>
              </a:lvl1pPr>
            </a:lstStyle>
            <a:p>
              <a:r>
                <a:t>&gt;</a:t>
              </a:r>
            </a:p>
          </p:txBody>
        </p:sp>
      </p:grpSp>
      <p:sp>
        <p:nvSpPr>
          <p:cNvPr id="338" name="Rectangle"/>
          <p:cNvSpPr/>
          <p:nvPr/>
        </p:nvSpPr>
        <p:spPr>
          <a:xfrm>
            <a:off x="9925050" y="3295650"/>
            <a:ext cx="1504950" cy="819150"/>
          </a:xfrm>
          <a:prstGeom prst="rect">
            <a:avLst/>
          </a:prstGeom>
          <a:solidFill>
            <a:srgbClr val="FFFFFF"/>
          </a:solidFill>
          <a:ln>
            <a:solidFill>
              <a:srgbClr val="0A6B61"/>
            </a:solidFill>
          </a:ln>
        </p:spPr>
        <p:txBody>
          <a:bodyPr lIns="0" tIns="0" rIns="0" bIns="0"/>
          <a:lstStyle/>
          <a:p>
            <a:endParaRPr/>
          </a:p>
        </p:txBody>
      </p:sp>
      <p:grpSp>
        <p:nvGrpSpPr>
          <p:cNvPr id="341" name="Group"/>
          <p:cNvGrpSpPr/>
          <p:nvPr/>
        </p:nvGrpSpPr>
        <p:grpSpPr>
          <a:xfrm>
            <a:off x="10058400" y="3448050"/>
            <a:ext cx="1238250" cy="209550"/>
            <a:chOff x="0" y="0"/>
            <a:chExt cx="1238250" cy="209550"/>
          </a:xfrm>
        </p:grpSpPr>
        <p:sp>
          <p:nvSpPr>
            <p:cNvPr id="339" name="Rectangle"/>
            <p:cNvSpPr/>
            <p:nvPr/>
          </p:nvSpPr>
          <p:spPr>
            <a:xfrm>
              <a:off x="0" y="0"/>
              <a:ext cx="123825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340" name="Models"/>
            <p:cNvSpPr txBox="1"/>
            <p:nvPr/>
          </p:nvSpPr>
          <p:spPr>
            <a:xfrm>
              <a:off x="0" y="0"/>
              <a:ext cx="1238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Models</a:t>
              </a:r>
            </a:p>
          </p:txBody>
        </p:sp>
      </p:grpSp>
      <p:grpSp>
        <p:nvGrpSpPr>
          <p:cNvPr id="344" name="Group"/>
          <p:cNvGrpSpPr/>
          <p:nvPr/>
        </p:nvGrpSpPr>
        <p:grpSpPr>
          <a:xfrm>
            <a:off x="10058400" y="3714750"/>
            <a:ext cx="1238250" cy="342900"/>
            <a:chOff x="0" y="0"/>
            <a:chExt cx="1238250" cy="342900"/>
          </a:xfrm>
        </p:grpSpPr>
        <p:sp>
          <p:nvSpPr>
            <p:cNvPr id="342" name="Rectangle"/>
            <p:cNvSpPr/>
            <p:nvPr/>
          </p:nvSpPr>
          <p:spPr>
            <a:xfrm>
              <a:off x="0" y="0"/>
              <a:ext cx="1238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343" name="classification and regression outputs"/>
            <p:cNvSpPr txBox="1"/>
            <p:nvPr/>
          </p:nvSpPr>
          <p:spPr>
            <a:xfrm>
              <a:off x="0" y="0"/>
              <a:ext cx="12382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classification and regression outputs</a:t>
              </a:r>
            </a:p>
          </p:txBody>
        </p:sp>
      </p:grpSp>
      <p:sp>
        <p:nvSpPr>
          <p:cNvPr id="345" name="Rectangle"/>
          <p:cNvSpPr/>
          <p:nvPr/>
        </p:nvSpPr>
        <p:spPr>
          <a:xfrm>
            <a:off x="952500" y="4932362"/>
            <a:ext cx="10096500" cy="12701"/>
          </a:xfrm>
          <a:prstGeom prst="rect">
            <a:avLst/>
          </a:prstGeom>
          <a:solidFill>
            <a:srgbClr val="E4EAE7"/>
          </a:solidFill>
          <a:ln w="3175">
            <a:solidFill>
              <a:srgbClr val="000000">
                <a:alpha val="0"/>
              </a:srgbClr>
            </a:solidFill>
          </a:ln>
        </p:spPr>
        <p:txBody>
          <a:bodyPr lIns="0" tIns="0" rIns="0" bIns="0"/>
          <a:lstStyle/>
          <a:p>
            <a:endParaRPr/>
          </a:p>
        </p:txBody>
      </p:sp>
      <p:grpSp>
        <p:nvGrpSpPr>
          <p:cNvPr id="348" name="Group"/>
          <p:cNvGrpSpPr/>
          <p:nvPr/>
        </p:nvGrpSpPr>
        <p:grpSpPr>
          <a:xfrm>
            <a:off x="1181100" y="5219700"/>
            <a:ext cx="9677400" cy="609600"/>
            <a:chOff x="0" y="0"/>
            <a:chExt cx="9677400" cy="609600"/>
          </a:xfrm>
        </p:grpSpPr>
        <p:sp>
          <p:nvSpPr>
            <p:cNvPr id="346" name="Rectangle"/>
            <p:cNvSpPr/>
            <p:nvPr/>
          </p:nvSpPr>
          <p:spPr>
            <a:xfrm>
              <a:off x="0" y="0"/>
              <a:ext cx="9677400" cy="533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a:solidFill>
                    <a:srgbClr val="10242C"/>
                  </a:solidFill>
                  <a:latin typeface="Aptos"/>
                  <a:ea typeface="Aptos"/>
                  <a:cs typeface="Aptos"/>
                  <a:sym typeface="Aptos"/>
                </a:defRPr>
              </a:pPr>
              <a:endParaRPr/>
            </a:p>
          </p:txBody>
        </p:sp>
        <p:sp>
          <p:nvSpPr>
            <p:cNvPr id="347" name="This structure matters because loyalty ranking can easily become subjective. The pipeline makes the process explicit: raw member behavior becomes measurable features, the features become a score, and the score becomes a segment that can be modeled and ac"/>
            <p:cNvSpPr txBox="1"/>
            <p:nvPr/>
          </p:nvSpPr>
          <p:spPr>
            <a:xfrm>
              <a:off x="0" y="0"/>
              <a:ext cx="9677400" cy="609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a:solidFill>
                    <a:srgbClr val="10242C"/>
                  </a:solidFill>
                  <a:latin typeface="Aptos"/>
                  <a:ea typeface="Aptos"/>
                  <a:cs typeface="Aptos"/>
                  <a:sym typeface="Aptos"/>
                </a:defRPr>
              </a:lvl1pPr>
            </a:lstStyle>
            <a:p>
              <a:r>
                <a:t>This structure matters because loyalty ranking can easily become subjective. The pipeline makes the process explicit: raw member behavior becomes measurable features, the features become a score, and the score becomes a segment that can be modeled and acted on.</a:t>
              </a:r>
            </a:p>
          </p:txBody>
        </p:sp>
      </p:gr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351"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354" name="Group"/>
          <p:cNvGrpSpPr/>
          <p:nvPr/>
        </p:nvGrpSpPr>
        <p:grpSpPr>
          <a:xfrm>
            <a:off x="533400" y="323850"/>
            <a:ext cx="4953000" cy="228600"/>
            <a:chOff x="0" y="0"/>
            <a:chExt cx="4953000" cy="228600"/>
          </a:xfrm>
        </p:grpSpPr>
        <p:sp>
          <p:nvSpPr>
            <p:cNvPr id="35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353"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357" name="Group"/>
          <p:cNvGrpSpPr/>
          <p:nvPr/>
        </p:nvGrpSpPr>
        <p:grpSpPr>
          <a:xfrm>
            <a:off x="533400" y="723900"/>
            <a:ext cx="6667500" cy="609600"/>
            <a:chOff x="0" y="0"/>
            <a:chExt cx="6667500" cy="609600"/>
          </a:xfrm>
        </p:grpSpPr>
        <p:sp>
          <p:nvSpPr>
            <p:cNvPr id="355"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356" name="Loyalty Score and Ranking"/>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Loyalty Score and Ranking</a:t>
              </a:r>
            </a:p>
          </p:txBody>
        </p:sp>
      </p:grpSp>
      <p:grpSp>
        <p:nvGrpSpPr>
          <p:cNvPr id="360" name="Group"/>
          <p:cNvGrpSpPr/>
          <p:nvPr/>
        </p:nvGrpSpPr>
        <p:grpSpPr>
          <a:xfrm>
            <a:off x="552450" y="1485900"/>
            <a:ext cx="6477000" cy="457200"/>
            <a:chOff x="0" y="0"/>
            <a:chExt cx="6477000" cy="457200"/>
          </a:xfrm>
        </p:grpSpPr>
        <p:sp>
          <p:nvSpPr>
            <p:cNvPr id="358"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359" name="The score combines total value, activity intensity, membership duration, and percentile position into one explainable customer ranking."/>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score combines total value, activity intensity, membership duration, and percentile position into one explainable customer ranking.</a:t>
              </a:r>
            </a:p>
          </p:txBody>
        </p:sp>
      </p:grpSp>
      <p:grpSp>
        <p:nvGrpSpPr>
          <p:cNvPr id="363" name="Group"/>
          <p:cNvGrpSpPr/>
          <p:nvPr/>
        </p:nvGrpSpPr>
        <p:grpSpPr>
          <a:xfrm>
            <a:off x="533400" y="6438900"/>
            <a:ext cx="4953000" cy="228600"/>
            <a:chOff x="0" y="0"/>
            <a:chExt cx="4953000" cy="228600"/>
          </a:xfrm>
        </p:grpSpPr>
        <p:sp>
          <p:nvSpPr>
            <p:cNvPr id="361"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362"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366" name="Group"/>
          <p:cNvGrpSpPr/>
          <p:nvPr/>
        </p:nvGrpSpPr>
        <p:grpSpPr>
          <a:xfrm>
            <a:off x="11125200" y="6419850"/>
            <a:ext cx="514350" cy="228600"/>
            <a:chOff x="0" y="0"/>
            <a:chExt cx="514350" cy="228600"/>
          </a:xfrm>
        </p:grpSpPr>
        <p:sp>
          <p:nvSpPr>
            <p:cNvPr id="364"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365" name="05"/>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05</a:t>
              </a:r>
            </a:p>
          </p:txBody>
        </p:sp>
      </p:grpSp>
      <p:sp>
        <p:nvSpPr>
          <p:cNvPr id="367" name="Rectangle"/>
          <p:cNvSpPr/>
          <p:nvPr/>
        </p:nvSpPr>
        <p:spPr>
          <a:xfrm>
            <a:off x="590550" y="2266950"/>
            <a:ext cx="3433763" cy="552450"/>
          </a:xfrm>
          <a:prstGeom prst="rect">
            <a:avLst/>
          </a:prstGeom>
          <a:solidFill>
            <a:srgbClr val="0A6B61"/>
          </a:solidFill>
          <a:ln w="19050">
            <a:solidFill>
              <a:srgbClr val="F8FAF9"/>
            </a:solidFill>
          </a:ln>
        </p:spPr>
        <p:txBody>
          <a:bodyPr lIns="0" tIns="0" rIns="0" bIns="0"/>
          <a:lstStyle/>
          <a:p>
            <a:endParaRPr/>
          </a:p>
        </p:txBody>
      </p:sp>
      <p:grpSp>
        <p:nvGrpSpPr>
          <p:cNvPr id="370" name="Group"/>
          <p:cNvGrpSpPr/>
          <p:nvPr/>
        </p:nvGrpSpPr>
        <p:grpSpPr>
          <a:xfrm>
            <a:off x="666750" y="2371725"/>
            <a:ext cx="3281363" cy="203200"/>
            <a:chOff x="0" y="0"/>
            <a:chExt cx="3281362" cy="203200"/>
          </a:xfrm>
        </p:grpSpPr>
        <p:sp>
          <p:nvSpPr>
            <p:cNvPr id="368" name="Rectangle"/>
            <p:cNvSpPr/>
            <p:nvPr/>
          </p:nvSpPr>
          <p:spPr>
            <a:xfrm>
              <a:off x="0" y="0"/>
              <a:ext cx="3281363"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369" name="35%"/>
            <p:cNvSpPr txBox="1"/>
            <p:nvPr/>
          </p:nvSpPr>
          <p:spPr>
            <a:xfrm>
              <a:off x="0" y="0"/>
              <a:ext cx="3281363"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35%</a:t>
              </a:r>
            </a:p>
          </p:txBody>
        </p:sp>
      </p:grpSp>
      <p:grpSp>
        <p:nvGrpSpPr>
          <p:cNvPr id="373" name="Group"/>
          <p:cNvGrpSpPr/>
          <p:nvPr/>
        </p:nvGrpSpPr>
        <p:grpSpPr>
          <a:xfrm>
            <a:off x="666750" y="2581275"/>
            <a:ext cx="3281363" cy="152400"/>
            <a:chOff x="0" y="0"/>
            <a:chExt cx="3281362" cy="152400"/>
          </a:xfrm>
        </p:grpSpPr>
        <p:sp>
          <p:nvSpPr>
            <p:cNvPr id="371" name="Rectangle"/>
            <p:cNvSpPr/>
            <p:nvPr/>
          </p:nvSpPr>
          <p:spPr>
            <a:xfrm>
              <a:off x="0" y="0"/>
              <a:ext cx="3281363" cy="152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FFFFFF"/>
                  </a:solidFill>
                  <a:latin typeface="Aptos"/>
                  <a:ea typeface="Aptos"/>
                  <a:cs typeface="Aptos"/>
                  <a:sym typeface="Aptos"/>
                </a:defRPr>
              </a:pPr>
              <a:endParaRPr/>
            </a:p>
          </p:txBody>
        </p:sp>
        <p:sp>
          <p:nvSpPr>
            <p:cNvPr id="372" name="Points"/>
            <p:cNvSpPr txBox="1"/>
            <p:nvPr/>
          </p:nvSpPr>
          <p:spPr>
            <a:xfrm>
              <a:off x="0" y="0"/>
              <a:ext cx="3281363"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FFFFFF"/>
                  </a:solidFill>
                  <a:latin typeface="Aptos"/>
                  <a:ea typeface="Aptos"/>
                  <a:cs typeface="Aptos"/>
                  <a:sym typeface="Aptos"/>
                </a:defRPr>
              </a:lvl1pPr>
            </a:lstStyle>
            <a:p>
              <a:r>
                <a:t>Points</a:t>
              </a:r>
            </a:p>
          </p:txBody>
        </p:sp>
      </p:grpSp>
      <p:sp>
        <p:nvSpPr>
          <p:cNvPr id="374" name="Rectangle"/>
          <p:cNvSpPr/>
          <p:nvPr/>
        </p:nvSpPr>
        <p:spPr>
          <a:xfrm>
            <a:off x="4024312" y="2266950"/>
            <a:ext cx="1962151" cy="552450"/>
          </a:xfrm>
          <a:prstGeom prst="rect">
            <a:avLst/>
          </a:prstGeom>
          <a:solidFill>
            <a:srgbClr val="3C9D72"/>
          </a:solidFill>
          <a:ln w="19050">
            <a:solidFill>
              <a:srgbClr val="F8FAF9"/>
            </a:solidFill>
          </a:ln>
        </p:spPr>
        <p:txBody>
          <a:bodyPr lIns="0" tIns="0" rIns="0" bIns="0"/>
          <a:lstStyle/>
          <a:p>
            <a:endParaRPr/>
          </a:p>
        </p:txBody>
      </p:sp>
      <p:grpSp>
        <p:nvGrpSpPr>
          <p:cNvPr id="377" name="Group"/>
          <p:cNvGrpSpPr/>
          <p:nvPr/>
        </p:nvGrpSpPr>
        <p:grpSpPr>
          <a:xfrm>
            <a:off x="4100512" y="2371725"/>
            <a:ext cx="1809751" cy="203200"/>
            <a:chOff x="0" y="0"/>
            <a:chExt cx="1809750" cy="203200"/>
          </a:xfrm>
        </p:grpSpPr>
        <p:sp>
          <p:nvSpPr>
            <p:cNvPr id="375" name="Rectangle"/>
            <p:cNvSpPr/>
            <p:nvPr/>
          </p:nvSpPr>
          <p:spPr>
            <a:xfrm>
              <a:off x="0" y="0"/>
              <a:ext cx="18097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376" name="20%"/>
            <p:cNvSpPr txBox="1"/>
            <p:nvPr/>
          </p:nvSpPr>
          <p:spPr>
            <a:xfrm>
              <a:off x="0" y="0"/>
              <a:ext cx="18097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20%</a:t>
              </a:r>
            </a:p>
          </p:txBody>
        </p:sp>
      </p:grpSp>
      <p:grpSp>
        <p:nvGrpSpPr>
          <p:cNvPr id="380" name="Group"/>
          <p:cNvGrpSpPr/>
          <p:nvPr/>
        </p:nvGrpSpPr>
        <p:grpSpPr>
          <a:xfrm>
            <a:off x="4100512" y="2581275"/>
            <a:ext cx="1809751" cy="152400"/>
            <a:chOff x="0" y="0"/>
            <a:chExt cx="1809750" cy="152400"/>
          </a:xfrm>
        </p:grpSpPr>
        <p:sp>
          <p:nvSpPr>
            <p:cNvPr id="378" name="Rectangle"/>
            <p:cNvSpPr/>
            <p:nvPr/>
          </p:nvSpPr>
          <p:spPr>
            <a:xfrm>
              <a:off x="0" y="0"/>
              <a:ext cx="1809750" cy="152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FFFFFF"/>
                  </a:solidFill>
                  <a:latin typeface="Aptos"/>
                  <a:ea typeface="Aptos"/>
                  <a:cs typeface="Aptos"/>
                  <a:sym typeface="Aptos"/>
                </a:defRPr>
              </a:pPr>
              <a:endParaRPr/>
            </a:p>
          </p:txBody>
        </p:sp>
        <p:sp>
          <p:nvSpPr>
            <p:cNvPr id="379" name="Log Points"/>
            <p:cNvSpPr txBox="1"/>
            <p:nvPr/>
          </p:nvSpPr>
          <p:spPr>
            <a:xfrm>
              <a:off x="0" y="0"/>
              <a:ext cx="18097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FFFFFF"/>
                  </a:solidFill>
                  <a:latin typeface="Aptos"/>
                  <a:ea typeface="Aptos"/>
                  <a:cs typeface="Aptos"/>
                  <a:sym typeface="Aptos"/>
                </a:defRPr>
              </a:lvl1pPr>
            </a:lstStyle>
            <a:p>
              <a:r>
                <a:t>Log Points</a:t>
              </a:r>
            </a:p>
          </p:txBody>
        </p:sp>
      </p:grpSp>
      <p:sp>
        <p:nvSpPr>
          <p:cNvPr id="381" name="Rectangle"/>
          <p:cNvSpPr/>
          <p:nvPr/>
        </p:nvSpPr>
        <p:spPr>
          <a:xfrm>
            <a:off x="5986462" y="2266950"/>
            <a:ext cx="1962151" cy="552450"/>
          </a:xfrm>
          <a:prstGeom prst="rect">
            <a:avLst/>
          </a:prstGeom>
          <a:solidFill>
            <a:srgbClr val="2C6FB2"/>
          </a:solidFill>
          <a:ln w="19050">
            <a:solidFill>
              <a:srgbClr val="F8FAF9"/>
            </a:solidFill>
          </a:ln>
        </p:spPr>
        <p:txBody>
          <a:bodyPr lIns="0" tIns="0" rIns="0" bIns="0"/>
          <a:lstStyle/>
          <a:p>
            <a:endParaRPr/>
          </a:p>
        </p:txBody>
      </p:sp>
      <p:grpSp>
        <p:nvGrpSpPr>
          <p:cNvPr id="384" name="Group"/>
          <p:cNvGrpSpPr/>
          <p:nvPr/>
        </p:nvGrpSpPr>
        <p:grpSpPr>
          <a:xfrm>
            <a:off x="6062662" y="2371725"/>
            <a:ext cx="1809751" cy="203200"/>
            <a:chOff x="0" y="0"/>
            <a:chExt cx="1809750" cy="203200"/>
          </a:xfrm>
        </p:grpSpPr>
        <p:sp>
          <p:nvSpPr>
            <p:cNvPr id="382" name="Rectangle"/>
            <p:cNvSpPr/>
            <p:nvPr/>
          </p:nvSpPr>
          <p:spPr>
            <a:xfrm>
              <a:off x="0" y="0"/>
              <a:ext cx="18097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383" name="20%"/>
            <p:cNvSpPr txBox="1"/>
            <p:nvPr/>
          </p:nvSpPr>
          <p:spPr>
            <a:xfrm>
              <a:off x="0" y="0"/>
              <a:ext cx="18097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20%</a:t>
              </a:r>
            </a:p>
          </p:txBody>
        </p:sp>
      </p:grpSp>
      <p:grpSp>
        <p:nvGrpSpPr>
          <p:cNvPr id="387" name="Group"/>
          <p:cNvGrpSpPr/>
          <p:nvPr/>
        </p:nvGrpSpPr>
        <p:grpSpPr>
          <a:xfrm>
            <a:off x="6062662" y="2581275"/>
            <a:ext cx="1809751" cy="152400"/>
            <a:chOff x="0" y="0"/>
            <a:chExt cx="1809750" cy="152400"/>
          </a:xfrm>
        </p:grpSpPr>
        <p:sp>
          <p:nvSpPr>
            <p:cNvPr id="385" name="Rectangle"/>
            <p:cNvSpPr/>
            <p:nvPr/>
          </p:nvSpPr>
          <p:spPr>
            <a:xfrm>
              <a:off x="0" y="0"/>
              <a:ext cx="1809750" cy="152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FFFFFF"/>
                  </a:solidFill>
                  <a:latin typeface="Aptos"/>
                  <a:ea typeface="Aptos"/>
                  <a:cs typeface="Aptos"/>
                  <a:sym typeface="Aptos"/>
                </a:defRPr>
              </a:pPr>
              <a:endParaRPr/>
            </a:p>
          </p:txBody>
        </p:sp>
        <p:sp>
          <p:nvSpPr>
            <p:cNvPr id="386" name="Percentile Rank"/>
            <p:cNvSpPr txBox="1"/>
            <p:nvPr/>
          </p:nvSpPr>
          <p:spPr>
            <a:xfrm>
              <a:off x="0" y="0"/>
              <a:ext cx="18097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FFFFFF"/>
                  </a:solidFill>
                  <a:latin typeface="Aptos"/>
                  <a:ea typeface="Aptos"/>
                  <a:cs typeface="Aptos"/>
                  <a:sym typeface="Aptos"/>
                </a:defRPr>
              </a:lvl1pPr>
            </a:lstStyle>
            <a:p>
              <a:r>
                <a:t>Percentile Rank</a:t>
              </a:r>
            </a:p>
          </p:txBody>
        </p:sp>
      </p:grpSp>
      <p:sp>
        <p:nvSpPr>
          <p:cNvPr id="388" name="Rectangle"/>
          <p:cNvSpPr/>
          <p:nvPr/>
        </p:nvSpPr>
        <p:spPr>
          <a:xfrm>
            <a:off x="7948613" y="2266950"/>
            <a:ext cx="1471614" cy="552450"/>
          </a:xfrm>
          <a:prstGeom prst="rect">
            <a:avLst/>
          </a:prstGeom>
          <a:solidFill>
            <a:srgbClr val="D99A16"/>
          </a:solidFill>
          <a:ln w="19050">
            <a:solidFill>
              <a:srgbClr val="F8FAF9"/>
            </a:solidFill>
          </a:ln>
        </p:spPr>
        <p:txBody>
          <a:bodyPr lIns="0" tIns="0" rIns="0" bIns="0"/>
          <a:lstStyle/>
          <a:p>
            <a:endParaRPr/>
          </a:p>
        </p:txBody>
      </p:sp>
      <p:grpSp>
        <p:nvGrpSpPr>
          <p:cNvPr id="391" name="Group"/>
          <p:cNvGrpSpPr/>
          <p:nvPr/>
        </p:nvGrpSpPr>
        <p:grpSpPr>
          <a:xfrm>
            <a:off x="8024813" y="2371725"/>
            <a:ext cx="1319214" cy="203200"/>
            <a:chOff x="0" y="0"/>
            <a:chExt cx="1319212" cy="203200"/>
          </a:xfrm>
        </p:grpSpPr>
        <p:sp>
          <p:nvSpPr>
            <p:cNvPr id="389" name="Rectangle"/>
            <p:cNvSpPr/>
            <p:nvPr/>
          </p:nvSpPr>
          <p:spPr>
            <a:xfrm>
              <a:off x="0" y="0"/>
              <a:ext cx="1319213"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390" name="15%"/>
            <p:cNvSpPr txBox="1"/>
            <p:nvPr/>
          </p:nvSpPr>
          <p:spPr>
            <a:xfrm>
              <a:off x="0" y="0"/>
              <a:ext cx="1319213"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15%</a:t>
              </a:r>
            </a:p>
          </p:txBody>
        </p:sp>
      </p:grpSp>
      <p:grpSp>
        <p:nvGrpSpPr>
          <p:cNvPr id="394" name="Group"/>
          <p:cNvGrpSpPr/>
          <p:nvPr/>
        </p:nvGrpSpPr>
        <p:grpSpPr>
          <a:xfrm>
            <a:off x="8024813" y="2581275"/>
            <a:ext cx="1319214" cy="152400"/>
            <a:chOff x="0" y="0"/>
            <a:chExt cx="1319212" cy="152400"/>
          </a:xfrm>
        </p:grpSpPr>
        <p:sp>
          <p:nvSpPr>
            <p:cNvPr id="392" name="Rectangle"/>
            <p:cNvSpPr/>
            <p:nvPr/>
          </p:nvSpPr>
          <p:spPr>
            <a:xfrm>
              <a:off x="0" y="0"/>
              <a:ext cx="1319213" cy="152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FFFFFF"/>
                  </a:solidFill>
                  <a:latin typeface="Aptos"/>
                  <a:ea typeface="Aptos"/>
                  <a:cs typeface="Aptos"/>
                  <a:sym typeface="Aptos"/>
                </a:defRPr>
              </a:pPr>
              <a:endParaRPr/>
            </a:p>
          </p:txBody>
        </p:sp>
        <p:sp>
          <p:nvSpPr>
            <p:cNvPr id="393" name="Points / Day"/>
            <p:cNvSpPr txBox="1"/>
            <p:nvPr/>
          </p:nvSpPr>
          <p:spPr>
            <a:xfrm>
              <a:off x="0" y="0"/>
              <a:ext cx="1319213"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FFFFFF"/>
                  </a:solidFill>
                  <a:latin typeface="Aptos"/>
                  <a:ea typeface="Aptos"/>
                  <a:cs typeface="Aptos"/>
                  <a:sym typeface="Aptos"/>
                </a:defRPr>
              </a:lvl1pPr>
            </a:lstStyle>
            <a:p>
              <a:r>
                <a:t>Points / Day</a:t>
              </a:r>
            </a:p>
          </p:txBody>
        </p:sp>
      </p:grpSp>
      <p:sp>
        <p:nvSpPr>
          <p:cNvPr id="395" name="Rectangle"/>
          <p:cNvSpPr/>
          <p:nvPr/>
        </p:nvSpPr>
        <p:spPr>
          <a:xfrm>
            <a:off x="9420225" y="2266950"/>
            <a:ext cx="981075" cy="552450"/>
          </a:xfrm>
          <a:prstGeom prst="rect">
            <a:avLst/>
          </a:prstGeom>
          <a:solidFill>
            <a:srgbClr val="C94E3C"/>
          </a:solidFill>
          <a:ln w="19050">
            <a:solidFill>
              <a:srgbClr val="F8FAF9"/>
            </a:solidFill>
          </a:ln>
        </p:spPr>
        <p:txBody>
          <a:bodyPr lIns="0" tIns="0" rIns="0" bIns="0"/>
          <a:lstStyle/>
          <a:p>
            <a:endParaRPr/>
          </a:p>
        </p:txBody>
      </p:sp>
      <p:grpSp>
        <p:nvGrpSpPr>
          <p:cNvPr id="398" name="Group"/>
          <p:cNvGrpSpPr/>
          <p:nvPr/>
        </p:nvGrpSpPr>
        <p:grpSpPr>
          <a:xfrm>
            <a:off x="9496425" y="2371725"/>
            <a:ext cx="857250" cy="203200"/>
            <a:chOff x="0" y="0"/>
            <a:chExt cx="857250" cy="203200"/>
          </a:xfrm>
        </p:grpSpPr>
        <p:sp>
          <p:nvSpPr>
            <p:cNvPr id="396" name="Rectangle"/>
            <p:cNvSpPr/>
            <p:nvPr/>
          </p:nvSpPr>
          <p:spPr>
            <a:xfrm>
              <a:off x="0" y="0"/>
              <a:ext cx="8572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397" name="10%"/>
            <p:cNvSpPr txBox="1"/>
            <p:nvPr/>
          </p:nvSpPr>
          <p:spPr>
            <a:xfrm>
              <a:off x="0" y="0"/>
              <a:ext cx="857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10%</a:t>
              </a:r>
            </a:p>
          </p:txBody>
        </p:sp>
      </p:grpSp>
      <p:grpSp>
        <p:nvGrpSpPr>
          <p:cNvPr id="401" name="Group"/>
          <p:cNvGrpSpPr/>
          <p:nvPr/>
        </p:nvGrpSpPr>
        <p:grpSpPr>
          <a:xfrm>
            <a:off x="9496425" y="2581275"/>
            <a:ext cx="857250" cy="152400"/>
            <a:chOff x="0" y="0"/>
            <a:chExt cx="857250" cy="152400"/>
          </a:xfrm>
        </p:grpSpPr>
        <p:sp>
          <p:nvSpPr>
            <p:cNvPr id="399" name="Rectangle"/>
            <p:cNvSpPr/>
            <p:nvPr/>
          </p:nvSpPr>
          <p:spPr>
            <a:xfrm>
              <a:off x="0" y="0"/>
              <a:ext cx="857250" cy="152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FFFFFF"/>
                  </a:solidFill>
                  <a:latin typeface="Aptos"/>
                  <a:ea typeface="Aptos"/>
                  <a:cs typeface="Aptos"/>
                  <a:sym typeface="Aptos"/>
                </a:defRPr>
              </a:pPr>
              <a:endParaRPr/>
            </a:p>
          </p:txBody>
        </p:sp>
        <p:sp>
          <p:nvSpPr>
            <p:cNvPr id="400" name="Membership Days"/>
            <p:cNvSpPr txBox="1"/>
            <p:nvPr/>
          </p:nvSpPr>
          <p:spPr>
            <a:xfrm>
              <a:off x="0" y="0"/>
              <a:ext cx="8572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FFFFFF"/>
                  </a:solidFill>
                  <a:latin typeface="Aptos"/>
                  <a:ea typeface="Aptos"/>
                  <a:cs typeface="Aptos"/>
                  <a:sym typeface="Aptos"/>
                </a:defRPr>
              </a:lvl1pPr>
            </a:lstStyle>
            <a:p>
              <a:r>
                <a:t>Membership Days</a:t>
              </a:r>
            </a:p>
          </p:txBody>
        </p:sp>
      </p:grpSp>
      <p:grpSp>
        <p:nvGrpSpPr>
          <p:cNvPr id="404" name="Group"/>
          <p:cNvGrpSpPr/>
          <p:nvPr/>
        </p:nvGrpSpPr>
        <p:grpSpPr>
          <a:xfrm>
            <a:off x="666750" y="3086100"/>
            <a:ext cx="4953000" cy="685800"/>
            <a:chOff x="0" y="0"/>
            <a:chExt cx="4953000" cy="685800"/>
          </a:xfrm>
        </p:grpSpPr>
        <p:sp>
          <p:nvSpPr>
            <p:cNvPr id="402" name="Rectangle"/>
            <p:cNvSpPr/>
            <p:nvPr/>
          </p:nvSpPr>
          <p:spPr>
            <a:xfrm>
              <a:off x="0" y="0"/>
              <a:ext cx="4953000" cy="6858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10242C"/>
                  </a:solidFill>
                  <a:latin typeface="Aptos"/>
                  <a:ea typeface="Aptos"/>
                  <a:cs typeface="Aptos"/>
                  <a:sym typeface="Aptos"/>
                </a:defRPr>
              </a:pPr>
              <a:endParaRPr/>
            </a:p>
          </p:txBody>
        </p:sp>
        <p:sp>
          <p:nvSpPr>
            <p:cNvPr id="403" name="The ranking system sorts customers by Loyalty Score in descending order. Rank 1 is the strongest customer because the score captures both high point totals and sustained engagement."/>
            <p:cNvSpPr txBox="1"/>
            <p:nvPr/>
          </p:nvSpPr>
          <p:spPr>
            <a:xfrm>
              <a:off x="0" y="0"/>
              <a:ext cx="4953000" cy="609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10242C"/>
                  </a:solidFill>
                  <a:latin typeface="Aptos"/>
                  <a:ea typeface="Aptos"/>
                  <a:cs typeface="Aptos"/>
                  <a:sym typeface="Aptos"/>
                </a:defRPr>
              </a:lvl1pPr>
            </a:lstStyle>
            <a:p>
              <a:r>
                <a:t>The ranking system sorts customers by Loyalty Score in descending order. Rank 1 is the strongest customer because the score captures both high point totals and sustained engagement.</a:t>
              </a:r>
            </a:p>
          </p:txBody>
        </p:sp>
      </p:grpSp>
      <p:sp>
        <p:nvSpPr>
          <p:cNvPr id="405" name="Rectangle"/>
          <p:cNvSpPr/>
          <p:nvPr/>
        </p:nvSpPr>
        <p:spPr>
          <a:xfrm>
            <a:off x="666750" y="4095750"/>
            <a:ext cx="4762500" cy="1257300"/>
          </a:xfrm>
          <a:prstGeom prst="rect">
            <a:avLst/>
          </a:prstGeom>
          <a:solidFill>
            <a:srgbClr val="FFFFFF"/>
          </a:solidFill>
          <a:ln>
            <a:solidFill>
              <a:srgbClr val="E4EAE7"/>
            </a:solidFill>
          </a:ln>
        </p:spPr>
        <p:txBody>
          <a:bodyPr lIns="0" tIns="0" rIns="0" bIns="0"/>
          <a:lstStyle/>
          <a:p>
            <a:endParaRPr/>
          </a:p>
        </p:txBody>
      </p:sp>
      <p:sp>
        <p:nvSpPr>
          <p:cNvPr id="406" name="Rectangle"/>
          <p:cNvSpPr/>
          <p:nvPr/>
        </p:nvSpPr>
        <p:spPr>
          <a:xfrm>
            <a:off x="666750" y="4095750"/>
            <a:ext cx="4762500" cy="47625"/>
          </a:xfrm>
          <a:prstGeom prst="rect">
            <a:avLst/>
          </a:prstGeom>
          <a:solidFill>
            <a:srgbClr val="0A6B61"/>
          </a:solidFill>
          <a:ln w="3175">
            <a:solidFill>
              <a:srgbClr val="000000">
                <a:alpha val="0"/>
              </a:srgbClr>
            </a:solidFill>
          </a:ln>
        </p:spPr>
        <p:txBody>
          <a:bodyPr lIns="0" tIns="0" rIns="0" bIns="0"/>
          <a:lstStyle/>
          <a:p>
            <a:endParaRPr/>
          </a:p>
        </p:txBody>
      </p:sp>
      <p:grpSp>
        <p:nvGrpSpPr>
          <p:cNvPr id="409" name="Group"/>
          <p:cNvGrpSpPr/>
          <p:nvPr/>
        </p:nvGrpSpPr>
        <p:grpSpPr>
          <a:xfrm>
            <a:off x="838200" y="4286250"/>
            <a:ext cx="4419600" cy="266700"/>
            <a:chOff x="0" y="0"/>
            <a:chExt cx="4419600" cy="266700"/>
          </a:xfrm>
        </p:grpSpPr>
        <p:sp>
          <p:nvSpPr>
            <p:cNvPr id="407" name="Rectangle"/>
            <p:cNvSpPr/>
            <p:nvPr/>
          </p:nvSpPr>
          <p:spPr>
            <a:xfrm>
              <a:off x="0" y="0"/>
              <a:ext cx="4419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08" name="Why this formula was picked"/>
            <p:cNvSpPr txBox="1"/>
            <p:nvPr/>
          </p:nvSpPr>
          <p:spPr>
            <a:xfrm>
              <a:off x="0" y="0"/>
              <a:ext cx="44196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Why this formula was picked</a:t>
              </a:r>
            </a:p>
          </p:txBody>
        </p:sp>
      </p:grpSp>
      <p:grpSp>
        <p:nvGrpSpPr>
          <p:cNvPr id="412" name="Group"/>
          <p:cNvGrpSpPr/>
          <p:nvPr/>
        </p:nvGrpSpPr>
        <p:grpSpPr>
          <a:xfrm>
            <a:off x="838200" y="4638675"/>
            <a:ext cx="4419600" cy="660400"/>
            <a:chOff x="0" y="0"/>
            <a:chExt cx="4419600" cy="660400"/>
          </a:xfrm>
        </p:grpSpPr>
        <p:sp>
          <p:nvSpPr>
            <p:cNvPr id="410" name="Rectangle"/>
            <p:cNvSpPr/>
            <p:nvPr/>
          </p:nvSpPr>
          <p:spPr>
            <a:xfrm>
              <a:off x="0" y="0"/>
              <a:ext cx="4419600" cy="590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411" name="Points carry the largest weight because they represent direct loyalty value. Log Points and Percentile Rank reduce distortion from very large point balances. Points per day rewards recent intensity, while membership days keeps long-term consistency visib"/>
            <p:cNvSpPr txBox="1"/>
            <p:nvPr/>
          </p:nvSpPr>
          <p:spPr>
            <a:xfrm>
              <a:off x="0" y="0"/>
              <a:ext cx="4419600" cy="660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Points carry the largest weight because they represent direct loyalty value. Log Points and Percentile Rank reduce distortion from very large point balances. Points per day rewards recent intensity, while membership days keeps long-term consistency visible.</a:t>
              </a:r>
            </a:p>
          </p:txBody>
        </p:sp>
      </p:grpSp>
      <p:sp>
        <p:nvSpPr>
          <p:cNvPr id="413" name="Rectangle"/>
          <p:cNvSpPr/>
          <p:nvPr/>
        </p:nvSpPr>
        <p:spPr>
          <a:xfrm>
            <a:off x="6096000" y="3162300"/>
            <a:ext cx="4857750" cy="2667000"/>
          </a:xfrm>
          <a:prstGeom prst="rect">
            <a:avLst/>
          </a:prstGeom>
          <a:solidFill>
            <a:srgbClr val="FFFFFF"/>
          </a:solidFill>
          <a:ln>
            <a:solidFill>
              <a:srgbClr val="E4EAE7"/>
            </a:solidFill>
          </a:ln>
        </p:spPr>
        <p:txBody>
          <a:bodyPr lIns="0" tIns="0" rIns="0" bIns="0"/>
          <a:lstStyle/>
          <a:p>
            <a:endParaRPr/>
          </a:p>
        </p:txBody>
      </p:sp>
      <p:pic>
        <p:nvPicPr>
          <p:cNvPr id="414" name="image.png" descr="image.png"/>
          <p:cNvPicPr>
            <a:picLocks noChangeAspect="1"/>
          </p:cNvPicPr>
          <p:nvPr/>
        </p:nvPicPr>
        <p:blipFill>
          <a:blip r:embed="rId2"/>
          <a:stretch>
            <a:fillRect/>
          </a:stretch>
        </p:blipFill>
        <p:spPr>
          <a:xfrm>
            <a:off x="6635750" y="3238500"/>
            <a:ext cx="3778250" cy="2266950"/>
          </a:xfrm>
          <a:prstGeom prst="rect">
            <a:avLst/>
          </a:prstGeom>
          <a:ln w="12700">
            <a:miter lim="400000"/>
          </a:ln>
        </p:spPr>
      </p:pic>
      <p:grpSp>
        <p:nvGrpSpPr>
          <p:cNvPr id="417" name="Group"/>
          <p:cNvGrpSpPr/>
          <p:nvPr/>
        </p:nvGrpSpPr>
        <p:grpSpPr>
          <a:xfrm>
            <a:off x="6210300" y="5553075"/>
            <a:ext cx="4629150" cy="171450"/>
            <a:chOff x="0" y="0"/>
            <a:chExt cx="4629150" cy="171450"/>
          </a:xfrm>
        </p:grpSpPr>
        <p:sp>
          <p:nvSpPr>
            <p:cNvPr id="415" name="Rectangle"/>
            <p:cNvSpPr/>
            <p:nvPr/>
          </p:nvSpPr>
          <p:spPr>
            <a:xfrm>
              <a:off x="0" y="0"/>
              <a:ext cx="46291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416" name="Figure 3. Loyalty score increases with points, but not only points"/>
            <p:cNvSpPr txBox="1"/>
            <p:nvPr/>
          </p:nvSpPr>
          <p:spPr>
            <a:xfrm>
              <a:off x="0" y="0"/>
              <a:ext cx="46291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3. Loyalty score increases with points, but not only points</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420"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423" name="Group"/>
          <p:cNvGrpSpPr/>
          <p:nvPr/>
        </p:nvGrpSpPr>
        <p:grpSpPr>
          <a:xfrm>
            <a:off x="533400" y="323850"/>
            <a:ext cx="4953000" cy="228600"/>
            <a:chOff x="0" y="0"/>
            <a:chExt cx="4953000" cy="228600"/>
          </a:xfrm>
        </p:grpSpPr>
        <p:sp>
          <p:nvSpPr>
            <p:cNvPr id="421"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422"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426" name="Group"/>
          <p:cNvGrpSpPr/>
          <p:nvPr/>
        </p:nvGrpSpPr>
        <p:grpSpPr>
          <a:xfrm>
            <a:off x="533400" y="723900"/>
            <a:ext cx="6667500" cy="609600"/>
            <a:chOff x="0" y="0"/>
            <a:chExt cx="6667500" cy="609600"/>
          </a:xfrm>
        </p:grpSpPr>
        <p:sp>
          <p:nvSpPr>
            <p:cNvPr id="424"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425" name="What the Segments Mea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What the Segments Mean</a:t>
              </a:r>
            </a:p>
          </p:txBody>
        </p:sp>
      </p:grpSp>
      <p:grpSp>
        <p:nvGrpSpPr>
          <p:cNvPr id="429" name="Group"/>
          <p:cNvGrpSpPr/>
          <p:nvPr/>
        </p:nvGrpSpPr>
        <p:grpSpPr>
          <a:xfrm>
            <a:off x="552450" y="1485900"/>
            <a:ext cx="6477000" cy="457200"/>
            <a:chOff x="0" y="0"/>
            <a:chExt cx="6477000" cy="457200"/>
          </a:xfrm>
        </p:grpSpPr>
        <p:sp>
          <p:nvSpPr>
            <p:cNvPr id="427"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428" name="Each loyalty segment should lead to a different business treatment: protection, growth, conversion, or reactivation."/>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Each loyalty segment should lead to a different business treatment: protection, growth, conversion, or reactivation.</a:t>
              </a:r>
            </a:p>
          </p:txBody>
        </p:sp>
      </p:grpSp>
      <p:grpSp>
        <p:nvGrpSpPr>
          <p:cNvPr id="432" name="Group"/>
          <p:cNvGrpSpPr/>
          <p:nvPr/>
        </p:nvGrpSpPr>
        <p:grpSpPr>
          <a:xfrm>
            <a:off x="533400" y="6438900"/>
            <a:ext cx="4953000" cy="228600"/>
            <a:chOff x="0" y="0"/>
            <a:chExt cx="4953000" cy="228600"/>
          </a:xfrm>
        </p:grpSpPr>
        <p:sp>
          <p:nvSpPr>
            <p:cNvPr id="430"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431"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435" name="Group"/>
          <p:cNvGrpSpPr/>
          <p:nvPr/>
        </p:nvGrpSpPr>
        <p:grpSpPr>
          <a:xfrm>
            <a:off x="11125200" y="6419850"/>
            <a:ext cx="514350" cy="228600"/>
            <a:chOff x="0" y="0"/>
            <a:chExt cx="514350" cy="228600"/>
          </a:xfrm>
        </p:grpSpPr>
        <p:sp>
          <p:nvSpPr>
            <p:cNvPr id="433"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434" name="06"/>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06</a:t>
              </a:r>
            </a:p>
          </p:txBody>
        </p:sp>
      </p:grpSp>
      <p:sp>
        <p:nvSpPr>
          <p:cNvPr id="436" name="Circle"/>
          <p:cNvSpPr/>
          <p:nvPr/>
        </p:nvSpPr>
        <p:spPr>
          <a:xfrm>
            <a:off x="666750" y="2133600"/>
            <a:ext cx="266700" cy="266700"/>
          </a:xfrm>
          <a:prstGeom prst="ellipse">
            <a:avLst/>
          </a:prstGeom>
          <a:solidFill>
            <a:srgbClr val="0A6B61"/>
          </a:solidFill>
          <a:ln w="3175">
            <a:solidFill>
              <a:srgbClr val="000000">
                <a:alpha val="0"/>
              </a:srgbClr>
            </a:solidFill>
          </a:ln>
        </p:spPr>
        <p:txBody>
          <a:bodyPr lIns="0" tIns="0" rIns="0" bIns="0"/>
          <a:lstStyle/>
          <a:p>
            <a:endParaRPr/>
          </a:p>
        </p:txBody>
      </p:sp>
      <p:grpSp>
        <p:nvGrpSpPr>
          <p:cNvPr id="439" name="Group"/>
          <p:cNvGrpSpPr/>
          <p:nvPr/>
        </p:nvGrpSpPr>
        <p:grpSpPr>
          <a:xfrm>
            <a:off x="1104900" y="2095500"/>
            <a:ext cx="1676400" cy="247650"/>
            <a:chOff x="0" y="0"/>
            <a:chExt cx="1676400" cy="247650"/>
          </a:xfrm>
        </p:grpSpPr>
        <p:sp>
          <p:nvSpPr>
            <p:cNvPr id="437"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38" name="Most Loyal"/>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Most Loyal</a:t>
              </a:r>
            </a:p>
          </p:txBody>
        </p:sp>
      </p:grpSp>
      <p:grpSp>
        <p:nvGrpSpPr>
          <p:cNvPr id="442" name="Group"/>
          <p:cNvGrpSpPr/>
          <p:nvPr/>
        </p:nvGrpSpPr>
        <p:grpSpPr>
          <a:xfrm>
            <a:off x="2914650" y="2124075"/>
            <a:ext cx="1543050" cy="228600"/>
            <a:chOff x="0" y="0"/>
            <a:chExt cx="1543050" cy="228600"/>
          </a:xfrm>
        </p:grpSpPr>
        <p:sp>
          <p:nvSpPr>
            <p:cNvPr id="440"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41" name="90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90 members</a:t>
              </a:r>
            </a:p>
          </p:txBody>
        </p:sp>
      </p:grpSp>
      <p:grpSp>
        <p:nvGrpSpPr>
          <p:cNvPr id="445" name="Group"/>
          <p:cNvGrpSpPr/>
          <p:nvPr/>
        </p:nvGrpSpPr>
        <p:grpSpPr>
          <a:xfrm>
            <a:off x="4495800" y="2124075"/>
            <a:ext cx="1809750" cy="228600"/>
            <a:chOff x="0" y="0"/>
            <a:chExt cx="1809750" cy="228600"/>
          </a:xfrm>
        </p:grpSpPr>
        <p:sp>
          <p:nvSpPr>
            <p:cNvPr id="443"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44" name="67,855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67,855 avg points</a:t>
              </a:r>
            </a:p>
          </p:txBody>
        </p:sp>
      </p:grpSp>
      <p:grpSp>
        <p:nvGrpSpPr>
          <p:cNvPr id="448" name="Group"/>
          <p:cNvGrpSpPr/>
          <p:nvPr/>
        </p:nvGrpSpPr>
        <p:grpSpPr>
          <a:xfrm>
            <a:off x="6572250" y="2066925"/>
            <a:ext cx="4095750" cy="361950"/>
            <a:chOff x="0" y="0"/>
            <a:chExt cx="4095750" cy="361950"/>
          </a:xfrm>
        </p:grpSpPr>
        <p:sp>
          <p:nvSpPr>
            <p:cNvPr id="446"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447" name="Protect with VIP service, early access, and high-value recognition."/>
            <p:cNvSpPr txBox="1"/>
            <p:nvPr/>
          </p:nvSpPr>
          <p:spPr>
            <a:xfrm>
              <a:off x="0" y="0"/>
              <a:ext cx="409575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Protect with VIP service, early access, and high-value recognition.</a:t>
              </a:r>
            </a:p>
          </p:txBody>
        </p:sp>
      </p:grpSp>
      <p:sp>
        <p:nvSpPr>
          <p:cNvPr id="449" name="Rectangle"/>
          <p:cNvSpPr/>
          <p:nvPr/>
        </p:nvSpPr>
        <p:spPr>
          <a:xfrm>
            <a:off x="666750" y="2560637"/>
            <a:ext cx="9906000" cy="12701"/>
          </a:xfrm>
          <a:prstGeom prst="rect">
            <a:avLst/>
          </a:prstGeom>
          <a:solidFill>
            <a:srgbClr val="E4EAE7"/>
          </a:solidFill>
          <a:ln w="3175">
            <a:solidFill>
              <a:srgbClr val="000000">
                <a:alpha val="0"/>
              </a:srgbClr>
            </a:solidFill>
          </a:ln>
        </p:spPr>
        <p:txBody>
          <a:bodyPr lIns="0" tIns="0" rIns="0" bIns="0"/>
          <a:lstStyle/>
          <a:p>
            <a:endParaRPr/>
          </a:p>
        </p:txBody>
      </p:sp>
      <p:sp>
        <p:nvSpPr>
          <p:cNvPr id="450" name="Circle"/>
          <p:cNvSpPr/>
          <p:nvPr/>
        </p:nvSpPr>
        <p:spPr>
          <a:xfrm>
            <a:off x="666750" y="2733675"/>
            <a:ext cx="266700" cy="266700"/>
          </a:xfrm>
          <a:prstGeom prst="ellipse">
            <a:avLst/>
          </a:prstGeom>
          <a:solidFill>
            <a:srgbClr val="3C9D72"/>
          </a:solidFill>
          <a:ln w="3175">
            <a:solidFill>
              <a:srgbClr val="000000">
                <a:alpha val="0"/>
              </a:srgbClr>
            </a:solidFill>
          </a:ln>
        </p:spPr>
        <p:txBody>
          <a:bodyPr lIns="0" tIns="0" rIns="0" bIns="0"/>
          <a:lstStyle/>
          <a:p>
            <a:endParaRPr/>
          </a:p>
        </p:txBody>
      </p:sp>
      <p:grpSp>
        <p:nvGrpSpPr>
          <p:cNvPr id="453" name="Group"/>
          <p:cNvGrpSpPr/>
          <p:nvPr/>
        </p:nvGrpSpPr>
        <p:grpSpPr>
          <a:xfrm>
            <a:off x="1104900" y="2695575"/>
            <a:ext cx="1676400" cy="247650"/>
            <a:chOff x="0" y="0"/>
            <a:chExt cx="1676400" cy="247650"/>
          </a:xfrm>
        </p:grpSpPr>
        <p:sp>
          <p:nvSpPr>
            <p:cNvPr id="451"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52" name="Highly Active"/>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Highly Active</a:t>
              </a:r>
            </a:p>
          </p:txBody>
        </p:sp>
      </p:grpSp>
      <p:grpSp>
        <p:nvGrpSpPr>
          <p:cNvPr id="456" name="Group"/>
          <p:cNvGrpSpPr/>
          <p:nvPr/>
        </p:nvGrpSpPr>
        <p:grpSpPr>
          <a:xfrm>
            <a:off x="2914650" y="2724150"/>
            <a:ext cx="1543050" cy="228600"/>
            <a:chOff x="0" y="0"/>
            <a:chExt cx="1543050" cy="228600"/>
          </a:xfrm>
        </p:grpSpPr>
        <p:sp>
          <p:nvSpPr>
            <p:cNvPr id="454"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55" name="89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89 members</a:t>
              </a:r>
            </a:p>
          </p:txBody>
        </p:sp>
      </p:grpSp>
      <p:grpSp>
        <p:nvGrpSpPr>
          <p:cNvPr id="459" name="Group"/>
          <p:cNvGrpSpPr/>
          <p:nvPr/>
        </p:nvGrpSpPr>
        <p:grpSpPr>
          <a:xfrm>
            <a:off x="4495800" y="2724150"/>
            <a:ext cx="1809750" cy="228600"/>
            <a:chOff x="0" y="0"/>
            <a:chExt cx="1809750" cy="228600"/>
          </a:xfrm>
        </p:grpSpPr>
        <p:sp>
          <p:nvSpPr>
            <p:cNvPr id="457"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58" name="26,942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26,942 avg points</a:t>
              </a:r>
            </a:p>
          </p:txBody>
        </p:sp>
      </p:grpSp>
      <p:grpSp>
        <p:nvGrpSpPr>
          <p:cNvPr id="462" name="Group"/>
          <p:cNvGrpSpPr/>
          <p:nvPr/>
        </p:nvGrpSpPr>
        <p:grpSpPr>
          <a:xfrm>
            <a:off x="6572250" y="2667000"/>
            <a:ext cx="4095750" cy="361950"/>
            <a:chOff x="0" y="0"/>
            <a:chExt cx="4095750" cy="361950"/>
          </a:xfrm>
        </p:grpSpPr>
        <p:sp>
          <p:nvSpPr>
            <p:cNvPr id="460"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461" name="Increase basket size with bundles, premium categories, and milestone rewards."/>
            <p:cNvSpPr txBox="1"/>
            <p:nvPr/>
          </p:nvSpPr>
          <p:spPr>
            <a:xfrm>
              <a:off x="0" y="0"/>
              <a:ext cx="40957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Increase basket size with bundles, premium categories, and milestone rewards.</a:t>
              </a:r>
            </a:p>
          </p:txBody>
        </p:sp>
      </p:grpSp>
      <p:sp>
        <p:nvSpPr>
          <p:cNvPr id="463" name="Rectangle"/>
          <p:cNvSpPr/>
          <p:nvPr/>
        </p:nvSpPr>
        <p:spPr>
          <a:xfrm>
            <a:off x="666750" y="3160712"/>
            <a:ext cx="9906000" cy="12701"/>
          </a:xfrm>
          <a:prstGeom prst="rect">
            <a:avLst/>
          </a:prstGeom>
          <a:solidFill>
            <a:srgbClr val="E4EAE7"/>
          </a:solidFill>
          <a:ln w="3175">
            <a:solidFill>
              <a:srgbClr val="000000">
                <a:alpha val="0"/>
              </a:srgbClr>
            </a:solidFill>
          </a:ln>
        </p:spPr>
        <p:txBody>
          <a:bodyPr lIns="0" tIns="0" rIns="0" bIns="0"/>
          <a:lstStyle/>
          <a:p>
            <a:endParaRPr/>
          </a:p>
        </p:txBody>
      </p:sp>
      <p:sp>
        <p:nvSpPr>
          <p:cNvPr id="464" name="Circle"/>
          <p:cNvSpPr/>
          <p:nvPr/>
        </p:nvSpPr>
        <p:spPr>
          <a:xfrm>
            <a:off x="666750" y="3333750"/>
            <a:ext cx="266700" cy="266700"/>
          </a:xfrm>
          <a:prstGeom prst="ellipse">
            <a:avLst/>
          </a:prstGeom>
          <a:solidFill>
            <a:srgbClr val="2C6FB2"/>
          </a:solidFill>
          <a:ln w="3175">
            <a:solidFill>
              <a:srgbClr val="000000">
                <a:alpha val="0"/>
              </a:srgbClr>
            </a:solidFill>
          </a:ln>
        </p:spPr>
        <p:txBody>
          <a:bodyPr lIns="0" tIns="0" rIns="0" bIns="0"/>
          <a:lstStyle/>
          <a:p>
            <a:endParaRPr/>
          </a:p>
        </p:txBody>
      </p:sp>
      <p:grpSp>
        <p:nvGrpSpPr>
          <p:cNvPr id="467" name="Group"/>
          <p:cNvGrpSpPr/>
          <p:nvPr/>
        </p:nvGrpSpPr>
        <p:grpSpPr>
          <a:xfrm>
            <a:off x="1104900" y="3295650"/>
            <a:ext cx="1676400" cy="247650"/>
            <a:chOff x="0" y="0"/>
            <a:chExt cx="1676400" cy="247650"/>
          </a:xfrm>
        </p:grpSpPr>
        <p:sp>
          <p:nvSpPr>
            <p:cNvPr id="465"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66" name="Active"/>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Active</a:t>
              </a:r>
            </a:p>
          </p:txBody>
        </p:sp>
      </p:grpSp>
      <p:grpSp>
        <p:nvGrpSpPr>
          <p:cNvPr id="470" name="Group"/>
          <p:cNvGrpSpPr/>
          <p:nvPr/>
        </p:nvGrpSpPr>
        <p:grpSpPr>
          <a:xfrm>
            <a:off x="2914650" y="3324225"/>
            <a:ext cx="1543050" cy="228600"/>
            <a:chOff x="0" y="0"/>
            <a:chExt cx="1543050" cy="228600"/>
          </a:xfrm>
        </p:grpSpPr>
        <p:sp>
          <p:nvSpPr>
            <p:cNvPr id="468"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69" name="89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89 members</a:t>
              </a:r>
            </a:p>
          </p:txBody>
        </p:sp>
      </p:grpSp>
      <p:grpSp>
        <p:nvGrpSpPr>
          <p:cNvPr id="473" name="Group"/>
          <p:cNvGrpSpPr/>
          <p:nvPr/>
        </p:nvGrpSpPr>
        <p:grpSpPr>
          <a:xfrm>
            <a:off x="4495800" y="3324225"/>
            <a:ext cx="1809750" cy="228600"/>
            <a:chOff x="0" y="0"/>
            <a:chExt cx="1809750" cy="228600"/>
          </a:xfrm>
        </p:grpSpPr>
        <p:sp>
          <p:nvSpPr>
            <p:cNvPr id="471"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72" name="10,964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10,964 avg points</a:t>
              </a:r>
            </a:p>
          </p:txBody>
        </p:sp>
      </p:grpSp>
      <p:grpSp>
        <p:nvGrpSpPr>
          <p:cNvPr id="476" name="Group"/>
          <p:cNvGrpSpPr/>
          <p:nvPr/>
        </p:nvGrpSpPr>
        <p:grpSpPr>
          <a:xfrm>
            <a:off x="6572250" y="3267075"/>
            <a:ext cx="4095750" cy="361950"/>
            <a:chOff x="0" y="0"/>
            <a:chExt cx="4095750" cy="361950"/>
          </a:xfrm>
        </p:grpSpPr>
        <p:sp>
          <p:nvSpPr>
            <p:cNvPr id="474"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475" name="Keep engagement steady with monthly challenges and personalized reminders."/>
            <p:cNvSpPr txBox="1"/>
            <p:nvPr/>
          </p:nvSpPr>
          <p:spPr>
            <a:xfrm>
              <a:off x="0" y="0"/>
              <a:ext cx="40957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Keep engagement steady with monthly challenges and personalized reminders.</a:t>
              </a:r>
            </a:p>
          </p:txBody>
        </p:sp>
      </p:grpSp>
      <p:sp>
        <p:nvSpPr>
          <p:cNvPr id="477" name="Rectangle"/>
          <p:cNvSpPr/>
          <p:nvPr/>
        </p:nvSpPr>
        <p:spPr>
          <a:xfrm>
            <a:off x="666750" y="3760787"/>
            <a:ext cx="9906000" cy="12701"/>
          </a:xfrm>
          <a:prstGeom prst="rect">
            <a:avLst/>
          </a:prstGeom>
          <a:solidFill>
            <a:srgbClr val="E4EAE7"/>
          </a:solidFill>
          <a:ln w="3175">
            <a:solidFill>
              <a:srgbClr val="000000">
                <a:alpha val="0"/>
              </a:srgbClr>
            </a:solidFill>
          </a:ln>
        </p:spPr>
        <p:txBody>
          <a:bodyPr lIns="0" tIns="0" rIns="0" bIns="0"/>
          <a:lstStyle/>
          <a:p>
            <a:endParaRPr/>
          </a:p>
        </p:txBody>
      </p:sp>
      <p:sp>
        <p:nvSpPr>
          <p:cNvPr id="478" name="Circle"/>
          <p:cNvSpPr/>
          <p:nvPr/>
        </p:nvSpPr>
        <p:spPr>
          <a:xfrm>
            <a:off x="666750" y="3933825"/>
            <a:ext cx="266700" cy="266700"/>
          </a:xfrm>
          <a:prstGeom prst="ellipse">
            <a:avLst/>
          </a:prstGeom>
          <a:solidFill>
            <a:srgbClr val="D99A16"/>
          </a:solidFill>
          <a:ln w="3175">
            <a:solidFill>
              <a:srgbClr val="000000">
                <a:alpha val="0"/>
              </a:srgbClr>
            </a:solidFill>
          </a:ln>
        </p:spPr>
        <p:txBody>
          <a:bodyPr lIns="0" tIns="0" rIns="0" bIns="0"/>
          <a:lstStyle/>
          <a:p>
            <a:endParaRPr/>
          </a:p>
        </p:txBody>
      </p:sp>
      <p:grpSp>
        <p:nvGrpSpPr>
          <p:cNvPr id="481" name="Group"/>
          <p:cNvGrpSpPr/>
          <p:nvPr/>
        </p:nvGrpSpPr>
        <p:grpSpPr>
          <a:xfrm>
            <a:off x="1104900" y="3895725"/>
            <a:ext cx="1676400" cy="247650"/>
            <a:chOff x="0" y="0"/>
            <a:chExt cx="1676400" cy="247650"/>
          </a:xfrm>
        </p:grpSpPr>
        <p:sp>
          <p:nvSpPr>
            <p:cNvPr id="479"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80" name="Potential"/>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Potential</a:t>
              </a:r>
            </a:p>
          </p:txBody>
        </p:sp>
      </p:grpSp>
      <p:grpSp>
        <p:nvGrpSpPr>
          <p:cNvPr id="484" name="Group"/>
          <p:cNvGrpSpPr/>
          <p:nvPr/>
        </p:nvGrpSpPr>
        <p:grpSpPr>
          <a:xfrm>
            <a:off x="2914650" y="3924300"/>
            <a:ext cx="1543050" cy="228600"/>
            <a:chOff x="0" y="0"/>
            <a:chExt cx="1543050" cy="228600"/>
          </a:xfrm>
        </p:grpSpPr>
        <p:sp>
          <p:nvSpPr>
            <p:cNvPr id="482"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83" name="89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89 members</a:t>
              </a:r>
            </a:p>
          </p:txBody>
        </p:sp>
      </p:grpSp>
      <p:grpSp>
        <p:nvGrpSpPr>
          <p:cNvPr id="487" name="Group"/>
          <p:cNvGrpSpPr/>
          <p:nvPr/>
        </p:nvGrpSpPr>
        <p:grpSpPr>
          <a:xfrm>
            <a:off x="4495800" y="3924300"/>
            <a:ext cx="1809750" cy="228600"/>
            <a:chOff x="0" y="0"/>
            <a:chExt cx="1809750" cy="228600"/>
          </a:xfrm>
        </p:grpSpPr>
        <p:sp>
          <p:nvSpPr>
            <p:cNvPr id="485"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86" name="4,603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4,603 avg points</a:t>
              </a:r>
            </a:p>
          </p:txBody>
        </p:sp>
      </p:grpSp>
      <p:grpSp>
        <p:nvGrpSpPr>
          <p:cNvPr id="490" name="Group"/>
          <p:cNvGrpSpPr/>
          <p:nvPr/>
        </p:nvGrpSpPr>
        <p:grpSpPr>
          <a:xfrm>
            <a:off x="6572250" y="3867150"/>
            <a:ext cx="4095750" cy="361950"/>
            <a:chOff x="0" y="0"/>
            <a:chExt cx="4095750" cy="361950"/>
          </a:xfrm>
        </p:grpSpPr>
        <p:sp>
          <p:nvSpPr>
            <p:cNvPr id="488"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489" name="Push progression with starter missions, point multipliers, and onboarding messages."/>
            <p:cNvSpPr txBox="1"/>
            <p:nvPr/>
          </p:nvSpPr>
          <p:spPr>
            <a:xfrm>
              <a:off x="0" y="0"/>
              <a:ext cx="40957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Push progression with starter missions, point multipliers, and onboarding messages.</a:t>
              </a:r>
            </a:p>
          </p:txBody>
        </p:sp>
      </p:grpSp>
      <p:sp>
        <p:nvSpPr>
          <p:cNvPr id="491" name="Rectangle"/>
          <p:cNvSpPr/>
          <p:nvPr/>
        </p:nvSpPr>
        <p:spPr>
          <a:xfrm>
            <a:off x="666750" y="4360862"/>
            <a:ext cx="9906000" cy="12701"/>
          </a:xfrm>
          <a:prstGeom prst="rect">
            <a:avLst/>
          </a:prstGeom>
          <a:solidFill>
            <a:srgbClr val="E4EAE7"/>
          </a:solidFill>
          <a:ln w="3175">
            <a:solidFill>
              <a:srgbClr val="000000">
                <a:alpha val="0"/>
              </a:srgbClr>
            </a:solidFill>
          </a:ln>
        </p:spPr>
        <p:txBody>
          <a:bodyPr lIns="0" tIns="0" rIns="0" bIns="0"/>
          <a:lstStyle/>
          <a:p>
            <a:endParaRPr/>
          </a:p>
        </p:txBody>
      </p:sp>
      <p:sp>
        <p:nvSpPr>
          <p:cNvPr id="492" name="Circle"/>
          <p:cNvSpPr/>
          <p:nvPr/>
        </p:nvSpPr>
        <p:spPr>
          <a:xfrm>
            <a:off x="666750" y="4533900"/>
            <a:ext cx="266700" cy="266700"/>
          </a:xfrm>
          <a:prstGeom prst="ellipse">
            <a:avLst/>
          </a:prstGeom>
          <a:solidFill>
            <a:srgbClr val="C94E3C"/>
          </a:solidFill>
          <a:ln w="3175">
            <a:solidFill>
              <a:srgbClr val="000000">
                <a:alpha val="0"/>
              </a:srgbClr>
            </a:solidFill>
          </a:ln>
        </p:spPr>
        <p:txBody>
          <a:bodyPr lIns="0" tIns="0" rIns="0" bIns="0"/>
          <a:lstStyle/>
          <a:p>
            <a:endParaRPr/>
          </a:p>
        </p:txBody>
      </p:sp>
      <p:grpSp>
        <p:nvGrpSpPr>
          <p:cNvPr id="495" name="Group"/>
          <p:cNvGrpSpPr/>
          <p:nvPr/>
        </p:nvGrpSpPr>
        <p:grpSpPr>
          <a:xfrm>
            <a:off x="1104900" y="4495800"/>
            <a:ext cx="1676400" cy="247650"/>
            <a:chOff x="0" y="0"/>
            <a:chExt cx="1676400" cy="247650"/>
          </a:xfrm>
        </p:grpSpPr>
        <p:sp>
          <p:nvSpPr>
            <p:cNvPr id="493"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494" name="Least Loyal"/>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Least Loyal</a:t>
              </a:r>
            </a:p>
          </p:txBody>
        </p:sp>
      </p:grpSp>
      <p:grpSp>
        <p:nvGrpSpPr>
          <p:cNvPr id="498" name="Group"/>
          <p:cNvGrpSpPr/>
          <p:nvPr/>
        </p:nvGrpSpPr>
        <p:grpSpPr>
          <a:xfrm>
            <a:off x="2914650" y="4524375"/>
            <a:ext cx="1543050" cy="228600"/>
            <a:chOff x="0" y="0"/>
            <a:chExt cx="1543050" cy="228600"/>
          </a:xfrm>
        </p:grpSpPr>
        <p:sp>
          <p:nvSpPr>
            <p:cNvPr id="496"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497" name="88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88 members</a:t>
              </a:r>
            </a:p>
          </p:txBody>
        </p:sp>
      </p:grpSp>
      <p:grpSp>
        <p:nvGrpSpPr>
          <p:cNvPr id="501" name="Group"/>
          <p:cNvGrpSpPr/>
          <p:nvPr/>
        </p:nvGrpSpPr>
        <p:grpSpPr>
          <a:xfrm>
            <a:off x="4495800" y="4524375"/>
            <a:ext cx="1809750" cy="228600"/>
            <a:chOff x="0" y="0"/>
            <a:chExt cx="1809750" cy="228600"/>
          </a:xfrm>
        </p:grpSpPr>
        <p:sp>
          <p:nvSpPr>
            <p:cNvPr id="499"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500" name="497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497 avg points</a:t>
              </a:r>
            </a:p>
          </p:txBody>
        </p:sp>
      </p:grpSp>
      <p:grpSp>
        <p:nvGrpSpPr>
          <p:cNvPr id="504" name="Group"/>
          <p:cNvGrpSpPr/>
          <p:nvPr/>
        </p:nvGrpSpPr>
        <p:grpSpPr>
          <a:xfrm>
            <a:off x="6572250" y="4467225"/>
            <a:ext cx="4095750" cy="361950"/>
            <a:chOff x="0" y="0"/>
            <a:chExt cx="4095750" cy="361950"/>
          </a:xfrm>
        </p:grpSpPr>
        <p:sp>
          <p:nvSpPr>
            <p:cNvPr id="502"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503" name="Use low-risk reactivation offers and measure response before spending heavily."/>
            <p:cNvSpPr txBox="1"/>
            <p:nvPr/>
          </p:nvSpPr>
          <p:spPr>
            <a:xfrm>
              <a:off x="0" y="0"/>
              <a:ext cx="40957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Use low-risk reactivation offers and measure response before spending heavily.</a:t>
              </a:r>
            </a:p>
          </p:txBody>
        </p:sp>
      </p:grpSp>
      <p:sp>
        <p:nvSpPr>
          <p:cNvPr id="505" name="Rectangle"/>
          <p:cNvSpPr/>
          <p:nvPr/>
        </p:nvSpPr>
        <p:spPr>
          <a:xfrm>
            <a:off x="666750" y="4960937"/>
            <a:ext cx="9906000" cy="12701"/>
          </a:xfrm>
          <a:prstGeom prst="rect">
            <a:avLst/>
          </a:prstGeom>
          <a:solidFill>
            <a:srgbClr val="E4EAE7"/>
          </a:solidFill>
          <a:ln w="3175">
            <a:solidFill>
              <a:srgbClr val="000000">
                <a:alpha val="0"/>
              </a:srgbClr>
            </a:solidFill>
          </a:ln>
        </p:spPr>
        <p:txBody>
          <a:bodyPr lIns="0" tIns="0" rIns="0" bIns="0"/>
          <a:lstStyle/>
          <a:p>
            <a:endParaRPr/>
          </a:p>
        </p:txBody>
      </p:sp>
      <p:sp>
        <p:nvSpPr>
          <p:cNvPr id="506" name="Circle"/>
          <p:cNvSpPr/>
          <p:nvPr/>
        </p:nvSpPr>
        <p:spPr>
          <a:xfrm>
            <a:off x="666750" y="5133975"/>
            <a:ext cx="266700" cy="266700"/>
          </a:xfrm>
          <a:prstGeom prst="ellipse">
            <a:avLst/>
          </a:prstGeom>
          <a:solidFill>
            <a:srgbClr val="5E6A70"/>
          </a:solidFill>
          <a:ln w="3175">
            <a:solidFill>
              <a:srgbClr val="000000">
                <a:alpha val="0"/>
              </a:srgbClr>
            </a:solidFill>
          </a:ln>
        </p:spPr>
        <p:txBody>
          <a:bodyPr lIns="0" tIns="0" rIns="0" bIns="0"/>
          <a:lstStyle/>
          <a:p>
            <a:endParaRPr/>
          </a:p>
        </p:txBody>
      </p:sp>
      <p:grpSp>
        <p:nvGrpSpPr>
          <p:cNvPr id="509" name="Group"/>
          <p:cNvGrpSpPr/>
          <p:nvPr/>
        </p:nvGrpSpPr>
        <p:grpSpPr>
          <a:xfrm>
            <a:off x="1104900" y="5095875"/>
            <a:ext cx="1676400" cy="247650"/>
            <a:chOff x="0" y="0"/>
            <a:chExt cx="1676400" cy="247650"/>
          </a:xfrm>
        </p:grpSpPr>
        <p:sp>
          <p:nvSpPr>
            <p:cNvPr id="507" name="Rectangle"/>
            <p:cNvSpPr/>
            <p:nvPr/>
          </p:nvSpPr>
          <p:spPr>
            <a:xfrm>
              <a:off x="0" y="0"/>
              <a:ext cx="16764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508" name="Inactive"/>
            <p:cNvSpPr txBox="1"/>
            <p:nvPr/>
          </p:nvSpPr>
          <p:spPr>
            <a:xfrm>
              <a:off x="0" y="0"/>
              <a:ext cx="16764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Inactive</a:t>
              </a:r>
            </a:p>
          </p:txBody>
        </p:sp>
      </p:grpSp>
      <p:grpSp>
        <p:nvGrpSpPr>
          <p:cNvPr id="512" name="Group"/>
          <p:cNvGrpSpPr/>
          <p:nvPr/>
        </p:nvGrpSpPr>
        <p:grpSpPr>
          <a:xfrm>
            <a:off x="2914650" y="5124450"/>
            <a:ext cx="1543050" cy="228600"/>
            <a:chOff x="0" y="0"/>
            <a:chExt cx="1543050" cy="228600"/>
          </a:xfrm>
        </p:grpSpPr>
        <p:sp>
          <p:nvSpPr>
            <p:cNvPr id="510" name="Rectangle"/>
            <p:cNvSpPr/>
            <p:nvPr/>
          </p:nvSpPr>
          <p:spPr>
            <a:xfrm>
              <a:off x="0" y="0"/>
              <a:ext cx="15430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511" name="1 members"/>
            <p:cNvSpPr txBox="1"/>
            <p:nvPr/>
          </p:nvSpPr>
          <p:spPr>
            <a:xfrm>
              <a:off x="0" y="0"/>
              <a:ext cx="15430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1 members</a:t>
              </a:r>
            </a:p>
          </p:txBody>
        </p:sp>
      </p:grpSp>
      <p:grpSp>
        <p:nvGrpSpPr>
          <p:cNvPr id="515" name="Group"/>
          <p:cNvGrpSpPr/>
          <p:nvPr/>
        </p:nvGrpSpPr>
        <p:grpSpPr>
          <a:xfrm>
            <a:off x="4495800" y="5124450"/>
            <a:ext cx="1809750" cy="228600"/>
            <a:chOff x="0" y="0"/>
            <a:chExt cx="1809750" cy="228600"/>
          </a:xfrm>
        </p:grpSpPr>
        <p:sp>
          <p:nvSpPr>
            <p:cNvPr id="513"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514" name="0 avg points"/>
            <p:cNvSpPr txBox="1"/>
            <p:nvPr/>
          </p:nvSpPr>
          <p:spPr>
            <a:xfrm>
              <a:off x="0" y="0"/>
              <a:ext cx="1809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0 avg points</a:t>
              </a:r>
            </a:p>
          </p:txBody>
        </p:sp>
      </p:grpSp>
      <p:grpSp>
        <p:nvGrpSpPr>
          <p:cNvPr id="518" name="Group"/>
          <p:cNvGrpSpPr/>
          <p:nvPr/>
        </p:nvGrpSpPr>
        <p:grpSpPr>
          <a:xfrm>
            <a:off x="6572250" y="5067300"/>
            <a:ext cx="4095750" cy="361950"/>
            <a:chOff x="0" y="0"/>
            <a:chExt cx="4095750" cy="361950"/>
          </a:xfrm>
        </p:grpSpPr>
        <p:sp>
          <p:nvSpPr>
            <p:cNvPr id="516" name="Rectangle"/>
            <p:cNvSpPr/>
            <p:nvPr/>
          </p:nvSpPr>
          <p:spPr>
            <a:xfrm>
              <a:off x="0" y="0"/>
              <a:ext cx="40957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10242C"/>
                  </a:solidFill>
                  <a:latin typeface="Aptos"/>
                  <a:ea typeface="Aptos"/>
                  <a:cs typeface="Aptos"/>
                  <a:sym typeface="Aptos"/>
                </a:defRPr>
              </a:pPr>
              <a:endParaRPr/>
            </a:p>
          </p:txBody>
        </p:sp>
        <p:sp>
          <p:nvSpPr>
            <p:cNvPr id="517" name="Send a focused win-back message, then monitor whether the member returns."/>
            <p:cNvSpPr txBox="1"/>
            <p:nvPr/>
          </p:nvSpPr>
          <p:spPr>
            <a:xfrm>
              <a:off x="0" y="0"/>
              <a:ext cx="40957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10242C"/>
                  </a:solidFill>
                  <a:latin typeface="Aptos"/>
                  <a:ea typeface="Aptos"/>
                  <a:cs typeface="Aptos"/>
                  <a:sym typeface="Aptos"/>
                </a:defRPr>
              </a:lvl1pPr>
            </a:lstStyle>
            <a:p>
              <a:r>
                <a:t>Send a focused win-back message, then monitor whether the member returns.</a:t>
              </a:r>
            </a:p>
          </p:txBody>
        </p:sp>
      </p:grpSp>
      <p:grpSp>
        <p:nvGrpSpPr>
          <p:cNvPr id="521" name="Group"/>
          <p:cNvGrpSpPr/>
          <p:nvPr/>
        </p:nvGrpSpPr>
        <p:grpSpPr>
          <a:xfrm>
            <a:off x="685800" y="5924550"/>
            <a:ext cx="9906000" cy="400050"/>
            <a:chOff x="0" y="0"/>
            <a:chExt cx="9906000" cy="400050"/>
          </a:xfrm>
        </p:grpSpPr>
        <p:sp>
          <p:nvSpPr>
            <p:cNvPr id="519" name="Rectangle"/>
            <p:cNvSpPr/>
            <p:nvPr/>
          </p:nvSpPr>
          <p:spPr>
            <a:xfrm>
              <a:off x="0" y="0"/>
              <a:ext cx="99060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a:solidFill>
                    <a:srgbClr val="5E6A70"/>
                  </a:solidFill>
                  <a:latin typeface="Aptos"/>
                  <a:ea typeface="Aptos"/>
                  <a:cs typeface="Aptos"/>
                  <a:sym typeface="Aptos"/>
                </a:defRPr>
              </a:pPr>
              <a:endParaRPr/>
            </a:p>
          </p:txBody>
        </p:sp>
        <p:sp>
          <p:nvSpPr>
            <p:cNvPr id="520" name="The labels are intentionally simple so non-technical stakeholders can use the result in campaign planning without reading the model code."/>
            <p:cNvSpPr txBox="1"/>
            <p:nvPr/>
          </p:nvSpPr>
          <p:spPr>
            <a:xfrm>
              <a:off x="0" y="0"/>
              <a:ext cx="99060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a:solidFill>
                    <a:srgbClr val="5E6A70"/>
                  </a:solidFill>
                  <a:latin typeface="Aptos"/>
                  <a:ea typeface="Aptos"/>
                  <a:cs typeface="Aptos"/>
                  <a:sym typeface="Aptos"/>
                </a:defRPr>
              </a:lvl1pPr>
            </a:lstStyle>
            <a:p>
              <a:r>
                <a:t>The labels are intentionally simple so non-technical stakeholders can use the result in campaign planning without reading the model code.</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524"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527" name="Group"/>
          <p:cNvGrpSpPr/>
          <p:nvPr/>
        </p:nvGrpSpPr>
        <p:grpSpPr>
          <a:xfrm>
            <a:off x="533400" y="323850"/>
            <a:ext cx="4953000" cy="228600"/>
            <a:chOff x="0" y="0"/>
            <a:chExt cx="4953000" cy="228600"/>
          </a:xfrm>
        </p:grpSpPr>
        <p:sp>
          <p:nvSpPr>
            <p:cNvPr id="525"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526"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530" name="Group"/>
          <p:cNvGrpSpPr/>
          <p:nvPr/>
        </p:nvGrpSpPr>
        <p:grpSpPr>
          <a:xfrm>
            <a:off x="533400" y="723900"/>
            <a:ext cx="6667500" cy="609600"/>
            <a:chOff x="0" y="0"/>
            <a:chExt cx="6667500" cy="609600"/>
          </a:xfrm>
        </p:grpSpPr>
        <p:sp>
          <p:nvSpPr>
            <p:cNvPr id="528"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529" name="Segment Summary Metrics"/>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Segment Summary Metrics</a:t>
              </a:r>
            </a:p>
          </p:txBody>
        </p:sp>
      </p:grpSp>
      <p:grpSp>
        <p:nvGrpSpPr>
          <p:cNvPr id="533" name="Group"/>
          <p:cNvGrpSpPr/>
          <p:nvPr/>
        </p:nvGrpSpPr>
        <p:grpSpPr>
          <a:xfrm>
            <a:off x="552450" y="1485900"/>
            <a:ext cx="6477000" cy="457200"/>
            <a:chOff x="0" y="0"/>
            <a:chExt cx="6477000" cy="457200"/>
          </a:xfrm>
        </p:grpSpPr>
        <p:sp>
          <p:nvSpPr>
            <p:cNvPr id="531"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532" name="The final segments are balanced across most active groups, while value differs sharply between the lower and upper loyalty tier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final segments are balanced across most active groups, while value differs sharply between the lower and upper loyalty tiers.</a:t>
              </a:r>
            </a:p>
          </p:txBody>
        </p:sp>
      </p:grpSp>
      <p:grpSp>
        <p:nvGrpSpPr>
          <p:cNvPr id="536" name="Group"/>
          <p:cNvGrpSpPr/>
          <p:nvPr/>
        </p:nvGrpSpPr>
        <p:grpSpPr>
          <a:xfrm>
            <a:off x="533400" y="6438900"/>
            <a:ext cx="4953000" cy="228600"/>
            <a:chOff x="0" y="0"/>
            <a:chExt cx="4953000" cy="228600"/>
          </a:xfrm>
        </p:grpSpPr>
        <p:sp>
          <p:nvSpPr>
            <p:cNvPr id="53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535"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539" name="Group"/>
          <p:cNvGrpSpPr/>
          <p:nvPr/>
        </p:nvGrpSpPr>
        <p:grpSpPr>
          <a:xfrm>
            <a:off x="11125200" y="6419850"/>
            <a:ext cx="514350" cy="228600"/>
            <a:chOff x="0" y="0"/>
            <a:chExt cx="514350" cy="228600"/>
          </a:xfrm>
        </p:grpSpPr>
        <p:sp>
          <p:nvSpPr>
            <p:cNvPr id="537"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538" name="07"/>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07</a:t>
              </a:r>
            </a:p>
          </p:txBody>
        </p:sp>
      </p:grpSp>
      <p:sp>
        <p:nvSpPr>
          <p:cNvPr id="540" name="Rectangle"/>
          <p:cNvSpPr/>
          <p:nvPr/>
        </p:nvSpPr>
        <p:spPr>
          <a:xfrm>
            <a:off x="685800" y="2133600"/>
            <a:ext cx="2000250" cy="361950"/>
          </a:xfrm>
          <a:prstGeom prst="rect">
            <a:avLst/>
          </a:prstGeom>
          <a:solidFill>
            <a:srgbClr val="0A6B61"/>
          </a:solidFill>
          <a:ln>
            <a:solidFill>
              <a:srgbClr val="FFFFFF"/>
            </a:solidFill>
          </a:ln>
        </p:spPr>
        <p:txBody>
          <a:bodyPr lIns="0" tIns="0" rIns="0" bIns="0"/>
          <a:lstStyle/>
          <a:p>
            <a:endParaRPr/>
          </a:p>
        </p:txBody>
      </p:sp>
      <p:grpSp>
        <p:nvGrpSpPr>
          <p:cNvPr id="543" name="Group"/>
          <p:cNvGrpSpPr/>
          <p:nvPr/>
        </p:nvGrpSpPr>
        <p:grpSpPr>
          <a:xfrm>
            <a:off x="762000" y="2209800"/>
            <a:ext cx="1847850" cy="266700"/>
            <a:chOff x="0" y="0"/>
            <a:chExt cx="1847850" cy="266700"/>
          </a:xfrm>
        </p:grpSpPr>
        <p:sp>
          <p:nvSpPr>
            <p:cNvPr id="541"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FFFFFF"/>
                  </a:solidFill>
                  <a:latin typeface="Aptos"/>
                  <a:ea typeface="Aptos"/>
                  <a:cs typeface="Aptos"/>
                  <a:sym typeface="Aptos"/>
                </a:defRPr>
              </a:pPr>
              <a:endParaRPr/>
            </a:p>
          </p:txBody>
        </p:sp>
        <p:sp>
          <p:nvSpPr>
            <p:cNvPr id="542" name="Segment"/>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FFFFFF"/>
                  </a:solidFill>
                  <a:latin typeface="Aptos"/>
                  <a:ea typeface="Aptos"/>
                  <a:cs typeface="Aptos"/>
                  <a:sym typeface="Aptos"/>
                </a:defRPr>
              </a:lvl1pPr>
            </a:lstStyle>
            <a:p>
              <a:r>
                <a:t>Segment</a:t>
              </a:r>
            </a:p>
          </p:txBody>
        </p:sp>
      </p:grpSp>
      <p:sp>
        <p:nvSpPr>
          <p:cNvPr id="544" name="Rectangle"/>
          <p:cNvSpPr/>
          <p:nvPr/>
        </p:nvSpPr>
        <p:spPr>
          <a:xfrm>
            <a:off x="2686050" y="2133600"/>
            <a:ext cx="1524000" cy="361950"/>
          </a:xfrm>
          <a:prstGeom prst="rect">
            <a:avLst/>
          </a:prstGeom>
          <a:solidFill>
            <a:srgbClr val="0A6B61"/>
          </a:solidFill>
          <a:ln>
            <a:solidFill>
              <a:srgbClr val="FFFFFF"/>
            </a:solidFill>
          </a:ln>
        </p:spPr>
        <p:txBody>
          <a:bodyPr lIns="0" tIns="0" rIns="0" bIns="0"/>
          <a:lstStyle/>
          <a:p>
            <a:endParaRPr/>
          </a:p>
        </p:txBody>
      </p:sp>
      <p:grpSp>
        <p:nvGrpSpPr>
          <p:cNvPr id="547" name="Group"/>
          <p:cNvGrpSpPr/>
          <p:nvPr/>
        </p:nvGrpSpPr>
        <p:grpSpPr>
          <a:xfrm>
            <a:off x="2762250" y="2209800"/>
            <a:ext cx="1371600" cy="266700"/>
            <a:chOff x="0" y="0"/>
            <a:chExt cx="1371600" cy="266700"/>
          </a:xfrm>
        </p:grpSpPr>
        <p:sp>
          <p:nvSpPr>
            <p:cNvPr id="545"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546" name="Members"/>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Members</a:t>
              </a:r>
            </a:p>
          </p:txBody>
        </p:sp>
      </p:grpSp>
      <p:sp>
        <p:nvSpPr>
          <p:cNvPr id="548" name="Rectangle"/>
          <p:cNvSpPr/>
          <p:nvPr/>
        </p:nvSpPr>
        <p:spPr>
          <a:xfrm>
            <a:off x="4210050" y="2133600"/>
            <a:ext cx="1524000" cy="361950"/>
          </a:xfrm>
          <a:prstGeom prst="rect">
            <a:avLst/>
          </a:prstGeom>
          <a:solidFill>
            <a:srgbClr val="0A6B61"/>
          </a:solidFill>
          <a:ln>
            <a:solidFill>
              <a:srgbClr val="FFFFFF"/>
            </a:solidFill>
          </a:ln>
        </p:spPr>
        <p:txBody>
          <a:bodyPr lIns="0" tIns="0" rIns="0" bIns="0"/>
          <a:lstStyle/>
          <a:p>
            <a:endParaRPr/>
          </a:p>
        </p:txBody>
      </p:sp>
      <p:grpSp>
        <p:nvGrpSpPr>
          <p:cNvPr id="551" name="Group"/>
          <p:cNvGrpSpPr/>
          <p:nvPr/>
        </p:nvGrpSpPr>
        <p:grpSpPr>
          <a:xfrm>
            <a:off x="4286250" y="2209800"/>
            <a:ext cx="1371600" cy="266700"/>
            <a:chOff x="0" y="0"/>
            <a:chExt cx="1371600" cy="266700"/>
          </a:xfrm>
        </p:grpSpPr>
        <p:sp>
          <p:nvSpPr>
            <p:cNvPr id="549"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550" name="Avg Points"/>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Avg Points</a:t>
              </a:r>
            </a:p>
          </p:txBody>
        </p:sp>
      </p:grpSp>
      <p:sp>
        <p:nvSpPr>
          <p:cNvPr id="552" name="Rectangle"/>
          <p:cNvSpPr/>
          <p:nvPr/>
        </p:nvSpPr>
        <p:spPr>
          <a:xfrm>
            <a:off x="5734050" y="2133600"/>
            <a:ext cx="1524000" cy="361950"/>
          </a:xfrm>
          <a:prstGeom prst="rect">
            <a:avLst/>
          </a:prstGeom>
          <a:solidFill>
            <a:srgbClr val="0A6B61"/>
          </a:solidFill>
          <a:ln>
            <a:solidFill>
              <a:srgbClr val="FFFFFF"/>
            </a:solidFill>
          </a:ln>
        </p:spPr>
        <p:txBody>
          <a:bodyPr lIns="0" tIns="0" rIns="0" bIns="0"/>
          <a:lstStyle/>
          <a:p>
            <a:endParaRPr/>
          </a:p>
        </p:txBody>
      </p:sp>
      <p:grpSp>
        <p:nvGrpSpPr>
          <p:cNvPr id="555" name="Group"/>
          <p:cNvGrpSpPr/>
          <p:nvPr/>
        </p:nvGrpSpPr>
        <p:grpSpPr>
          <a:xfrm>
            <a:off x="5810250" y="2209800"/>
            <a:ext cx="1371600" cy="266700"/>
            <a:chOff x="0" y="0"/>
            <a:chExt cx="1371600" cy="266700"/>
          </a:xfrm>
        </p:grpSpPr>
        <p:sp>
          <p:nvSpPr>
            <p:cNvPr id="553"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554" name="Avg Score"/>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Avg Score</a:t>
              </a:r>
            </a:p>
          </p:txBody>
        </p:sp>
      </p:grpSp>
      <p:sp>
        <p:nvSpPr>
          <p:cNvPr id="556" name="Rectangle"/>
          <p:cNvSpPr/>
          <p:nvPr/>
        </p:nvSpPr>
        <p:spPr>
          <a:xfrm>
            <a:off x="685800" y="2495550"/>
            <a:ext cx="2000250" cy="361950"/>
          </a:xfrm>
          <a:prstGeom prst="rect">
            <a:avLst/>
          </a:prstGeom>
          <a:solidFill>
            <a:srgbClr val="FFFFFF"/>
          </a:solidFill>
          <a:ln>
            <a:solidFill>
              <a:srgbClr val="DFE5E2"/>
            </a:solidFill>
          </a:ln>
        </p:spPr>
        <p:txBody>
          <a:bodyPr lIns="0" tIns="0" rIns="0" bIns="0"/>
          <a:lstStyle/>
          <a:p>
            <a:endParaRPr/>
          </a:p>
        </p:txBody>
      </p:sp>
      <p:grpSp>
        <p:nvGrpSpPr>
          <p:cNvPr id="559" name="Group"/>
          <p:cNvGrpSpPr/>
          <p:nvPr/>
        </p:nvGrpSpPr>
        <p:grpSpPr>
          <a:xfrm>
            <a:off x="762000" y="2571750"/>
            <a:ext cx="1847850" cy="266700"/>
            <a:chOff x="0" y="0"/>
            <a:chExt cx="1847850" cy="266700"/>
          </a:xfrm>
        </p:grpSpPr>
        <p:sp>
          <p:nvSpPr>
            <p:cNvPr id="557"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558" name="Most Loyal"/>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Most Loyal</a:t>
              </a:r>
            </a:p>
          </p:txBody>
        </p:sp>
      </p:grpSp>
      <p:sp>
        <p:nvSpPr>
          <p:cNvPr id="560" name="Rectangle"/>
          <p:cNvSpPr/>
          <p:nvPr/>
        </p:nvSpPr>
        <p:spPr>
          <a:xfrm>
            <a:off x="2686050" y="2495550"/>
            <a:ext cx="1524000" cy="361950"/>
          </a:xfrm>
          <a:prstGeom prst="rect">
            <a:avLst/>
          </a:prstGeom>
          <a:solidFill>
            <a:srgbClr val="FFFFFF"/>
          </a:solidFill>
          <a:ln>
            <a:solidFill>
              <a:srgbClr val="DFE5E2"/>
            </a:solidFill>
          </a:ln>
        </p:spPr>
        <p:txBody>
          <a:bodyPr lIns="0" tIns="0" rIns="0" bIns="0"/>
          <a:lstStyle/>
          <a:p>
            <a:endParaRPr/>
          </a:p>
        </p:txBody>
      </p:sp>
      <p:grpSp>
        <p:nvGrpSpPr>
          <p:cNvPr id="563" name="Group"/>
          <p:cNvGrpSpPr/>
          <p:nvPr/>
        </p:nvGrpSpPr>
        <p:grpSpPr>
          <a:xfrm>
            <a:off x="2762250" y="2571750"/>
            <a:ext cx="1371600" cy="266700"/>
            <a:chOff x="0" y="0"/>
            <a:chExt cx="1371600" cy="266700"/>
          </a:xfrm>
        </p:grpSpPr>
        <p:sp>
          <p:nvSpPr>
            <p:cNvPr id="561"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62" name="90"/>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90</a:t>
              </a:r>
            </a:p>
          </p:txBody>
        </p:sp>
      </p:grpSp>
      <p:sp>
        <p:nvSpPr>
          <p:cNvPr id="564" name="Rectangle"/>
          <p:cNvSpPr/>
          <p:nvPr/>
        </p:nvSpPr>
        <p:spPr>
          <a:xfrm>
            <a:off x="4210050" y="2495550"/>
            <a:ext cx="1524000" cy="361950"/>
          </a:xfrm>
          <a:prstGeom prst="rect">
            <a:avLst/>
          </a:prstGeom>
          <a:solidFill>
            <a:srgbClr val="FFFFFF"/>
          </a:solidFill>
          <a:ln>
            <a:solidFill>
              <a:srgbClr val="DFE5E2"/>
            </a:solidFill>
          </a:ln>
        </p:spPr>
        <p:txBody>
          <a:bodyPr lIns="0" tIns="0" rIns="0" bIns="0"/>
          <a:lstStyle/>
          <a:p>
            <a:endParaRPr/>
          </a:p>
        </p:txBody>
      </p:sp>
      <p:grpSp>
        <p:nvGrpSpPr>
          <p:cNvPr id="567" name="Group"/>
          <p:cNvGrpSpPr/>
          <p:nvPr/>
        </p:nvGrpSpPr>
        <p:grpSpPr>
          <a:xfrm>
            <a:off x="4286250" y="2571750"/>
            <a:ext cx="1371600" cy="266700"/>
            <a:chOff x="0" y="0"/>
            <a:chExt cx="1371600" cy="266700"/>
          </a:xfrm>
        </p:grpSpPr>
        <p:sp>
          <p:nvSpPr>
            <p:cNvPr id="565"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66" name="67,855"/>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67,855</a:t>
              </a:r>
            </a:p>
          </p:txBody>
        </p:sp>
      </p:grpSp>
      <p:sp>
        <p:nvSpPr>
          <p:cNvPr id="568" name="Rectangle"/>
          <p:cNvSpPr/>
          <p:nvPr/>
        </p:nvSpPr>
        <p:spPr>
          <a:xfrm>
            <a:off x="5734050" y="2495550"/>
            <a:ext cx="1524000" cy="361950"/>
          </a:xfrm>
          <a:prstGeom prst="rect">
            <a:avLst/>
          </a:prstGeom>
          <a:solidFill>
            <a:srgbClr val="FFFFFF"/>
          </a:solidFill>
          <a:ln>
            <a:solidFill>
              <a:srgbClr val="DFE5E2"/>
            </a:solidFill>
          </a:ln>
        </p:spPr>
        <p:txBody>
          <a:bodyPr lIns="0" tIns="0" rIns="0" bIns="0"/>
          <a:lstStyle/>
          <a:p>
            <a:endParaRPr/>
          </a:p>
        </p:txBody>
      </p:sp>
      <p:grpSp>
        <p:nvGrpSpPr>
          <p:cNvPr id="571" name="Group"/>
          <p:cNvGrpSpPr/>
          <p:nvPr/>
        </p:nvGrpSpPr>
        <p:grpSpPr>
          <a:xfrm>
            <a:off x="5810250" y="2571750"/>
            <a:ext cx="1371600" cy="266700"/>
            <a:chOff x="0" y="0"/>
            <a:chExt cx="1371600" cy="266700"/>
          </a:xfrm>
        </p:grpSpPr>
        <p:sp>
          <p:nvSpPr>
            <p:cNvPr id="569"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70" name="57.0"/>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57.0</a:t>
              </a:r>
            </a:p>
          </p:txBody>
        </p:sp>
      </p:grpSp>
      <p:sp>
        <p:nvSpPr>
          <p:cNvPr id="572" name="Rectangle"/>
          <p:cNvSpPr/>
          <p:nvPr/>
        </p:nvSpPr>
        <p:spPr>
          <a:xfrm>
            <a:off x="685800" y="2857500"/>
            <a:ext cx="2000250" cy="361950"/>
          </a:xfrm>
          <a:prstGeom prst="rect">
            <a:avLst/>
          </a:prstGeom>
          <a:solidFill>
            <a:srgbClr val="F1F5F3"/>
          </a:solidFill>
          <a:ln>
            <a:solidFill>
              <a:srgbClr val="DFE5E2"/>
            </a:solidFill>
          </a:ln>
        </p:spPr>
        <p:txBody>
          <a:bodyPr lIns="0" tIns="0" rIns="0" bIns="0"/>
          <a:lstStyle/>
          <a:p>
            <a:endParaRPr/>
          </a:p>
        </p:txBody>
      </p:sp>
      <p:grpSp>
        <p:nvGrpSpPr>
          <p:cNvPr id="575" name="Group"/>
          <p:cNvGrpSpPr/>
          <p:nvPr/>
        </p:nvGrpSpPr>
        <p:grpSpPr>
          <a:xfrm>
            <a:off x="762000" y="2933700"/>
            <a:ext cx="1847850" cy="266700"/>
            <a:chOff x="0" y="0"/>
            <a:chExt cx="1847850" cy="266700"/>
          </a:xfrm>
        </p:grpSpPr>
        <p:sp>
          <p:nvSpPr>
            <p:cNvPr id="573"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574" name="Highly Active"/>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Highly Active</a:t>
              </a:r>
            </a:p>
          </p:txBody>
        </p:sp>
      </p:grpSp>
      <p:sp>
        <p:nvSpPr>
          <p:cNvPr id="576" name="Rectangle"/>
          <p:cNvSpPr/>
          <p:nvPr/>
        </p:nvSpPr>
        <p:spPr>
          <a:xfrm>
            <a:off x="2686050" y="2857500"/>
            <a:ext cx="1524000" cy="361950"/>
          </a:xfrm>
          <a:prstGeom prst="rect">
            <a:avLst/>
          </a:prstGeom>
          <a:solidFill>
            <a:srgbClr val="F1F5F3"/>
          </a:solidFill>
          <a:ln>
            <a:solidFill>
              <a:srgbClr val="DFE5E2"/>
            </a:solidFill>
          </a:ln>
        </p:spPr>
        <p:txBody>
          <a:bodyPr lIns="0" tIns="0" rIns="0" bIns="0"/>
          <a:lstStyle/>
          <a:p>
            <a:endParaRPr/>
          </a:p>
        </p:txBody>
      </p:sp>
      <p:grpSp>
        <p:nvGrpSpPr>
          <p:cNvPr id="579" name="Group"/>
          <p:cNvGrpSpPr/>
          <p:nvPr/>
        </p:nvGrpSpPr>
        <p:grpSpPr>
          <a:xfrm>
            <a:off x="2762250" y="2933700"/>
            <a:ext cx="1371600" cy="266700"/>
            <a:chOff x="0" y="0"/>
            <a:chExt cx="1371600" cy="266700"/>
          </a:xfrm>
        </p:grpSpPr>
        <p:sp>
          <p:nvSpPr>
            <p:cNvPr id="577"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78" name="89"/>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a:t>
              </a:r>
            </a:p>
          </p:txBody>
        </p:sp>
      </p:grpSp>
      <p:sp>
        <p:nvSpPr>
          <p:cNvPr id="580" name="Rectangle"/>
          <p:cNvSpPr/>
          <p:nvPr/>
        </p:nvSpPr>
        <p:spPr>
          <a:xfrm>
            <a:off x="4210050" y="2857500"/>
            <a:ext cx="1524000" cy="361950"/>
          </a:xfrm>
          <a:prstGeom prst="rect">
            <a:avLst/>
          </a:prstGeom>
          <a:solidFill>
            <a:srgbClr val="F1F5F3"/>
          </a:solidFill>
          <a:ln>
            <a:solidFill>
              <a:srgbClr val="DFE5E2"/>
            </a:solidFill>
          </a:ln>
        </p:spPr>
        <p:txBody>
          <a:bodyPr lIns="0" tIns="0" rIns="0" bIns="0"/>
          <a:lstStyle/>
          <a:p>
            <a:endParaRPr/>
          </a:p>
        </p:txBody>
      </p:sp>
      <p:grpSp>
        <p:nvGrpSpPr>
          <p:cNvPr id="583" name="Group"/>
          <p:cNvGrpSpPr/>
          <p:nvPr/>
        </p:nvGrpSpPr>
        <p:grpSpPr>
          <a:xfrm>
            <a:off x="4286250" y="2933700"/>
            <a:ext cx="1371600" cy="266700"/>
            <a:chOff x="0" y="0"/>
            <a:chExt cx="1371600" cy="266700"/>
          </a:xfrm>
        </p:grpSpPr>
        <p:sp>
          <p:nvSpPr>
            <p:cNvPr id="581"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82" name="26,942"/>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26,942</a:t>
              </a:r>
            </a:p>
          </p:txBody>
        </p:sp>
      </p:grpSp>
      <p:sp>
        <p:nvSpPr>
          <p:cNvPr id="584" name="Rectangle"/>
          <p:cNvSpPr/>
          <p:nvPr/>
        </p:nvSpPr>
        <p:spPr>
          <a:xfrm>
            <a:off x="5734050" y="2857500"/>
            <a:ext cx="1524000" cy="361950"/>
          </a:xfrm>
          <a:prstGeom prst="rect">
            <a:avLst/>
          </a:prstGeom>
          <a:solidFill>
            <a:srgbClr val="F1F5F3"/>
          </a:solidFill>
          <a:ln>
            <a:solidFill>
              <a:srgbClr val="DFE5E2"/>
            </a:solidFill>
          </a:ln>
        </p:spPr>
        <p:txBody>
          <a:bodyPr lIns="0" tIns="0" rIns="0" bIns="0"/>
          <a:lstStyle/>
          <a:p>
            <a:endParaRPr/>
          </a:p>
        </p:txBody>
      </p:sp>
      <p:grpSp>
        <p:nvGrpSpPr>
          <p:cNvPr id="587" name="Group"/>
          <p:cNvGrpSpPr/>
          <p:nvPr/>
        </p:nvGrpSpPr>
        <p:grpSpPr>
          <a:xfrm>
            <a:off x="5810250" y="2933700"/>
            <a:ext cx="1371600" cy="266700"/>
            <a:chOff x="0" y="0"/>
            <a:chExt cx="1371600" cy="266700"/>
          </a:xfrm>
        </p:grpSpPr>
        <p:sp>
          <p:nvSpPr>
            <p:cNvPr id="585"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86" name="41.7"/>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41.7</a:t>
              </a:r>
            </a:p>
          </p:txBody>
        </p:sp>
      </p:grpSp>
      <p:sp>
        <p:nvSpPr>
          <p:cNvPr id="588" name="Rectangle"/>
          <p:cNvSpPr/>
          <p:nvPr/>
        </p:nvSpPr>
        <p:spPr>
          <a:xfrm>
            <a:off x="685800" y="3219450"/>
            <a:ext cx="2000250" cy="361950"/>
          </a:xfrm>
          <a:prstGeom prst="rect">
            <a:avLst/>
          </a:prstGeom>
          <a:solidFill>
            <a:srgbClr val="FFFFFF"/>
          </a:solidFill>
          <a:ln>
            <a:solidFill>
              <a:srgbClr val="DFE5E2"/>
            </a:solidFill>
          </a:ln>
        </p:spPr>
        <p:txBody>
          <a:bodyPr lIns="0" tIns="0" rIns="0" bIns="0"/>
          <a:lstStyle/>
          <a:p>
            <a:endParaRPr/>
          </a:p>
        </p:txBody>
      </p:sp>
      <p:grpSp>
        <p:nvGrpSpPr>
          <p:cNvPr id="591" name="Group"/>
          <p:cNvGrpSpPr/>
          <p:nvPr/>
        </p:nvGrpSpPr>
        <p:grpSpPr>
          <a:xfrm>
            <a:off x="762000" y="3295650"/>
            <a:ext cx="1847850" cy="266700"/>
            <a:chOff x="0" y="0"/>
            <a:chExt cx="1847850" cy="266700"/>
          </a:xfrm>
        </p:grpSpPr>
        <p:sp>
          <p:nvSpPr>
            <p:cNvPr id="589"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590" name="Active"/>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Active</a:t>
              </a:r>
            </a:p>
          </p:txBody>
        </p:sp>
      </p:grpSp>
      <p:sp>
        <p:nvSpPr>
          <p:cNvPr id="592" name="Rectangle"/>
          <p:cNvSpPr/>
          <p:nvPr/>
        </p:nvSpPr>
        <p:spPr>
          <a:xfrm>
            <a:off x="2686050" y="3219450"/>
            <a:ext cx="1524000" cy="361950"/>
          </a:xfrm>
          <a:prstGeom prst="rect">
            <a:avLst/>
          </a:prstGeom>
          <a:solidFill>
            <a:srgbClr val="FFFFFF"/>
          </a:solidFill>
          <a:ln>
            <a:solidFill>
              <a:srgbClr val="DFE5E2"/>
            </a:solidFill>
          </a:ln>
        </p:spPr>
        <p:txBody>
          <a:bodyPr lIns="0" tIns="0" rIns="0" bIns="0"/>
          <a:lstStyle/>
          <a:p>
            <a:endParaRPr/>
          </a:p>
        </p:txBody>
      </p:sp>
      <p:grpSp>
        <p:nvGrpSpPr>
          <p:cNvPr id="595" name="Group"/>
          <p:cNvGrpSpPr/>
          <p:nvPr/>
        </p:nvGrpSpPr>
        <p:grpSpPr>
          <a:xfrm>
            <a:off x="2762250" y="3295650"/>
            <a:ext cx="1371600" cy="266700"/>
            <a:chOff x="0" y="0"/>
            <a:chExt cx="1371600" cy="266700"/>
          </a:xfrm>
        </p:grpSpPr>
        <p:sp>
          <p:nvSpPr>
            <p:cNvPr id="593"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94" name="89"/>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a:t>
              </a:r>
            </a:p>
          </p:txBody>
        </p:sp>
      </p:grpSp>
      <p:sp>
        <p:nvSpPr>
          <p:cNvPr id="596" name="Rectangle"/>
          <p:cNvSpPr/>
          <p:nvPr/>
        </p:nvSpPr>
        <p:spPr>
          <a:xfrm>
            <a:off x="4210050" y="3219450"/>
            <a:ext cx="1524000" cy="361950"/>
          </a:xfrm>
          <a:prstGeom prst="rect">
            <a:avLst/>
          </a:prstGeom>
          <a:solidFill>
            <a:srgbClr val="FFFFFF"/>
          </a:solidFill>
          <a:ln>
            <a:solidFill>
              <a:srgbClr val="DFE5E2"/>
            </a:solidFill>
          </a:ln>
        </p:spPr>
        <p:txBody>
          <a:bodyPr lIns="0" tIns="0" rIns="0" bIns="0"/>
          <a:lstStyle/>
          <a:p>
            <a:endParaRPr/>
          </a:p>
        </p:txBody>
      </p:sp>
      <p:grpSp>
        <p:nvGrpSpPr>
          <p:cNvPr id="599" name="Group"/>
          <p:cNvGrpSpPr/>
          <p:nvPr/>
        </p:nvGrpSpPr>
        <p:grpSpPr>
          <a:xfrm>
            <a:off x="4286250" y="3295650"/>
            <a:ext cx="1371600" cy="266700"/>
            <a:chOff x="0" y="0"/>
            <a:chExt cx="1371600" cy="266700"/>
          </a:xfrm>
        </p:grpSpPr>
        <p:sp>
          <p:nvSpPr>
            <p:cNvPr id="597"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598" name="10,964"/>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10,964</a:t>
              </a:r>
            </a:p>
          </p:txBody>
        </p:sp>
      </p:grpSp>
      <p:sp>
        <p:nvSpPr>
          <p:cNvPr id="600" name="Rectangle"/>
          <p:cNvSpPr/>
          <p:nvPr/>
        </p:nvSpPr>
        <p:spPr>
          <a:xfrm>
            <a:off x="5734050" y="3219450"/>
            <a:ext cx="1524000" cy="361950"/>
          </a:xfrm>
          <a:prstGeom prst="rect">
            <a:avLst/>
          </a:prstGeom>
          <a:solidFill>
            <a:srgbClr val="FFFFFF"/>
          </a:solidFill>
          <a:ln>
            <a:solidFill>
              <a:srgbClr val="DFE5E2"/>
            </a:solidFill>
          </a:ln>
        </p:spPr>
        <p:txBody>
          <a:bodyPr lIns="0" tIns="0" rIns="0" bIns="0"/>
          <a:lstStyle/>
          <a:p>
            <a:endParaRPr/>
          </a:p>
        </p:txBody>
      </p:sp>
      <p:grpSp>
        <p:nvGrpSpPr>
          <p:cNvPr id="603" name="Group"/>
          <p:cNvGrpSpPr/>
          <p:nvPr/>
        </p:nvGrpSpPr>
        <p:grpSpPr>
          <a:xfrm>
            <a:off x="5810250" y="3295650"/>
            <a:ext cx="1371600" cy="266700"/>
            <a:chOff x="0" y="0"/>
            <a:chExt cx="1371600" cy="266700"/>
          </a:xfrm>
        </p:grpSpPr>
        <p:sp>
          <p:nvSpPr>
            <p:cNvPr id="601"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02" name="33.6"/>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33.6</a:t>
              </a:r>
            </a:p>
          </p:txBody>
        </p:sp>
      </p:grpSp>
      <p:sp>
        <p:nvSpPr>
          <p:cNvPr id="604" name="Rectangle"/>
          <p:cNvSpPr/>
          <p:nvPr/>
        </p:nvSpPr>
        <p:spPr>
          <a:xfrm>
            <a:off x="685800" y="3581400"/>
            <a:ext cx="2000250" cy="361950"/>
          </a:xfrm>
          <a:prstGeom prst="rect">
            <a:avLst/>
          </a:prstGeom>
          <a:solidFill>
            <a:srgbClr val="F1F5F3"/>
          </a:solidFill>
          <a:ln>
            <a:solidFill>
              <a:srgbClr val="DFE5E2"/>
            </a:solidFill>
          </a:ln>
        </p:spPr>
        <p:txBody>
          <a:bodyPr lIns="0" tIns="0" rIns="0" bIns="0"/>
          <a:lstStyle/>
          <a:p>
            <a:endParaRPr/>
          </a:p>
        </p:txBody>
      </p:sp>
      <p:grpSp>
        <p:nvGrpSpPr>
          <p:cNvPr id="607" name="Group"/>
          <p:cNvGrpSpPr/>
          <p:nvPr/>
        </p:nvGrpSpPr>
        <p:grpSpPr>
          <a:xfrm>
            <a:off x="762000" y="3657600"/>
            <a:ext cx="1847850" cy="266700"/>
            <a:chOff x="0" y="0"/>
            <a:chExt cx="1847850" cy="266700"/>
          </a:xfrm>
        </p:grpSpPr>
        <p:sp>
          <p:nvSpPr>
            <p:cNvPr id="605"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606" name="Potential"/>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Potential</a:t>
              </a:r>
            </a:p>
          </p:txBody>
        </p:sp>
      </p:grpSp>
      <p:sp>
        <p:nvSpPr>
          <p:cNvPr id="608" name="Rectangle"/>
          <p:cNvSpPr/>
          <p:nvPr/>
        </p:nvSpPr>
        <p:spPr>
          <a:xfrm>
            <a:off x="2686050" y="3581400"/>
            <a:ext cx="1524000" cy="361950"/>
          </a:xfrm>
          <a:prstGeom prst="rect">
            <a:avLst/>
          </a:prstGeom>
          <a:solidFill>
            <a:srgbClr val="F1F5F3"/>
          </a:solidFill>
          <a:ln>
            <a:solidFill>
              <a:srgbClr val="DFE5E2"/>
            </a:solidFill>
          </a:ln>
        </p:spPr>
        <p:txBody>
          <a:bodyPr lIns="0" tIns="0" rIns="0" bIns="0"/>
          <a:lstStyle/>
          <a:p>
            <a:endParaRPr/>
          </a:p>
        </p:txBody>
      </p:sp>
      <p:grpSp>
        <p:nvGrpSpPr>
          <p:cNvPr id="611" name="Group"/>
          <p:cNvGrpSpPr/>
          <p:nvPr/>
        </p:nvGrpSpPr>
        <p:grpSpPr>
          <a:xfrm>
            <a:off x="2762250" y="3657600"/>
            <a:ext cx="1371600" cy="266700"/>
            <a:chOff x="0" y="0"/>
            <a:chExt cx="1371600" cy="266700"/>
          </a:xfrm>
        </p:grpSpPr>
        <p:sp>
          <p:nvSpPr>
            <p:cNvPr id="609"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10" name="89"/>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a:t>
              </a:r>
            </a:p>
          </p:txBody>
        </p:sp>
      </p:grpSp>
      <p:sp>
        <p:nvSpPr>
          <p:cNvPr id="612" name="Rectangle"/>
          <p:cNvSpPr/>
          <p:nvPr/>
        </p:nvSpPr>
        <p:spPr>
          <a:xfrm>
            <a:off x="4210050" y="3581400"/>
            <a:ext cx="1524000" cy="361950"/>
          </a:xfrm>
          <a:prstGeom prst="rect">
            <a:avLst/>
          </a:prstGeom>
          <a:solidFill>
            <a:srgbClr val="F1F5F3"/>
          </a:solidFill>
          <a:ln>
            <a:solidFill>
              <a:srgbClr val="DFE5E2"/>
            </a:solidFill>
          </a:ln>
        </p:spPr>
        <p:txBody>
          <a:bodyPr lIns="0" tIns="0" rIns="0" bIns="0"/>
          <a:lstStyle/>
          <a:p>
            <a:endParaRPr/>
          </a:p>
        </p:txBody>
      </p:sp>
      <p:grpSp>
        <p:nvGrpSpPr>
          <p:cNvPr id="615" name="Group"/>
          <p:cNvGrpSpPr/>
          <p:nvPr/>
        </p:nvGrpSpPr>
        <p:grpSpPr>
          <a:xfrm>
            <a:off x="4286250" y="3657600"/>
            <a:ext cx="1371600" cy="266700"/>
            <a:chOff x="0" y="0"/>
            <a:chExt cx="1371600" cy="266700"/>
          </a:xfrm>
        </p:grpSpPr>
        <p:sp>
          <p:nvSpPr>
            <p:cNvPr id="613"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14" name="4,603"/>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4,603</a:t>
              </a:r>
            </a:p>
          </p:txBody>
        </p:sp>
      </p:grpSp>
      <p:sp>
        <p:nvSpPr>
          <p:cNvPr id="616" name="Rectangle"/>
          <p:cNvSpPr/>
          <p:nvPr/>
        </p:nvSpPr>
        <p:spPr>
          <a:xfrm>
            <a:off x="5734050" y="3581400"/>
            <a:ext cx="1524000" cy="361950"/>
          </a:xfrm>
          <a:prstGeom prst="rect">
            <a:avLst/>
          </a:prstGeom>
          <a:solidFill>
            <a:srgbClr val="F1F5F3"/>
          </a:solidFill>
          <a:ln>
            <a:solidFill>
              <a:srgbClr val="DFE5E2"/>
            </a:solidFill>
          </a:ln>
        </p:spPr>
        <p:txBody>
          <a:bodyPr lIns="0" tIns="0" rIns="0" bIns="0"/>
          <a:lstStyle/>
          <a:p>
            <a:endParaRPr/>
          </a:p>
        </p:txBody>
      </p:sp>
      <p:grpSp>
        <p:nvGrpSpPr>
          <p:cNvPr id="619" name="Group"/>
          <p:cNvGrpSpPr/>
          <p:nvPr/>
        </p:nvGrpSpPr>
        <p:grpSpPr>
          <a:xfrm>
            <a:off x="5810250" y="3657600"/>
            <a:ext cx="1371600" cy="266700"/>
            <a:chOff x="0" y="0"/>
            <a:chExt cx="1371600" cy="266700"/>
          </a:xfrm>
        </p:grpSpPr>
        <p:sp>
          <p:nvSpPr>
            <p:cNvPr id="617"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18" name="25.9"/>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25.9</a:t>
              </a:r>
            </a:p>
          </p:txBody>
        </p:sp>
      </p:grpSp>
      <p:sp>
        <p:nvSpPr>
          <p:cNvPr id="620" name="Rectangle"/>
          <p:cNvSpPr/>
          <p:nvPr/>
        </p:nvSpPr>
        <p:spPr>
          <a:xfrm>
            <a:off x="685800" y="3943350"/>
            <a:ext cx="2000250" cy="361950"/>
          </a:xfrm>
          <a:prstGeom prst="rect">
            <a:avLst/>
          </a:prstGeom>
          <a:solidFill>
            <a:srgbClr val="FFFFFF"/>
          </a:solidFill>
          <a:ln>
            <a:solidFill>
              <a:srgbClr val="DFE5E2"/>
            </a:solidFill>
          </a:ln>
        </p:spPr>
        <p:txBody>
          <a:bodyPr lIns="0" tIns="0" rIns="0" bIns="0"/>
          <a:lstStyle/>
          <a:p>
            <a:endParaRPr/>
          </a:p>
        </p:txBody>
      </p:sp>
      <p:grpSp>
        <p:nvGrpSpPr>
          <p:cNvPr id="623" name="Group"/>
          <p:cNvGrpSpPr/>
          <p:nvPr/>
        </p:nvGrpSpPr>
        <p:grpSpPr>
          <a:xfrm>
            <a:off x="762000" y="4019550"/>
            <a:ext cx="1847850" cy="266700"/>
            <a:chOff x="0" y="0"/>
            <a:chExt cx="1847850" cy="266700"/>
          </a:xfrm>
        </p:grpSpPr>
        <p:sp>
          <p:nvSpPr>
            <p:cNvPr id="621"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622" name="Least Loyal"/>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Least Loyal</a:t>
              </a:r>
            </a:p>
          </p:txBody>
        </p:sp>
      </p:grpSp>
      <p:sp>
        <p:nvSpPr>
          <p:cNvPr id="624" name="Rectangle"/>
          <p:cNvSpPr/>
          <p:nvPr/>
        </p:nvSpPr>
        <p:spPr>
          <a:xfrm>
            <a:off x="2686050" y="3943350"/>
            <a:ext cx="1524000" cy="361950"/>
          </a:xfrm>
          <a:prstGeom prst="rect">
            <a:avLst/>
          </a:prstGeom>
          <a:solidFill>
            <a:srgbClr val="FFFFFF"/>
          </a:solidFill>
          <a:ln>
            <a:solidFill>
              <a:srgbClr val="DFE5E2"/>
            </a:solidFill>
          </a:ln>
        </p:spPr>
        <p:txBody>
          <a:bodyPr lIns="0" tIns="0" rIns="0" bIns="0"/>
          <a:lstStyle/>
          <a:p>
            <a:endParaRPr/>
          </a:p>
        </p:txBody>
      </p:sp>
      <p:grpSp>
        <p:nvGrpSpPr>
          <p:cNvPr id="627" name="Group"/>
          <p:cNvGrpSpPr/>
          <p:nvPr/>
        </p:nvGrpSpPr>
        <p:grpSpPr>
          <a:xfrm>
            <a:off x="2762250" y="4019550"/>
            <a:ext cx="1371600" cy="266700"/>
            <a:chOff x="0" y="0"/>
            <a:chExt cx="1371600" cy="266700"/>
          </a:xfrm>
        </p:grpSpPr>
        <p:sp>
          <p:nvSpPr>
            <p:cNvPr id="625"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26" name="88"/>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88</a:t>
              </a:r>
            </a:p>
          </p:txBody>
        </p:sp>
      </p:grpSp>
      <p:sp>
        <p:nvSpPr>
          <p:cNvPr id="628" name="Rectangle"/>
          <p:cNvSpPr/>
          <p:nvPr/>
        </p:nvSpPr>
        <p:spPr>
          <a:xfrm>
            <a:off x="4210050" y="3943350"/>
            <a:ext cx="1524000" cy="361950"/>
          </a:xfrm>
          <a:prstGeom prst="rect">
            <a:avLst/>
          </a:prstGeom>
          <a:solidFill>
            <a:srgbClr val="FFFFFF"/>
          </a:solidFill>
          <a:ln>
            <a:solidFill>
              <a:srgbClr val="DFE5E2"/>
            </a:solidFill>
          </a:ln>
        </p:spPr>
        <p:txBody>
          <a:bodyPr lIns="0" tIns="0" rIns="0" bIns="0"/>
          <a:lstStyle/>
          <a:p>
            <a:endParaRPr/>
          </a:p>
        </p:txBody>
      </p:sp>
      <p:grpSp>
        <p:nvGrpSpPr>
          <p:cNvPr id="631" name="Group"/>
          <p:cNvGrpSpPr/>
          <p:nvPr/>
        </p:nvGrpSpPr>
        <p:grpSpPr>
          <a:xfrm>
            <a:off x="4286250" y="4019550"/>
            <a:ext cx="1371600" cy="266700"/>
            <a:chOff x="0" y="0"/>
            <a:chExt cx="1371600" cy="266700"/>
          </a:xfrm>
        </p:grpSpPr>
        <p:sp>
          <p:nvSpPr>
            <p:cNvPr id="629"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30" name="497"/>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497</a:t>
              </a:r>
            </a:p>
          </p:txBody>
        </p:sp>
      </p:grpSp>
      <p:sp>
        <p:nvSpPr>
          <p:cNvPr id="632" name="Rectangle"/>
          <p:cNvSpPr/>
          <p:nvPr/>
        </p:nvSpPr>
        <p:spPr>
          <a:xfrm>
            <a:off x="5734050" y="3943350"/>
            <a:ext cx="1524000" cy="361950"/>
          </a:xfrm>
          <a:prstGeom prst="rect">
            <a:avLst/>
          </a:prstGeom>
          <a:solidFill>
            <a:srgbClr val="FFFFFF"/>
          </a:solidFill>
          <a:ln>
            <a:solidFill>
              <a:srgbClr val="DFE5E2"/>
            </a:solidFill>
          </a:ln>
        </p:spPr>
        <p:txBody>
          <a:bodyPr lIns="0" tIns="0" rIns="0" bIns="0"/>
          <a:lstStyle/>
          <a:p>
            <a:endParaRPr/>
          </a:p>
        </p:txBody>
      </p:sp>
      <p:grpSp>
        <p:nvGrpSpPr>
          <p:cNvPr id="635" name="Group"/>
          <p:cNvGrpSpPr/>
          <p:nvPr/>
        </p:nvGrpSpPr>
        <p:grpSpPr>
          <a:xfrm>
            <a:off x="5810250" y="4019550"/>
            <a:ext cx="1371600" cy="266700"/>
            <a:chOff x="0" y="0"/>
            <a:chExt cx="1371600" cy="266700"/>
          </a:xfrm>
        </p:grpSpPr>
        <p:sp>
          <p:nvSpPr>
            <p:cNvPr id="633"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34" name="16.4"/>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16.4</a:t>
              </a:r>
            </a:p>
          </p:txBody>
        </p:sp>
      </p:grpSp>
      <p:sp>
        <p:nvSpPr>
          <p:cNvPr id="636" name="Rectangle"/>
          <p:cNvSpPr/>
          <p:nvPr/>
        </p:nvSpPr>
        <p:spPr>
          <a:xfrm>
            <a:off x="685800" y="4305300"/>
            <a:ext cx="2000250" cy="361950"/>
          </a:xfrm>
          <a:prstGeom prst="rect">
            <a:avLst/>
          </a:prstGeom>
          <a:solidFill>
            <a:srgbClr val="F1F5F3"/>
          </a:solidFill>
          <a:ln>
            <a:solidFill>
              <a:srgbClr val="DFE5E2"/>
            </a:solidFill>
          </a:ln>
        </p:spPr>
        <p:txBody>
          <a:bodyPr lIns="0" tIns="0" rIns="0" bIns="0"/>
          <a:lstStyle/>
          <a:p>
            <a:endParaRPr/>
          </a:p>
        </p:txBody>
      </p:sp>
      <p:grpSp>
        <p:nvGrpSpPr>
          <p:cNvPr id="639" name="Group"/>
          <p:cNvGrpSpPr/>
          <p:nvPr/>
        </p:nvGrpSpPr>
        <p:grpSpPr>
          <a:xfrm>
            <a:off x="762000" y="4381500"/>
            <a:ext cx="1847850" cy="266700"/>
            <a:chOff x="0" y="0"/>
            <a:chExt cx="1847850" cy="266700"/>
          </a:xfrm>
        </p:grpSpPr>
        <p:sp>
          <p:nvSpPr>
            <p:cNvPr id="637" name="Rectangle"/>
            <p:cNvSpPr/>
            <p:nvPr/>
          </p:nvSpPr>
          <p:spPr>
            <a:xfrm>
              <a:off x="0" y="0"/>
              <a:ext cx="1847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638" name="Inactive"/>
            <p:cNvSpPr txBox="1"/>
            <p:nvPr/>
          </p:nvSpPr>
          <p:spPr>
            <a:xfrm>
              <a:off x="0" y="0"/>
              <a:ext cx="18478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Inactive</a:t>
              </a:r>
            </a:p>
          </p:txBody>
        </p:sp>
      </p:grpSp>
      <p:sp>
        <p:nvSpPr>
          <p:cNvPr id="640" name="Rectangle"/>
          <p:cNvSpPr/>
          <p:nvPr/>
        </p:nvSpPr>
        <p:spPr>
          <a:xfrm>
            <a:off x="2686050" y="4305300"/>
            <a:ext cx="1524000" cy="361950"/>
          </a:xfrm>
          <a:prstGeom prst="rect">
            <a:avLst/>
          </a:prstGeom>
          <a:solidFill>
            <a:srgbClr val="F1F5F3"/>
          </a:solidFill>
          <a:ln>
            <a:solidFill>
              <a:srgbClr val="DFE5E2"/>
            </a:solidFill>
          </a:ln>
        </p:spPr>
        <p:txBody>
          <a:bodyPr lIns="0" tIns="0" rIns="0" bIns="0"/>
          <a:lstStyle/>
          <a:p>
            <a:endParaRPr/>
          </a:p>
        </p:txBody>
      </p:sp>
      <p:grpSp>
        <p:nvGrpSpPr>
          <p:cNvPr id="643" name="Group"/>
          <p:cNvGrpSpPr/>
          <p:nvPr/>
        </p:nvGrpSpPr>
        <p:grpSpPr>
          <a:xfrm>
            <a:off x="2762250" y="4381500"/>
            <a:ext cx="1371600" cy="266700"/>
            <a:chOff x="0" y="0"/>
            <a:chExt cx="1371600" cy="266700"/>
          </a:xfrm>
        </p:grpSpPr>
        <p:sp>
          <p:nvSpPr>
            <p:cNvPr id="641"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42" name="1"/>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1</a:t>
              </a:r>
            </a:p>
          </p:txBody>
        </p:sp>
      </p:grpSp>
      <p:sp>
        <p:nvSpPr>
          <p:cNvPr id="644" name="Rectangle"/>
          <p:cNvSpPr/>
          <p:nvPr/>
        </p:nvSpPr>
        <p:spPr>
          <a:xfrm>
            <a:off x="4210050" y="4305300"/>
            <a:ext cx="1524000" cy="361950"/>
          </a:xfrm>
          <a:prstGeom prst="rect">
            <a:avLst/>
          </a:prstGeom>
          <a:solidFill>
            <a:srgbClr val="F1F5F3"/>
          </a:solidFill>
          <a:ln>
            <a:solidFill>
              <a:srgbClr val="DFE5E2"/>
            </a:solidFill>
          </a:ln>
        </p:spPr>
        <p:txBody>
          <a:bodyPr lIns="0" tIns="0" rIns="0" bIns="0"/>
          <a:lstStyle/>
          <a:p>
            <a:endParaRPr/>
          </a:p>
        </p:txBody>
      </p:sp>
      <p:grpSp>
        <p:nvGrpSpPr>
          <p:cNvPr id="647" name="Group"/>
          <p:cNvGrpSpPr/>
          <p:nvPr/>
        </p:nvGrpSpPr>
        <p:grpSpPr>
          <a:xfrm>
            <a:off x="4286250" y="4381500"/>
            <a:ext cx="1371600" cy="266700"/>
            <a:chOff x="0" y="0"/>
            <a:chExt cx="1371600" cy="266700"/>
          </a:xfrm>
        </p:grpSpPr>
        <p:sp>
          <p:nvSpPr>
            <p:cNvPr id="645"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46" name="0"/>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0</a:t>
              </a:r>
            </a:p>
          </p:txBody>
        </p:sp>
      </p:grpSp>
      <p:sp>
        <p:nvSpPr>
          <p:cNvPr id="648" name="Rectangle"/>
          <p:cNvSpPr/>
          <p:nvPr/>
        </p:nvSpPr>
        <p:spPr>
          <a:xfrm>
            <a:off x="5734050" y="4305300"/>
            <a:ext cx="1524000" cy="361950"/>
          </a:xfrm>
          <a:prstGeom prst="rect">
            <a:avLst/>
          </a:prstGeom>
          <a:solidFill>
            <a:srgbClr val="F1F5F3"/>
          </a:solidFill>
          <a:ln>
            <a:solidFill>
              <a:srgbClr val="DFE5E2"/>
            </a:solidFill>
          </a:ln>
        </p:spPr>
        <p:txBody>
          <a:bodyPr lIns="0" tIns="0" rIns="0" bIns="0"/>
          <a:lstStyle/>
          <a:p>
            <a:endParaRPr/>
          </a:p>
        </p:txBody>
      </p:sp>
      <p:grpSp>
        <p:nvGrpSpPr>
          <p:cNvPr id="651" name="Group"/>
          <p:cNvGrpSpPr/>
          <p:nvPr/>
        </p:nvGrpSpPr>
        <p:grpSpPr>
          <a:xfrm>
            <a:off x="5810250" y="4381500"/>
            <a:ext cx="1371600" cy="266700"/>
            <a:chOff x="0" y="0"/>
            <a:chExt cx="1371600" cy="266700"/>
          </a:xfrm>
        </p:grpSpPr>
        <p:sp>
          <p:nvSpPr>
            <p:cNvPr id="649" name="Rectangle"/>
            <p:cNvSpPr/>
            <p:nvPr/>
          </p:nvSpPr>
          <p:spPr>
            <a:xfrm>
              <a:off x="0" y="0"/>
              <a:ext cx="13716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650" name="7.1"/>
            <p:cNvSpPr txBox="1"/>
            <p:nvPr/>
          </p:nvSpPr>
          <p:spPr>
            <a:xfrm>
              <a:off x="0" y="0"/>
              <a:ext cx="13716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7.1</a:t>
              </a:r>
            </a:p>
          </p:txBody>
        </p:sp>
      </p:grpSp>
      <p:grpSp>
        <p:nvGrpSpPr>
          <p:cNvPr id="654" name="Group"/>
          <p:cNvGrpSpPr/>
          <p:nvPr/>
        </p:nvGrpSpPr>
        <p:grpSpPr>
          <a:xfrm>
            <a:off x="7810500" y="2133600"/>
            <a:ext cx="2857500" cy="266700"/>
            <a:chOff x="0" y="0"/>
            <a:chExt cx="2857500" cy="266700"/>
          </a:xfrm>
        </p:grpSpPr>
        <p:sp>
          <p:nvSpPr>
            <p:cNvPr id="652" name="Rectangle"/>
            <p:cNvSpPr/>
            <p:nvPr/>
          </p:nvSpPr>
          <p:spPr>
            <a:xfrm>
              <a:off x="0" y="0"/>
              <a:ext cx="28575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700" b="1">
                  <a:solidFill>
                    <a:srgbClr val="10242C"/>
                  </a:solidFill>
                  <a:latin typeface="Aptos Display"/>
                  <a:ea typeface="Aptos Display"/>
                  <a:cs typeface="Aptos Display"/>
                  <a:sym typeface="Aptos Display"/>
                </a:defRPr>
              </a:pPr>
              <a:endParaRPr/>
            </a:p>
          </p:txBody>
        </p:sp>
        <p:sp>
          <p:nvSpPr>
            <p:cNvPr id="653" name="Average Points"/>
            <p:cNvSpPr txBox="1"/>
            <p:nvPr/>
          </p:nvSpPr>
          <p:spPr>
            <a:xfrm>
              <a:off x="0" y="0"/>
              <a:ext cx="2857500" cy="254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700" b="1">
                  <a:solidFill>
                    <a:srgbClr val="10242C"/>
                  </a:solidFill>
                  <a:latin typeface="Aptos Display"/>
                  <a:ea typeface="Aptos Display"/>
                  <a:cs typeface="Aptos Display"/>
                  <a:sym typeface="Aptos Display"/>
                </a:defRPr>
              </a:lvl1pPr>
            </a:lstStyle>
            <a:p>
              <a:r>
                <a:t>Average Points</a:t>
              </a:r>
            </a:p>
          </p:txBody>
        </p:sp>
      </p:grpSp>
      <p:grpSp>
        <p:nvGrpSpPr>
          <p:cNvPr id="657" name="Group"/>
          <p:cNvGrpSpPr/>
          <p:nvPr/>
        </p:nvGrpSpPr>
        <p:grpSpPr>
          <a:xfrm>
            <a:off x="7810500" y="2619375"/>
            <a:ext cx="1143000" cy="266700"/>
            <a:chOff x="0" y="0"/>
            <a:chExt cx="1143000" cy="266700"/>
          </a:xfrm>
        </p:grpSpPr>
        <p:sp>
          <p:nvSpPr>
            <p:cNvPr id="655"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b="1">
                  <a:solidFill>
                    <a:srgbClr val="10242C"/>
                  </a:solidFill>
                  <a:latin typeface="Aptos"/>
                  <a:ea typeface="Aptos"/>
                  <a:cs typeface="Aptos"/>
                  <a:sym typeface="Aptos"/>
                </a:defRPr>
              </a:pPr>
              <a:endParaRPr/>
            </a:p>
          </p:txBody>
        </p:sp>
        <p:sp>
          <p:nvSpPr>
            <p:cNvPr id="656" name="Most Loyal"/>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b="1">
                  <a:solidFill>
                    <a:srgbClr val="10242C"/>
                  </a:solidFill>
                  <a:latin typeface="Aptos"/>
                  <a:ea typeface="Aptos"/>
                  <a:cs typeface="Aptos"/>
                  <a:sym typeface="Aptos"/>
                </a:defRPr>
              </a:lvl1pPr>
            </a:lstStyle>
            <a:p>
              <a:r>
                <a:t>Most Loyal</a:t>
              </a:r>
            </a:p>
          </p:txBody>
        </p:sp>
      </p:grpSp>
      <p:sp>
        <p:nvSpPr>
          <p:cNvPr id="658" name="Rectangle"/>
          <p:cNvSpPr/>
          <p:nvPr/>
        </p:nvSpPr>
        <p:spPr>
          <a:xfrm>
            <a:off x="8953500" y="2686050"/>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59" name="Rectangle"/>
          <p:cNvSpPr/>
          <p:nvPr/>
        </p:nvSpPr>
        <p:spPr>
          <a:xfrm>
            <a:off x="8953500" y="2686050"/>
            <a:ext cx="1485900" cy="152400"/>
          </a:xfrm>
          <a:prstGeom prst="rect">
            <a:avLst/>
          </a:prstGeom>
          <a:solidFill>
            <a:srgbClr val="0A6B61"/>
          </a:solidFill>
          <a:ln w="3175">
            <a:solidFill>
              <a:srgbClr val="000000">
                <a:alpha val="0"/>
              </a:srgbClr>
            </a:solidFill>
          </a:ln>
        </p:spPr>
        <p:txBody>
          <a:bodyPr lIns="0" tIns="0" rIns="0" bIns="0"/>
          <a:lstStyle/>
          <a:p>
            <a:endParaRPr/>
          </a:p>
        </p:txBody>
      </p:sp>
      <p:grpSp>
        <p:nvGrpSpPr>
          <p:cNvPr id="662" name="Group"/>
          <p:cNvGrpSpPr/>
          <p:nvPr/>
        </p:nvGrpSpPr>
        <p:grpSpPr>
          <a:xfrm>
            <a:off x="10525125" y="2628900"/>
            <a:ext cx="619125" cy="228600"/>
            <a:chOff x="0" y="0"/>
            <a:chExt cx="619125" cy="228600"/>
          </a:xfrm>
        </p:grpSpPr>
        <p:sp>
          <p:nvSpPr>
            <p:cNvPr id="660"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661" name="67,855"/>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67,855</a:t>
              </a:r>
            </a:p>
          </p:txBody>
        </p:sp>
      </p:grpSp>
      <p:grpSp>
        <p:nvGrpSpPr>
          <p:cNvPr id="665" name="Group"/>
          <p:cNvGrpSpPr/>
          <p:nvPr/>
        </p:nvGrpSpPr>
        <p:grpSpPr>
          <a:xfrm>
            <a:off x="7810500" y="3048000"/>
            <a:ext cx="1143000" cy="266700"/>
            <a:chOff x="0" y="0"/>
            <a:chExt cx="1143000" cy="266700"/>
          </a:xfrm>
        </p:grpSpPr>
        <p:sp>
          <p:nvSpPr>
            <p:cNvPr id="663"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664" name="Highly Active"/>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Highly Active</a:t>
              </a:r>
            </a:p>
          </p:txBody>
        </p:sp>
      </p:grpSp>
      <p:sp>
        <p:nvSpPr>
          <p:cNvPr id="666" name="Rectangle"/>
          <p:cNvSpPr/>
          <p:nvPr/>
        </p:nvSpPr>
        <p:spPr>
          <a:xfrm>
            <a:off x="8953500" y="3114675"/>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67" name="Rectangle"/>
          <p:cNvSpPr/>
          <p:nvPr/>
        </p:nvSpPr>
        <p:spPr>
          <a:xfrm>
            <a:off x="8953500" y="3114675"/>
            <a:ext cx="589980" cy="152400"/>
          </a:xfrm>
          <a:prstGeom prst="rect">
            <a:avLst/>
          </a:prstGeom>
          <a:solidFill>
            <a:srgbClr val="3C9D72"/>
          </a:solidFill>
          <a:ln w="3175">
            <a:solidFill>
              <a:srgbClr val="000000">
                <a:alpha val="0"/>
              </a:srgbClr>
            </a:solidFill>
          </a:ln>
        </p:spPr>
        <p:txBody>
          <a:bodyPr lIns="0" tIns="0" rIns="0" bIns="0"/>
          <a:lstStyle/>
          <a:p>
            <a:endParaRPr/>
          </a:p>
        </p:txBody>
      </p:sp>
      <p:grpSp>
        <p:nvGrpSpPr>
          <p:cNvPr id="670" name="Group"/>
          <p:cNvGrpSpPr/>
          <p:nvPr/>
        </p:nvGrpSpPr>
        <p:grpSpPr>
          <a:xfrm>
            <a:off x="10525125" y="3057525"/>
            <a:ext cx="619125" cy="228600"/>
            <a:chOff x="0" y="0"/>
            <a:chExt cx="619125" cy="228600"/>
          </a:xfrm>
        </p:grpSpPr>
        <p:sp>
          <p:nvSpPr>
            <p:cNvPr id="668"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669" name="26,942"/>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26,942</a:t>
              </a:r>
            </a:p>
          </p:txBody>
        </p:sp>
      </p:grpSp>
      <p:grpSp>
        <p:nvGrpSpPr>
          <p:cNvPr id="673" name="Group"/>
          <p:cNvGrpSpPr/>
          <p:nvPr/>
        </p:nvGrpSpPr>
        <p:grpSpPr>
          <a:xfrm>
            <a:off x="7810500" y="3476625"/>
            <a:ext cx="1143000" cy="266700"/>
            <a:chOff x="0" y="0"/>
            <a:chExt cx="1143000" cy="266700"/>
          </a:xfrm>
        </p:grpSpPr>
        <p:sp>
          <p:nvSpPr>
            <p:cNvPr id="671"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672" name="Active"/>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Active</a:t>
              </a:r>
            </a:p>
          </p:txBody>
        </p:sp>
      </p:grpSp>
      <p:sp>
        <p:nvSpPr>
          <p:cNvPr id="674" name="Rectangle"/>
          <p:cNvSpPr/>
          <p:nvPr/>
        </p:nvSpPr>
        <p:spPr>
          <a:xfrm>
            <a:off x="8953500" y="3543300"/>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75" name="Rectangle"/>
          <p:cNvSpPr/>
          <p:nvPr/>
        </p:nvSpPr>
        <p:spPr>
          <a:xfrm>
            <a:off x="8953500" y="3543300"/>
            <a:ext cx="240090" cy="152400"/>
          </a:xfrm>
          <a:prstGeom prst="rect">
            <a:avLst/>
          </a:prstGeom>
          <a:solidFill>
            <a:srgbClr val="2C6FB2"/>
          </a:solidFill>
          <a:ln w="3175">
            <a:solidFill>
              <a:srgbClr val="000000">
                <a:alpha val="0"/>
              </a:srgbClr>
            </a:solidFill>
          </a:ln>
        </p:spPr>
        <p:txBody>
          <a:bodyPr lIns="0" tIns="0" rIns="0" bIns="0"/>
          <a:lstStyle/>
          <a:p>
            <a:endParaRPr/>
          </a:p>
        </p:txBody>
      </p:sp>
      <p:grpSp>
        <p:nvGrpSpPr>
          <p:cNvPr id="678" name="Group"/>
          <p:cNvGrpSpPr/>
          <p:nvPr/>
        </p:nvGrpSpPr>
        <p:grpSpPr>
          <a:xfrm>
            <a:off x="10525125" y="3486150"/>
            <a:ext cx="619125" cy="228600"/>
            <a:chOff x="0" y="0"/>
            <a:chExt cx="619125" cy="228600"/>
          </a:xfrm>
        </p:grpSpPr>
        <p:sp>
          <p:nvSpPr>
            <p:cNvPr id="676"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677" name="10,964"/>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10,964</a:t>
              </a:r>
            </a:p>
          </p:txBody>
        </p:sp>
      </p:grpSp>
      <p:grpSp>
        <p:nvGrpSpPr>
          <p:cNvPr id="681" name="Group"/>
          <p:cNvGrpSpPr/>
          <p:nvPr/>
        </p:nvGrpSpPr>
        <p:grpSpPr>
          <a:xfrm>
            <a:off x="7810500" y="3905250"/>
            <a:ext cx="1143000" cy="266700"/>
            <a:chOff x="0" y="0"/>
            <a:chExt cx="1143000" cy="266700"/>
          </a:xfrm>
        </p:grpSpPr>
        <p:sp>
          <p:nvSpPr>
            <p:cNvPr id="679"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680" name="Potential"/>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Potential</a:t>
              </a:r>
            </a:p>
          </p:txBody>
        </p:sp>
      </p:grpSp>
      <p:sp>
        <p:nvSpPr>
          <p:cNvPr id="682" name="Rectangle"/>
          <p:cNvSpPr/>
          <p:nvPr/>
        </p:nvSpPr>
        <p:spPr>
          <a:xfrm>
            <a:off x="8953500" y="3971925"/>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83" name="Rectangle"/>
          <p:cNvSpPr/>
          <p:nvPr/>
        </p:nvSpPr>
        <p:spPr>
          <a:xfrm>
            <a:off x="8953499" y="3971925"/>
            <a:ext cx="100799" cy="152400"/>
          </a:xfrm>
          <a:prstGeom prst="rect">
            <a:avLst/>
          </a:prstGeom>
          <a:solidFill>
            <a:srgbClr val="D99A16"/>
          </a:solidFill>
          <a:ln w="3175">
            <a:solidFill>
              <a:srgbClr val="000000">
                <a:alpha val="0"/>
              </a:srgbClr>
            </a:solidFill>
          </a:ln>
        </p:spPr>
        <p:txBody>
          <a:bodyPr lIns="0" tIns="0" rIns="0" bIns="0"/>
          <a:lstStyle/>
          <a:p>
            <a:endParaRPr/>
          </a:p>
        </p:txBody>
      </p:sp>
      <p:grpSp>
        <p:nvGrpSpPr>
          <p:cNvPr id="686" name="Group"/>
          <p:cNvGrpSpPr/>
          <p:nvPr/>
        </p:nvGrpSpPr>
        <p:grpSpPr>
          <a:xfrm>
            <a:off x="10525125" y="3914775"/>
            <a:ext cx="619125" cy="228600"/>
            <a:chOff x="0" y="0"/>
            <a:chExt cx="619125" cy="228600"/>
          </a:xfrm>
        </p:grpSpPr>
        <p:sp>
          <p:nvSpPr>
            <p:cNvPr id="684"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685" name="4,603"/>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4,603</a:t>
              </a:r>
            </a:p>
          </p:txBody>
        </p:sp>
      </p:grpSp>
      <p:grpSp>
        <p:nvGrpSpPr>
          <p:cNvPr id="689" name="Group"/>
          <p:cNvGrpSpPr/>
          <p:nvPr/>
        </p:nvGrpSpPr>
        <p:grpSpPr>
          <a:xfrm>
            <a:off x="7810500" y="4333875"/>
            <a:ext cx="1143000" cy="266700"/>
            <a:chOff x="0" y="0"/>
            <a:chExt cx="1143000" cy="266700"/>
          </a:xfrm>
        </p:grpSpPr>
        <p:sp>
          <p:nvSpPr>
            <p:cNvPr id="687"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688" name="Least Loyal"/>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Least Loyal</a:t>
              </a:r>
            </a:p>
          </p:txBody>
        </p:sp>
      </p:grpSp>
      <p:sp>
        <p:nvSpPr>
          <p:cNvPr id="690" name="Rectangle"/>
          <p:cNvSpPr/>
          <p:nvPr/>
        </p:nvSpPr>
        <p:spPr>
          <a:xfrm>
            <a:off x="8953500" y="4400550"/>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91" name="Rectangle"/>
          <p:cNvSpPr/>
          <p:nvPr/>
        </p:nvSpPr>
        <p:spPr>
          <a:xfrm>
            <a:off x="8952591" y="4400550"/>
            <a:ext cx="12701" cy="152400"/>
          </a:xfrm>
          <a:prstGeom prst="rect">
            <a:avLst/>
          </a:prstGeom>
          <a:solidFill>
            <a:srgbClr val="C94E3C"/>
          </a:solidFill>
          <a:ln w="3175">
            <a:solidFill>
              <a:srgbClr val="000000">
                <a:alpha val="0"/>
              </a:srgbClr>
            </a:solidFill>
          </a:ln>
        </p:spPr>
        <p:txBody>
          <a:bodyPr lIns="0" tIns="0" rIns="0" bIns="0"/>
          <a:lstStyle/>
          <a:p>
            <a:endParaRPr/>
          </a:p>
        </p:txBody>
      </p:sp>
      <p:grpSp>
        <p:nvGrpSpPr>
          <p:cNvPr id="694" name="Group"/>
          <p:cNvGrpSpPr/>
          <p:nvPr/>
        </p:nvGrpSpPr>
        <p:grpSpPr>
          <a:xfrm>
            <a:off x="10525125" y="4343400"/>
            <a:ext cx="619125" cy="228600"/>
            <a:chOff x="0" y="0"/>
            <a:chExt cx="619125" cy="228600"/>
          </a:xfrm>
        </p:grpSpPr>
        <p:sp>
          <p:nvSpPr>
            <p:cNvPr id="692"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693" name="497"/>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497</a:t>
              </a:r>
            </a:p>
          </p:txBody>
        </p:sp>
      </p:grpSp>
      <p:grpSp>
        <p:nvGrpSpPr>
          <p:cNvPr id="697" name="Group"/>
          <p:cNvGrpSpPr/>
          <p:nvPr/>
        </p:nvGrpSpPr>
        <p:grpSpPr>
          <a:xfrm>
            <a:off x="7810500" y="4762500"/>
            <a:ext cx="1143000" cy="266700"/>
            <a:chOff x="0" y="0"/>
            <a:chExt cx="1143000" cy="266700"/>
          </a:xfrm>
        </p:grpSpPr>
        <p:sp>
          <p:nvSpPr>
            <p:cNvPr id="695" name="Rectangle"/>
            <p:cNvSpPr/>
            <p:nvPr/>
          </p:nvSpPr>
          <p:spPr>
            <a:xfrm>
              <a:off x="0" y="0"/>
              <a:ext cx="1143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696" name="Inactive"/>
            <p:cNvSpPr txBox="1"/>
            <p:nvPr/>
          </p:nvSpPr>
          <p:spPr>
            <a:xfrm>
              <a:off x="0" y="0"/>
              <a:ext cx="1143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Inactive</a:t>
              </a:r>
            </a:p>
          </p:txBody>
        </p:sp>
      </p:grpSp>
      <p:sp>
        <p:nvSpPr>
          <p:cNvPr id="698" name="Rectangle"/>
          <p:cNvSpPr/>
          <p:nvPr/>
        </p:nvSpPr>
        <p:spPr>
          <a:xfrm>
            <a:off x="8953500" y="4829175"/>
            <a:ext cx="1485900" cy="152400"/>
          </a:xfrm>
          <a:prstGeom prst="rect">
            <a:avLst/>
          </a:prstGeom>
          <a:solidFill>
            <a:srgbClr val="E7ECEA"/>
          </a:solidFill>
          <a:ln w="3175">
            <a:solidFill>
              <a:srgbClr val="000000">
                <a:alpha val="0"/>
              </a:srgbClr>
            </a:solidFill>
          </a:ln>
        </p:spPr>
        <p:txBody>
          <a:bodyPr lIns="0" tIns="0" rIns="0" bIns="0"/>
          <a:lstStyle/>
          <a:p>
            <a:endParaRPr/>
          </a:p>
        </p:txBody>
      </p:sp>
      <p:sp>
        <p:nvSpPr>
          <p:cNvPr id="699" name="Rectangle"/>
          <p:cNvSpPr/>
          <p:nvPr/>
        </p:nvSpPr>
        <p:spPr>
          <a:xfrm>
            <a:off x="8951912" y="4829175"/>
            <a:ext cx="12701" cy="152400"/>
          </a:xfrm>
          <a:prstGeom prst="rect">
            <a:avLst/>
          </a:prstGeom>
          <a:solidFill>
            <a:srgbClr val="5E6A70"/>
          </a:solidFill>
          <a:ln w="3175">
            <a:solidFill>
              <a:srgbClr val="000000">
                <a:alpha val="0"/>
              </a:srgbClr>
            </a:solidFill>
          </a:ln>
        </p:spPr>
        <p:txBody>
          <a:bodyPr lIns="0" tIns="0" rIns="0" bIns="0"/>
          <a:lstStyle/>
          <a:p>
            <a:endParaRPr/>
          </a:p>
        </p:txBody>
      </p:sp>
      <p:grpSp>
        <p:nvGrpSpPr>
          <p:cNvPr id="702" name="Group"/>
          <p:cNvGrpSpPr/>
          <p:nvPr/>
        </p:nvGrpSpPr>
        <p:grpSpPr>
          <a:xfrm>
            <a:off x="10525125" y="4772025"/>
            <a:ext cx="619125" cy="228600"/>
            <a:chOff x="0" y="0"/>
            <a:chExt cx="619125" cy="228600"/>
          </a:xfrm>
        </p:grpSpPr>
        <p:sp>
          <p:nvSpPr>
            <p:cNvPr id="700"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701" name="0"/>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0</a:t>
              </a:r>
            </a:p>
          </p:txBody>
        </p:sp>
      </p:grpSp>
      <p:grpSp>
        <p:nvGrpSpPr>
          <p:cNvPr id="705" name="Group"/>
          <p:cNvGrpSpPr/>
          <p:nvPr/>
        </p:nvGrpSpPr>
        <p:grpSpPr>
          <a:xfrm>
            <a:off x="7810500" y="5543550"/>
            <a:ext cx="3333750" cy="495300"/>
            <a:chOff x="0" y="0"/>
            <a:chExt cx="3333750" cy="495300"/>
          </a:xfrm>
        </p:grpSpPr>
        <p:sp>
          <p:nvSpPr>
            <p:cNvPr id="703" name="Rectangle"/>
            <p:cNvSpPr/>
            <p:nvPr/>
          </p:nvSpPr>
          <p:spPr>
            <a:xfrm>
              <a:off x="0" y="0"/>
              <a:ext cx="3333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704" name="Most Loyal customers are not only slightly ahead; their average points are far above every other segment."/>
            <p:cNvSpPr txBox="1"/>
            <p:nvPr/>
          </p:nvSpPr>
          <p:spPr>
            <a:xfrm>
              <a:off x="0" y="0"/>
              <a:ext cx="3333750" cy="495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Most Loyal customers are not only slightly ahead; their average points are far above every other segment.</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708"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711" name="Group"/>
          <p:cNvGrpSpPr/>
          <p:nvPr/>
        </p:nvGrpSpPr>
        <p:grpSpPr>
          <a:xfrm>
            <a:off x="533400" y="323850"/>
            <a:ext cx="4953000" cy="228600"/>
            <a:chOff x="0" y="0"/>
            <a:chExt cx="4953000" cy="228600"/>
          </a:xfrm>
        </p:grpSpPr>
        <p:sp>
          <p:nvSpPr>
            <p:cNvPr id="70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710"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714" name="Group"/>
          <p:cNvGrpSpPr/>
          <p:nvPr/>
        </p:nvGrpSpPr>
        <p:grpSpPr>
          <a:xfrm>
            <a:off x="533400" y="723900"/>
            <a:ext cx="6667500" cy="609600"/>
            <a:chOff x="0" y="0"/>
            <a:chExt cx="6667500" cy="609600"/>
          </a:xfrm>
        </p:grpSpPr>
        <p:sp>
          <p:nvSpPr>
            <p:cNvPr id="712"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713" name="Behavioral Clustering"/>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Behavioral Clustering</a:t>
              </a:r>
            </a:p>
          </p:txBody>
        </p:sp>
      </p:grpSp>
      <p:grpSp>
        <p:nvGrpSpPr>
          <p:cNvPr id="717" name="Group"/>
          <p:cNvGrpSpPr/>
          <p:nvPr/>
        </p:nvGrpSpPr>
        <p:grpSpPr>
          <a:xfrm>
            <a:off x="552450" y="1485900"/>
            <a:ext cx="6477000" cy="457200"/>
            <a:chOff x="0" y="0"/>
            <a:chExt cx="6477000" cy="457200"/>
          </a:xfrm>
        </p:grpSpPr>
        <p:sp>
          <p:nvSpPr>
            <p:cNvPr id="715"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716" name="KMeans adds a second view of the members by grouping similar behavior patterns without using the loyalty segment label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KMeans adds a second view of the members by grouping similar behavior patterns without using the loyalty segment labels.</a:t>
              </a:r>
            </a:p>
          </p:txBody>
        </p:sp>
      </p:grpSp>
      <p:grpSp>
        <p:nvGrpSpPr>
          <p:cNvPr id="720" name="Group"/>
          <p:cNvGrpSpPr/>
          <p:nvPr/>
        </p:nvGrpSpPr>
        <p:grpSpPr>
          <a:xfrm>
            <a:off x="533400" y="6438900"/>
            <a:ext cx="4953000" cy="228600"/>
            <a:chOff x="0" y="0"/>
            <a:chExt cx="4953000" cy="228600"/>
          </a:xfrm>
        </p:grpSpPr>
        <p:sp>
          <p:nvSpPr>
            <p:cNvPr id="71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719"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723" name="Group"/>
          <p:cNvGrpSpPr/>
          <p:nvPr/>
        </p:nvGrpSpPr>
        <p:grpSpPr>
          <a:xfrm>
            <a:off x="11125200" y="6419850"/>
            <a:ext cx="514350" cy="228600"/>
            <a:chOff x="0" y="0"/>
            <a:chExt cx="514350" cy="228600"/>
          </a:xfrm>
        </p:grpSpPr>
        <p:sp>
          <p:nvSpPr>
            <p:cNvPr id="721"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722" name="08"/>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08</a:t>
              </a:r>
            </a:p>
          </p:txBody>
        </p:sp>
      </p:grpSp>
      <p:sp>
        <p:nvSpPr>
          <p:cNvPr id="724" name="Circle"/>
          <p:cNvSpPr/>
          <p:nvPr/>
        </p:nvSpPr>
        <p:spPr>
          <a:xfrm>
            <a:off x="952500" y="2381249"/>
            <a:ext cx="1485900" cy="1485901"/>
          </a:xfrm>
          <a:prstGeom prst="ellipse">
            <a:avLst/>
          </a:prstGeom>
          <a:solidFill>
            <a:srgbClr val="2C6FB2"/>
          </a:solidFill>
          <a:ln w="28575">
            <a:solidFill>
              <a:srgbClr val="FFFFFF"/>
            </a:solidFill>
          </a:ln>
        </p:spPr>
        <p:txBody>
          <a:bodyPr lIns="0" tIns="0" rIns="0" bIns="0"/>
          <a:lstStyle/>
          <a:p>
            <a:endParaRPr/>
          </a:p>
        </p:txBody>
      </p:sp>
      <p:grpSp>
        <p:nvGrpSpPr>
          <p:cNvPr id="727" name="Group"/>
          <p:cNvGrpSpPr/>
          <p:nvPr/>
        </p:nvGrpSpPr>
        <p:grpSpPr>
          <a:xfrm>
            <a:off x="1200150" y="2857500"/>
            <a:ext cx="990600" cy="228600"/>
            <a:chOff x="0" y="0"/>
            <a:chExt cx="990600" cy="228600"/>
          </a:xfrm>
        </p:grpSpPr>
        <p:sp>
          <p:nvSpPr>
            <p:cNvPr id="725" name="Rectangle"/>
            <p:cNvSpPr/>
            <p:nvPr/>
          </p:nvSpPr>
          <p:spPr>
            <a:xfrm>
              <a:off x="0" y="0"/>
              <a:ext cx="9906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FFFFFF"/>
                  </a:solidFill>
                  <a:latin typeface="Aptos"/>
                  <a:ea typeface="Aptos"/>
                  <a:cs typeface="Aptos"/>
                  <a:sym typeface="Aptos"/>
                </a:defRPr>
              </a:pPr>
              <a:endParaRPr/>
            </a:p>
          </p:txBody>
        </p:sp>
        <p:sp>
          <p:nvSpPr>
            <p:cNvPr id="726" name="Cluster 0"/>
            <p:cNvSpPr txBox="1"/>
            <p:nvPr/>
          </p:nvSpPr>
          <p:spPr>
            <a:xfrm>
              <a:off x="0" y="0"/>
              <a:ext cx="9906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FFFFFF"/>
                  </a:solidFill>
                  <a:latin typeface="Aptos"/>
                  <a:ea typeface="Aptos"/>
                  <a:cs typeface="Aptos"/>
                  <a:sym typeface="Aptos"/>
                </a:defRPr>
              </a:lvl1pPr>
            </a:lstStyle>
            <a:p>
              <a:r>
                <a:t>Cluster 0</a:t>
              </a:r>
            </a:p>
          </p:txBody>
        </p:sp>
      </p:grpSp>
      <p:grpSp>
        <p:nvGrpSpPr>
          <p:cNvPr id="730" name="Group"/>
          <p:cNvGrpSpPr/>
          <p:nvPr/>
        </p:nvGrpSpPr>
        <p:grpSpPr>
          <a:xfrm>
            <a:off x="1266825" y="3171825"/>
            <a:ext cx="857250" cy="190500"/>
            <a:chOff x="0" y="0"/>
            <a:chExt cx="857250" cy="190500"/>
          </a:xfrm>
        </p:grpSpPr>
        <p:sp>
          <p:nvSpPr>
            <p:cNvPr id="728" name="Rectangle"/>
            <p:cNvSpPr/>
            <p:nvPr/>
          </p:nvSpPr>
          <p:spPr>
            <a:xfrm>
              <a:off x="0" y="0"/>
              <a:ext cx="857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FFFFFF"/>
                  </a:solidFill>
                  <a:latin typeface="Aptos"/>
                  <a:ea typeface="Aptos"/>
                  <a:cs typeface="Aptos"/>
                  <a:sym typeface="Aptos"/>
                </a:defRPr>
              </a:pPr>
              <a:endParaRPr/>
            </a:p>
          </p:txBody>
        </p:sp>
        <p:sp>
          <p:nvSpPr>
            <p:cNvPr id="729" name="186 members"/>
            <p:cNvSpPr txBox="1"/>
            <p:nvPr/>
          </p:nvSpPr>
          <p:spPr>
            <a:xfrm>
              <a:off x="0" y="0"/>
              <a:ext cx="857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FFFFFF"/>
                  </a:solidFill>
                  <a:latin typeface="Aptos"/>
                  <a:ea typeface="Aptos"/>
                  <a:cs typeface="Aptos"/>
                  <a:sym typeface="Aptos"/>
                </a:defRPr>
              </a:lvl1pPr>
            </a:lstStyle>
            <a:p>
              <a:r>
                <a:t>186 members</a:t>
              </a:r>
            </a:p>
          </p:txBody>
        </p:sp>
      </p:grpSp>
      <p:grpSp>
        <p:nvGrpSpPr>
          <p:cNvPr id="733" name="Group"/>
          <p:cNvGrpSpPr/>
          <p:nvPr/>
        </p:nvGrpSpPr>
        <p:grpSpPr>
          <a:xfrm>
            <a:off x="857250" y="4238625"/>
            <a:ext cx="1676400" cy="228600"/>
            <a:chOff x="0" y="0"/>
            <a:chExt cx="1676400" cy="228600"/>
          </a:xfrm>
        </p:grpSpPr>
        <p:sp>
          <p:nvSpPr>
            <p:cNvPr id="731" name="Rectangle"/>
            <p:cNvSpPr/>
            <p:nvPr/>
          </p:nvSpPr>
          <p:spPr>
            <a:xfrm>
              <a:off x="0" y="0"/>
              <a:ext cx="16764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10242C"/>
                  </a:solidFill>
                  <a:latin typeface="Aptos"/>
                  <a:ea typeface="Aptos"/>
                  <a:cs typeface="Aptos"/>
                  <a:sym typeface="Aptos"/>
                </a:defRPr>
              </a:pPr>
              <a:endParaRPr/>
            </a:p>
          </p:txBody>
        </p:sp>
        <p:sp>
          <p:nvSpPr>
            <p:cNvPr id="732" name="11,476 avg points"/>
            <p:cNvSpPr txBox="1"/>
            <p:nvPr/>
          </p:nvSpPr>
          <p:spPr>
            <a:xfrm>
              <a:off x="0" y="0"/>
              <a:ext cx="16764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10242C"/>
                  </a:solidFill>
                  <a:latin typeface="Aptos"/>
                  <a:ea typeface="Aptos"/>
                  <a:cs typeface="Aptos"/>
                  <a:sym typeface="Aptos"/>
                </a:defRPr>
              </a:lvl1pPr>
            </a:lstStyle>
            <a:p>
              <a:r>
                <a:t>11,476 avg points</a:t>
              </a:r>
            </a:p>
          </p:txBody>
        </p:sp>
      </p:grpSp>
      <p:grpSp>
        <p:nvGrpSpPr>
          <p:cNvPr id="736" name="Group"/>
          <p:cNvGrpSpPr/>
          <p:nvPr/>
        </p:nvGrpSpPr>
        <p:grpSpPr>
          <a:xfrm>
            <a:off x="857250" y="4514850"/>
            <a:ext cx="1676400" cy="419100"/>
            <a:chOff x="0" y="0"/>
            <a:chExt cx="1676400" cy="419100"/>
          </a:xfrm>
        </p:grpSpPr>
        <p:sp>
          <p:nvSpPr>
            <p:cNvPr id="734" name="Rectangle"/>
            <p:cNvSpPr/>
            <p:nvPr/>
          </p:nvSpPr>
          <p:spPr>
            <a:xfrm>
              <a:off x="0" y="0"/>
              <a:ext cx="167640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735" name="32.5 avg score…"/>
            <p:cNvSpPr txBox="1"/>
            <p:nvPr/>
          </p:nvSpPr>
          <p:spPr>
            <a:xfrm>
              <a:off x="0" y="0"/>
              <a:ext cx="16764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defRPr sz="900">
                  <a:solidFill>
                    <a:srgbClr val="5E6A70"/>
                  </a:solidFill>
                  <a:latin typeface="Aptos"/>
                  <a:ea typeface="Aptos"/>
                  <a:cs typeface="Aptos"/>
                  <a:sym typeface="Aptos"/>
                </a:defRPr>
              </a:pPr>
              <a:r>
                <a:t>32.5 avg score</a:t>
              </a:r>
            </a:p>
            <a:p>
              <a:pPr algn="ctr">
                <a:defRPr sz="900">
                  <a:solidFill>
                    <a:srgbClr val="5E6A70"/>
                  </a:solidFill>
                  <a:latin typeface="Aptos"/>
                  <a:ea typeface="Aptos"/>
                  <a:cs typeface="Aptos"/>
                  <a:sym typeface="Aptos"/>
                </a:defRPr>
              </a:pPr>
              <a:r>
                <a:t>332 avg membership days</a:t>
              </a:r>
            </a:p>
          </p:txBody>
        </p:sp>
      </p:grpSp>
      <p:sp>
        <p:nvSpPr>
          <p:cNvPr id="737" name="Rectangle"/>
          <p:cNvSpPr/>
          <p:nvPr/>
        </p:nvSpPr>
        <p:spPr>
          <a:xfrm>
            <a:off x="1143000" y="5048250"/>
            <a:ext cx="1104900" cy="114300"/>
          </a:xfrm>
          <a:prstGeom prst="rect">
            <a:avLst/>
          </a:prstGeom>
          <a:solidFill>
            <a:srgbClr val="E6ECE9"/>
          </a:solidFill>
          <a:ln w="3175">
            <a:solidFill>
              <a:srgbClr val="000000">
                <a:alpha val="0"/>
              </a:srgbClr>
            </a:solidFill>
          </a:ln>
        </p:spPr>
        <p:txBody>
          <a:bodyPr lIns="0" tIns="0" rIns="0" bIns="0"/>
          <a:lstStyle/>
          <a:p>
            <a:endParaRPr/>
          </a:p>
        </p:txBody>
      </p:sp>
      <p:sp>
        <p:nvSpPr>
          <p:cNvPr id="738" name="Rectangle"/>
          <p:cNvSpPr/>
          <p:nvPr/>
        </p:nvSpPr>
        <p:spPr>
          <a:xfrm>
            <a:off x="1143000" y="5048250"/>
            <a:ext cx="145155" cy="114300"/>
          </a:xfrm>
          <a:prstGeom prst="rect">
            <a:avLst/>
          </a:prstGeom>
          <a:solidFill>
            <a:srgbClr val="2C6FB2"/>
          </a:solidFill>
          <a:ln w="3175">
            <a:solidFill>
              <a:srgbClr val="000000">
                <a:alpha val="0"/>
              </a:srgbClr>
            </a:solidFill>
          </a:ln>
        </p:spPr>
        <p:txBody>
          <a:bodyPr lIns="0" tIns="0" rIns="0" bIns="0"/>
          <a:lstStyle/>
          <a:p>
            <a:endParaRPr/>
          </a:p>
        </p:txBody>
      </p:sp>
      <p:sp>
        <p:nvSpPr>
          <p:cNvPr id="739" name="Circle"/>
          <p:cNvSpPr/>
          <p:nvPr/>
        </p:nvSpPr>
        <p:spPr>
          <a:xfrm>
            <a:off x="3522405" y="2588955"/>
            <a:ext cx="1070489" cy="1070489"/>
          </a:xfrm>
          <a:prstGeom prst="ellipse">
            <a:avLst/>
          </a:prstGeom>
          <a:solidFill>
            <a:srgbClr val="3C9D72"/>
          </a:solidFill>
          <a:ln w="28575">
            <a:solidFill>
              <a:srgbClr val="FFFFFF"/>
            </a:solidFill>
          </a:ln>
        </p:spPr>
        <p:txBody>
          <a:bodyPr lIns="0" tIns="0" rIns="0" bIns="0"/>
          <a:lstStyle/>
          <a:p>
            <a:endParaRPr/>
          </a:p>
        </p:txBody>
      </p:sp>
      <p:grpSp>
        <p:nvGrpSpPr>
          <p:cNvPr id="742" name="Group"/>
          <p:cNvGrpSpPr/>
          <p:nvPr/>
        </p:nvGrpSpPr>
        <p:grpSpPr>
          <a:xfrm>
            <a:off x="3562350" y="2857500"/>
            <a:ext cx="990600" cy="228600"/>
            <a:chOff x="0" y="0"/>
            <a:chExt cx="990600" cy="228600"/>
          </a:xfrm>
        </p:grpSpPr>
        <p:sp>
          <p:nvSpPr>
            <p:cNvPr id="740" name="Rectangle"/>
            <p:cNvSpPr/>
            <p:nvPr/>
          </p:nvSpPr>
          <p:spPr>
            <a:xfrm>
              <a:off x="0" y="0"/>
              <a:ext cx="9906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FFFFFF"/>
                  </a:solidFill>
                  <a:latin typeface="Aptos"/>
                  <a:ea typeface="Aptos"/>
                  <a:cs typeface="Aptos"/>
                  <a:sym typeface="Aptos"/>
                </a:defRPr>
              </a:pPr>
              <a:endParaRPr/>
            </a:p>
          </p:txBody>
        </p:sp>
        <p:sp>
          <p:nvSpPr>
            <p:cNvPr id="741" name="Cluster 1"/>
            <p:cNvSpPr txBox="1"/>
            <p:nvPr/>
          </p:nvSpPr>
          <p:spPr>
            <a:xfrm>
              <a:off x="0" y="0"/>
              <a:ext cx="9906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FFFFFF"/>
                  </a:solidFill>
                  <a:latin typeface="Aptos"/>
                  <a:ea typeface="Aptos"/>
                  <a:cs typeface="Aptos"/>
                  <a:sym typeface="Aptos"/>
                </a:defRPr>
              </a:lvl1pPr>
            </a:lstStyle>
            <a:p>
              <a:r>
                <a:t>Cluster 1</a:t>
              </a:r>
            </a:p>
          </p:txBody>
        </p:sp>
      </p:grpSp>
      <p:grpSp>
        <p:nvGrpSpPr>
          <p:cNvPr id="745" name="Group"/>
          <p:cNvGrpSpPr/>
          <p:nvPr/>
        </p:nvGrpSpPr>
        <p:grpSpPr>
          <a:xfrm>
            <a:off x="3629025" y="3171825"/>
            <a:ext cx="857250" cy="190500"/>
            <a:chOff x="0" y="0"/>
            <a:chExt cx="857250" cy="190500"/>
          </a:xfrm>
        </p:grpSpPr>
        <p:sp>
          <p:nvSpPr>
            <p:cNvPr id="743" name="Rectangle"/>
            <p:cNvSpPr/>
            <p:nvPr/>
          </p:nvSpPr>
          <p:spPr>
            <a:xfrm>
              <a:off x="0" y="0"/>
              <a:ext cx="857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FFFFFF"/>
                  </a:solidFill>
                  <a:latin typeface="Aptos"/>
                  <a:ea typeface="Aptos"/>
                  <a:cs typeface="Aptos"/>
                  <a:sym typeface="Aptos"/>
                </a:defRPr>
              </a:pPr>
              <a:endParaRPr/>
            </a:p>
          </p:txBody>
        </p:sp>
        <p:sp>
          <p:nvSpPr>
            <p:cNvPr id="744" name="82 members"/>
            <p:cNvSpPr txBox="1"/>
            <p:nvPr/>
          </p:nvSpPr>
          <p:spPr>
            <a:xfrm>
              <a:off x="0" y="0"/>
              <a:ext cx="857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FFFFFF"/>
                  </a:solidFill>
                  <a:latin typeface="Aptos"/>
                  <a:ea typeface="Aptos"/>
                  <a:cs typeface="Aptos"/>
                  <a:sym typeface="Aptos"/>
                </a:defRPr>
              </a:lvl1pPr>
            </a:lstStyle>
            <a:p>
              <a:r>
                <a:t>82 members</a:t>
              </a:r>
            </a:p>
          </p:txBody>
        </p:sp>
      </p:grpSp>
      <p:grpSp>
        <p:nvGrpSpPr>
          <p:cNvPr id="748" name="Group"/>
          <p:cNvGrpSpPr/>
          <p:nvPr/>
        </p:nvGrpSpPr>
        <p:grpSpPr>
          <a:xfrm>
            <a:off x="3219450" y="4238625"/>
            <a:ext cx="1676400" cy="228600"/>
            <a:chOff x="0" y="0"/>
            <a:chExt cx="1676400" cy="228600"/>
          </a:xfrm>
        </p:grpSpPr>
        <p:sp>
          <p:nvSpPr>
            <p:cNvPr id="746" name="Rectangle"/>
            <p:cNvSpPr/>
            <p:nvPr/>
          </p:nvSpPr>
          <p:spPr>
            <a:xfrm>
              <a:off x="0" y="0"/>
              <a:ext cx="16764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10242C"/>
                  </a:solidFill>
                  <a:latin typeface="Aptos"/>
                  <a:ea typeface="Aptos"/>
                  <a:cs typeface="Aptos"/>
                  <a:sym typeface="Aptos"/>
                </a:defRPr>
              </a:pPr>
              <a:endParaRPr/>
            </a:p>
          </p:txBody>
        </p:sp>
        <p:sp>
          <p:nvSpPr>
            <p:cNvPr id="747" name="37,813 avg points"/>
            <p:cNvSpPr txBox="1"/>
            <p:nvPr/>
          </p:nvSpPr>
          <p:spPr>
            <a:xfrm>
              <a:off x="0" y="0"/>
              <a:ext cx="16764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10242C"/>
                  </a:solidFill>
                  <a:latin typeface="Aptos"/>
                  <a:ea typeface="Aptos"/>
                  <a:cs typeface="Aptos"/>
                  <a:sym typeface="Aptos"/>
                </a:defRPr>
              </a:lvl1pPr>
            </a:lstStyle>
            <a:p>
              <a:r>
                <a:t>37,813 avg points</a:t>
              </a:r>
            </a:p>
          </p:txBody>
        </p:sp>
      </p:grpSp>
      <p:grpSp>
        <p:nvGrpSpPr>
          <p:cNvPr id="751" name="Group"/>
          <p:cNvGrpSpPr/>
          <p:nvPr/>
        </p:nvGrpSpPr>
        <p:grpSpPr>
          <a:xfrm>
            <a:off x="3219450" y="4514850"/>
            <a:ext cx="1676400" cy="419100"/>
            <a:chOff x="0" y="0"/>
            <a:chExt cx="1676400" cy="419100"/>
          </a:xfrm>
        </p:grpSpPr>
        <p:sp>
          <p:nvSpPr>
            <p:cNvPr id="749" name="Rectangle"/>
            <p:cNvSpPr/>
            <p:nvPr/>
          </p:nvSpPr>
          <p:spPr>
            <a:xfrm>
              <a:off x="0" y="0"/>
              <a:ext cx="167640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750" name="43.8 avg score…"/>
            <p:cNvSpPr txBox="1"/>
            <p:nvPr/>
          </p:nvSpPr>
          <p:spPr>
            <a:xfrm>
              <a:off x="0" y="0"/>
              <a:ext cx="16764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defRPr sz="900">
                  <a:solidFill>
                    <a:srgbClr val="5E6A70"/>
                  </a:solidFill>
                  <a:latin typeface="Aptos"/>
                  <a:ea typeface="Aptos"/>
                  <a:cs typeface="Aptos"/>
                  <a:sym typeface="Aptos"/>
                </a:defRPr>
              </a:pPr>
              <a:r>
                <a:t>43.8 avg score</a:t>
              </a:r>
            </a:p>
            <a:p>
              <a:pPr algn="ctr">
                <a:defRPr sz="900">
                  <a:solidFill>
                    <a:srgbClr val="5E6A70"/>
                  </a:solidFill>
                  <a:latin typeface="Aptos"/>
                  <a:ea typeface="Aptos"/>
                  <a:cs typeface="Aptos"/>
                  <a:sym typeface="Aptos"/>
                </a:defRPr>
              </a:pPr>
              <a:r>
                <a:t>110 avg membership days</a:t>
              </a:r>
            </a:p>
          </p:txBody>
        </p:sp>
      </p:grpSp>
      <p:sp>
        <p:nvSpPr>
          <p:cNvPr id="752" name="Rectangle"/>
          <p:cNvSpPr/>
          <p:nvPr/>
        </p:nvSpPr>
        <p:spPr>
          <a:xfrm>
            <a:off x="3505200" y="5048250"/>
            <a:ext cx="1104900" cy="114300"/>
          </a:xfrm>
          <a:prstGeom prst="rect">
            <a:avLst/>
          </a:prstGeom>
          <a:solidFill>
            <a:srgbClr val="E6ECE9"/>
          </a:solidFill>
          <a:ln w="3175">
            <a:solidFill>
              <a:srgbClr val="000000">
                <a:alpha val="0"/>
              </a:srgbClr>
            </a:solidFill>
          </a:ln>
        </p:spPr>
        <p:txBody>
          <a:bodyPr lIns="0" tIns="0" rIns="0" bIns="0"/>
          <a:lstStyle/>
          <a:p>
            <a:endParaRPr/>
          </a:p>
        </p:txBody>
      </p:sp>
      <p:sp>
        <p:nvSpPr>
          <p:cNvPr id="753" name="Rectangle"/>
          <p:cNvSpPr/>
          <p:nvPr/>
        </p:nvSpPr>
        <p:spPr>
          <a:xfrm>
            <a:off x="3505200" y="5048250"/>
            <a:ext cx="478279" cy="114300"/>
          </a:xfrm>
          <a:prstGeom prst="rect">
            <a:avLst/>
          </a:prstGeom>
          <a:solidFill>
            <a:srgbClr val="3C9D72"/>
          </a:solidFill>
          <a:ln w="3175">
            <a:solidFill>
              <a:srgbClr val="000000">
                <a:alpha val="0"/>
              </a:srgbClr>
            </a:solidFill>
          </a:ln>
        </p:spPr>
        <p:txBody>
          <a:bodyPr lIns="0" tIns="0" rIns="0" bIns="0"/>
          <a:lstStyle/>
          <a:p>
            <a:endParaRPr/>
          </a:p>
        </p:txBody>
      </p:sp>
      <p:sp>
        <p:nvSpPr>
          <p:cNvPr id="754" name="Circle"/>
          <p:cNvSpPr/>
          <p:nvPr/>
        </p:nvSpPr>
        <p:spPr>
          <a:xfrm>
            <a:off x="5782750" y="2487099"/>
            <a:ext cx="1274201" cy="1274201"/>
          </a:xfrm>
          <a:prstGeom prst="ellipse">
            <a:avLst/>
          </a:prstGeom>
          <a:solidFill>
            <a:srgbClr val="D99A16"/>
          </a:solidFill>
          <a:ln w="28575">
            <a:solidFill>
              <a:srgbClr val="FFFFFF"/>
            </a:solidFill>
          </a:ln>
        </p:spPr>
        <p:txBody>
          <a:bodyPr lIns="0" tIns="0" rIns="0" bIns="0"/>
          <a:lstStyle/>
          <a:p>
            <a:endParaRPr/>
          </a:p>
        </p:txBody>
      </p:sp>
      <p:grpSp>
        <p:nvGrpSpPr>
          <p:cNvPr id="757" name="Group"/>
          <p:cNvGrpSpPr/>
          <p:nvPr/>
        </p:nvGrpSpPr>
        <p:grpSpPr>
          <a:xfrm>
            <a:off x="5924550" y="2857500"/>
            <a:ext cx="990600" cy="228600"/>
            <a:chOff x="0" y="0"/>
            <a:chExt cx="990600" cy="228600"/>
          </a:xfrm>
        </p:grpSpPr>
        <p:sp>
          <p:nvSpPr>
            <p:cNvPr id="755" name="Rectangle"/>
            <p:cNvSpPr/>
            <p:nvPr/>
          </p:nvSpPr>
          <p:spPr>
            <a:xfrm>
              <a:off x="0" y="0"/>
              <a:ext cx="9906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FFFFFF"/>
                  </a:solidFill>
                  <a:latin typeface="Aptos"/>
                  <a:ea typeface="Aptos"/>
                  <a:cs typeface="Aptos"/>
                  <a:sym typeface="Aptos"/>
                </a:defRPr>
              </a:pPr>
              <a:endParaRPr/>
            </a:p>
          </p:txBody>
        </p:sp>
        <p:sp>
          <p:nvSpPr>
            <p:cNvPr id="756" name="Cluster 2"/>
            <p:cNvSpPr txBox="1"/>
            <p:nvPr/>
          </p:nvSpPr>
          <p:spPr>
            <a:xfrm>
              <a:off x="0" y="0"/>
              <a:ext cx="9906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FFFFFF"/>
                  </a:solidFill>
                  <a:latin typeface="Aptos"/>
                  <a:ea typeface="Aptos"/>
                  <a:cs typeface="Aptos"/>
                  <a:sym typeface="Aptos"/>
                </a:defRPr>
              </a:lvl1pPr>
            </a:lstStyle>
            <a:p>
              <a:r>
                <a:t>Cluster 2</a:t>
              </a:r>
            </a:p>
          </p:txBody>
        </p:sp>
      </p:grpSp>
      <p:grpSp>
        <p:nvGrpSpPr>
          <p:cNvPr id="760" name="Group"/>
          <p:cNvGrpSpPr/>
          <p:nvPr/>
        </p:nvGrpSpPr>
        <p:grpSpPr>
          <a:xfrm>
            <a:off x="5991225" y="3171825"/>
            <a:ext cx="857250" cy="190500"/>
            <a:chOff x="0" y="0"/>
            <a:chExt cx="857250" cy="190500"/>
          </a:xfrm>
        </p:grpSpPr>
        <p:sp>
          <p:nvSpPr>
            <p:cNvPr id="758" name="Rectangle"/>
            <p:cNvSpPr/>
            <p:nvPr/>
          </p:nvSpPr>
          <p:spPr>
            <a:xfrm>
              <a:off x="0" y="0"/>
              <a:ext cx="857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FFFFFF"/>
                  </a:solidFill>
                  <a:latin typeface="Aptos"/>
                  <a:ea typeface="Aptos"/>
                  <a:cs typeface="Aptos"/>
                  <a:sym typeface="Aptos"/>
                </a:defRPr>
              </a:pPr>
              <a:endParaRPr/>
            </a:p>
          </p:txBody>
        </p:sp>
        <p:sp>
          <p:nvSpPr>
            <p:cNvPr id="759" name="133 members"/>
            <p:cNvSpPr txBox="1"/>
            <p:nvPr/>
          </p:nvSpPr>
          <p:spPr>
            <a:xfrm>
              <a:off x="0" y="0"/>
              <a:ext cx="857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FFFFFF"/>
                  </a:solidFill>
                  <a:latin typeface="Aptos"/>
                  <a:ea typeface="Aptos"/>
                  <a:cs typeface="Aptos"/>
                  <a:sym typeface="Aptos"/>
                </a:defRPr>
              </a:lvl1pPr>
            </a:lstStyle>
            <a:p>
              <a:r>
                <a:t>133 members</a:t>
              </a:r>
            </a:p>
          </p:txBody>
        </p:sp>
      </p:grpSp>
      <p:grpSp>
        <p:nvGrpSpPr>
          <p:cNvPr id="763" name="Group"/>
          <p:cNvGrpSpPr/>
          <p:nvPr/>
        </p:nvGrpSpPr>
        <p:grpSpPr>
          <a:xfrm>
            <a:off x="5581650" y="4238625"/>
            <a:ext cx="1676400" cy="228600"/>
            <a:chOff x="0" y="0"/>
            <a:chExt cx="1676400" cy="228600"/>
          </a:xfrm>
        </p:grpSpPr>
        <p:sp>
          <p:nvSpPr>
            <p:cNvPr id="761" name="Rectangle"/>
            <p:cNvSpPr/>
            <p:nvPr/>
          </p:nvSpPr>
          <p:spPr>
            <a:xfrm>
              <a:off x="0" y="0"/>
              <a:ext cx="16764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10242C"/>
                  </a:solidFill>
                  <a:latin typeface="Aptos"/>
                  <a:ea typeface="Aptos"/>
                  <a:cs typeface="Aptos"/>
                  <a:sym typeface="Aptos"/>
                </a:defRPr>
              </a:pPr>
              <a:endParaRPr/>
            </a:p>
          </p:txBody>
        </p:sp>
        <p:sp>
          <p:nvSpPr>
            <p:cNvPr id="762" name="5,773 avg points"/>
            <p:cNvSpPr txBox="1"/>
            <p:nvPr/>
          </p:nvSpPr>
          <p:spPr>
            <a:xfrm>
              <a:off x="0" y="0"/>
              <a:ext cx="16764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10242C"/>
                  </a:solidFill>
                  <a:latin typeface="Aptos"/>
                  <a:ea typeface="Aptos"/>
                  <a:cs typeface="Aptos"/>
                  <a:sym typeface="Aptos"/>
                </a:defRPr>
              </a:lvl1pPr>
            </a:lstStyle>
            <a:p>
              <a:r>
                <a:t>5,773 avg points</a:t>
              </a:r>
            </a:p>
          </p:txBody>
        </p:sp>
      </p:grpSp>
      <p:grpSp>
        <p:nvGrpSpPr>
          <p:cNvPr id="766" name="Group"/>
          <p:cNvGrpSpPr/>
          <p:nvPr/>
        </p:nvGrpSpPr>
        <p:grpSpPr>
          <a:xfrm>
            <a:off x="5581650" y="4514850"/>
            <a:ext cx="1676400" cy="419100"/>
            <a:chOff x="0" y="0"/>
            <a:chExt cx="1676400" cy="419100"/>
          </a:xfrm>
        </p:grpSpPr>
        <p:sp>
          <p:nvSpPr>
            <p:cNvPr id="764" name="Rectangle"/>
            <p:cNvSpPr/>
            <p:nvPr/>
          </p:nvSpPr>
          <p:spPr>
            <a:xfrm>
              <a:off x="0" y="0"/>
              <a:ext cx="167640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765" name="23.3 avg score…"/>
            <p:cNvSpPr txBox="1"/>
            <p:nvPr/>
          </p:nvSpPr>
          <p:spPr>
            <a:xfrm>
              <a:off x="0" y="0"/>
              <a:ext cx="16764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defRPr sz="900">
                  <a:solidFill>
                    <a:srgbClr val="5E6A70"/>
                  </a:solidFill>
                  <a:latin typeface="Aptos"/>
                  <a:ea typeface="Aptos"/>
                  <a:cs typeface="Aptos"/>
                  <a:sym typeface="Aptos"/>
                </a:defRPr>
              </a:pPr>
              <a:r>
                <a:t>23.3 avg score</a:t>
              </a:r>
            </a:p>
            <a:p>
              <a:pPr algn="ctr">
                <a:defRPr sz="900">
                  <a:solidFill>
                    <a:srgbClr val="5E6A70"/>
                  </a:solidFill>
                  <a:latin typeface="Aptos"/>
                  <a:ea typeface="Aptos"/>
                  <a:cs typeface="Aptos"/>
                  <a:sym typeface="Aptos"/>
                </a:defRPr>
              </a:pPr>
              <a:r>
                <a:t>149 avg membership days</a:t>
              </a:r>
            </a:p>
          </p:txBody>
        </p:sp>
      </p:grpSp>
      <p:sp>
        <p:nvSpPr>
          <p:cNvPr id="767" name="Rectangle"/>
          <p:cNvSpPr/>
          <p:nvPr/>
        </p:nvSpPr>
        <p:spPr>
          <a:xfrm>
            <a:off x="5867400" y="5048250"/>
            <a:ext cx="1104900" cy="114300"/>
          </a:xfrm>
          <a:prstGeom prst="rect">
            <a:avLst/>
          </a:prstGeom>
          <a:solidFill>
            <a:srgbClr val="E6ECE9"/>
          </a:solidFill>
          <a:ln w="3175">
            <a:solidFill>
              <a:srgbClr val="000000">
                <a:alpha val="0"/>
              </a:srgbClr>
            </a:solidFill>
          </a:ln>
        </p:spPr>
        <p:txBody>
          <a:bodyPr lIns="0" tIns="0" rIns="0" bIns="0"/>
          <a:lstStyle/>
          <a:p>
            <a:endParaRPr/>
          </a:p>
        </p:txBody>
      </p:sp>
      <p:sp>
        <p:nvSpPr>
          <p:cNvPr id="768" name="Rectangle"/>
          <p:cNvSpPr/>
          <p:nvPr/>
        </p:nvSpPr>
        <p:spPr>
          <a:xfrm>
            <a:off x="5867399" y="5048250"/>
            <a:ext cx="73022" cy="114300"/>
          </a:xfrm>
          <a:prstGeom prst="rect">
            <a:avLst/>
          </a:prstGeom>
          <a:solidFill>
            <a:srgbClr val="D99A16"/>
          </a:solidFill>
          <a:ln w="3175">
            <a:solidFill>
              <a:srgbClr val="000000">
                <a:alpha val="0"/>
              </a:srgbClr>
            </a:solidFill>
          </a:ln>
        </p:spPr>
        <p:txBody>
          <a:bodyPr lIns="0" tIns="0" rIns="0" bIns="0"/>
          <a:lstStyle/>
          <a:p>
            <a:endParaRPr/>
          </a:p>
        </p:txBody>
      </p:sp>
      <p:sp>
        <p:nvSpPr>
          <p:cNvPr id="769" name="Circle"/>
          <p:cNvSpPr/>
          <p:nvPr/>
        </p:nvSpPr>
        <p:spPr>
          <a:xfrm>
            <a:off x="8320702" y="2662851"/>
            <a:ext cx="922697" cy="922697"/>
          </a:xfrm>
          <a:prstGeom prst="ellipse">
            <a:avLst/>
          </a:prstGeom>
          <a:solidFill>
            <a:srgbClr val="0A6B61"/>
          </a:solidFill>
          <a:ln w="28575">
            <a:solidFill>
              <a:srgbClr val="FFFFFF"/>
            </a:solidFill>
          </a:ln>
        </p:spPr>
        <p:txBody>
          <a:bodyPr lIns="0" tIns="0" rIns="0" bIns="0"/>
          <a:lstStyle/>
          <a:p>
            <a:endParaRPr/>
          </a:p>
        </p:txBody>
      </p:sp>
      <p:grpSp>
        <p:nvGrpSpPr>
          <p:cNvPr id="772" name="Group"/>
          <p:cNvGrpSpPr/>
          <p:nvPr/>
        </p:nvGrpSpPr>
        <p:grpSpPr>
          <a:xfrm>
            <a:off x="8286750" y="2857500"/>
            <a:ext cx="990600" cy="228600"/>
            <a:chOff x="0" y="0"/>
            <a:chExt cx="990600" cy="228600"/>
          </a:xfrm>
        </p:grpSpPr>
        <p:sp>
          <p:nvSpPr>
            <p:cNvPr id="770" name="Rectangle"/>
            <p:cNvSpPr/>
            <p:nvPr/>
          </p:nvSpPr>
          <p:spPr>
            <a:xfrm>
              <a:off x="0" y="0"/>
              <a:ext cx="9906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FFFFFF"/>
                  </a:solidFill>
                  <a:latin typeface="Aptos"/>
                  <a:ea typeface="Aptos"/>
                  <a:cs typeface="Aptos"/>
                  <a:sym typeface="Aptos"/>
                </a:defRPr>
              </a:pPr>
              <a:endParaRPr/>
            </a:p>
          </p:txBody>
        </p:sp>
        <p:sp>
          <p:nvSpPr>
            <p:cNvPr id="771" name="Cluster 3"/>
            <p:cNvSpPr txBox="1"/>
            <p:nvPr/>
          </p:nvSpPr>
          <p:spPr>
            <a:xfrm>
              <a:off x="0" y="0"/>
              <a:ext cx="9906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FFFFFF"/>
                  </a:solidFill>
                  <a:latin typeface="Aptos"/>
                  <a:ea typeface="Aptos"/>
                  <a:cs typeface="Aptos"/>
                  <a:sym typeface="Aptos"/>
                </a:defRPr>
              </a:lvl1pPr>
            </a:lstStyle>
            <a:p>
              <a:r>
                <a:t>Cluster 3</a:t>
              </a:r>
            </a:p>
          </p:txBody>
        </p:sp>
      </p:grpSp>
      <p:grpSp>
        <p:nvGrpSpPr>
          <p:cNvPr id="775" name="Group"/>
          <p:cNvGrpSpPr/>
          <p:nvPr/>
        </p:nvGrpSpPr>
        <p:grpSpPr>
          <a:xfrm>
            <a:off x="8353425" y="3171825"/>
            <a:ext cx="857250" cy="190500"/>
            <a:chOff x="0" y="0"/>
            <a:chExt cx="857250" cy="190500"/>
          </a:xfrm>
        </p:grpSpPr>
        <p:sp>
          <p:nvSpPr>
            <p:cNvPr id="773" name="Rectangle"/>
            <p:cNvSpPr/>
            <p:nvPr/>
          </p:nvSpPr>
          <p:spPr>
            <a:xfrm>
              <a:off x="0" y="0"/>
              <a:ext cx="857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FFFFFF"/>
                  </a:solidFill>
                  <a:latin typeface="Aptos"/>
                  <a:ea typeface="Aptos"/>
                  <a:cs typeface="Aptos"/>
                  <a:sym typeface="Aptos"/>
                </a:defRPr>
              </a:pPr>
              <a:endParaRPr/>
            </a:p>
          </p:txBody>
        </p:sp>
        <p:sp>
          <p:nvSpPr>
            <p:cNvPr id="774" name="45 members"/>
            <p:cNvSpPr txBox="1"/>
            <p:nvPr/>
          </p:nvSpPr>
          <p:spPr>
            <a:xfrm>
              <a:off x="0" y="0"/>
              <a:ext cx="8572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FFFFFF"/>
                  </a:solidFill>
                  <a:latin typeface="Aptos"/>
                  <a:ea typeface="Aptos"/>
                  <a:cs typeface="Aptos"/>
                  <a:sym typeface="Aptos"/>
                </a:defRPr>
              </a:lvl1pPr>
            </a:lstStyle>
            <a:p>
              <a:r>
                <a:t>45 members</a:t>
              </a:r>
            </a:p>
          </p:txBody>
        </p:sp>
      </p:grpSp>
      <p:grpSp>
        <p:nvGrpSpPr>
          <p:cNvPr id="778" name="Group"/>
          <p:cNvGrpSpPr/>
          <p:nvPr/>
        </p:nvGrpSpPr>
        <p:grpSpPr>
          <a:xfrm>
            <a:off x="7943850" y="4238625"/>
            <a:ext cx="1676400" cy="228600"/>
            <a:chOff x="0" y="0"/>
            <a:chExt cx="1676400" cy="228600"/>
          </a:xfrm>
        </p:grpSpPr>
        <p:sp>
          <p:nvSpPr>
            <p:cNvPr id="776" name="Rectangle"/>
            <p:cNvSpPr/>
            <p:nvPr/>
          </p:nvSpPr>
          <p:spPr>
            <a:xfrm>
              <a:off x="0" y="0"/>
              <a:ext cx="16764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10242C"/>
                  </a:solidFill>
                  <a:latin typeface="Aptos"/>
                  <a:ea typeface="Aptos"/>
                  <a:cs typeface="Aptos"/>
                  <a:sym typeface="Aptos"/>
                </a:defRPr>
              </a:pPr>
              <a:endParaRPr/>
            </a:p>
          </p:txBody>
        </p:sp>
        <p:sp>
          <p:nvSpPr>
            <p:cNvPr id="777" name="87,354 avg points"/>
            <p:cNvSpPr txBox="1"/>
            <p:nvPr/>
          </p:nvSpPr>
          <p:spPr>
            <a:xfrm>
              <a:off x="0" y="0"/>
              <a:ext cx="16764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10242C"/>
                  </a:solidFill>
                  <a:latin typeface="Aptos"/>
                  <a:ea typeface="Aptos"/>
                  <a:cs typeface="Aptos"/>
                  <a:sym typeface="Aptos"/>
                </a:defRPr>
              </a:lvl1pPr>
            </a:lstStyle>
            <a:p>
              <a:r>
                <a:t>87,354 avg points</a:t>
              </a:r>
            </a:p>
          </p:txBody>
        </p:sp>
      </p:grpSp>
      <p:grpSp>
        <p:nvGrpSpPr>
          <p:cNvPr id="781" name="Group"/>
          <p:cNvGrpSpPr/>
          <p:nvPr/>
        </p:nvGrpSpPr>
        <p:grpSpPr>
          <a:xfrm>
            <a:off x="7943850" y="4514850"/>
            <a:ext cx="1676400" cy="419100"/>
            <a:chOff x="0" y="0"/>
            <a:chExt cx="1676400" cy="419100"/>
          </a:xfrm>
        </p:grpSpPr>
        <p:sp>
          <p:nvSpPr>
            <p:cNvPr id="779" name="Rectangle"/>
            <p:cNvSpPr/>
            <p:nvPr/>
          </p:nvSpPr>
          <p:spPr>
            <a:xfrm>
              <a:off x="0" y="0"/>
              <a:ext cx="167640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780" name="63.4 avg score…"/>
            <p:cNvSpPr txBox="1"/>
            <p:nvPr/>
          </p:nvSpPr>
          <p:spPr>
            <a:xfrm>
              <a:off x="0" y="0"/>
              <a:ext cx="16764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lgn="ctr">
                <a:defRPr sz="900">
                  <a:solidFill>
                    <a:srgbClr val="5E6A70"/>
                  </a:solidFill>
                  <a:latin typeface="Aptos"/>
                  <a:ea typeface="Aptos"/>
                  <a:cs typeface="Aptos"/>
                  <a:sym typeface="Aptos"/>
                </a:defRPr>
              </a:pPr>
              <a:r>
                <a:t>63.4 avg score</a:t>
              </a:r>
            </a:p>
            <a:p>
              <a:pPr algn="ctr">
                <a:defRPr sz="900">
                  <a:solidFill>
                    <a:srgbClr val="5E6A70"/>
                  </a:solidFill>
                  <a:latin typeface="Aptos"/>
                  <a:ea typeface="Aptos"/>
                  <a:cs typeface="Aptos"/>
                  <a:sym typeface="Aptos"/>
                </a:defRPr>
              </a:pPr>
              <a:r>
                <a:t>316 avg membership days</a:t>
              </a:r>
            </a:p>
          </p:txBody>
        </p:sp>
      </p:grpSp>
      <p:sp>
        <p:nvSpPr>
          <p:cNvPr id="782" name="Rectangle"/>
          <p:cNvSpPr/>
          <p:nvPr/>
        </p:nvSpPr>
        <p:spPr>
          <a:xfrm>
            <a:off x="8229600" y="5048250"/>
            <a:ext cx="1104900" cy="114300"/>
          </a:xfrm>
          <a:prstGeom prst="rect">
            <a:avLst/>
          </a:prstGeom>
          <a:solidFill>
            <a:srgbClr val="E6ECE9"/>
          </a:solidFill>
          <a:ln w="3175">
            <a:solidFill>
              <a:srgbClr val="000000">
                <a:alpha val="0"/>
              </a:srgbClr>
            </a:solidFill>
          </a:ln>
        </p:spPr>
        <p:txBody>
          <a:bodyPr lIns="0" tIns="0" rIns="0" bIns="0"/>
          <a:lstStyle/>
          <a:p>
            <a:endParaRPr/>
          </a:p>
        </p:txBody>
      </p:sp>
      <p:sp>
        <p:nvSpPr>
          <p:cNvPr id="783" name="Rectangle"/>
          <p:cNvSpPr/>
          <p:nvPr/>
        </p:nvSpPr>
        <p:spPr>
          <a:xfrm>
            <a:off x="8229600" y="5048250"/>
            <a:ext cx="1104900" cy="114300"/>
          </a:xfrm>
          <a:prstGeom prst="rect">
            <a:avLst/>
          </a:prstGeom>
          <a:solidFill>
            <a:srgbClr val="0A6B61"/>
          </a:solidFill>
          <a:ln w="3175">
            <a:solidFill>
              <a:srgbClr val="000000">
                <a:alpha val="0"/>
              </a:srgbClr>
            </a:solidFill>
          </a:ln>
        </p:spPr>
        <p:txBody>
          <a:bodyPr lIns="0" tIns="0" rIns="0" bIns="0"/>
          <a:lstStyle/>
          <a:p>
            <a:endParaRPr/>
          </a:p>
        </p:txBody>
      </p:sp>
      <p:sp>
        <p:nvSpPr>
          <p:cNvPr id="784" name="Rectangle"/>
          <p:cNvSpPr/>
          <p:nvPr/>
        </p:nvSpPr>
        <p:spPr>
          <a:xfrm>
            <a:off x="742950" y="5503862"/>
            <a:ext cx="9858375" cy="12701"/>
          </a:xfrm>
          <a:prstGeom prst="rect">
            <a:avLst/>
          </a:prstGeom>
          <a:solidFill>
            <a:srgbClr val="0A6B61"/>
          </a:solidFill>
          <a:ln w="3175">
            <a:solidFill>
              <a:srgbClr val="000000">
                <a:alpha val="0"/>
              </a:srgbClr>
            </a:solidFill>
          </a:ln>
        </p:spPr>
        <p:txBody>
          <a:bodyPr lIns="0" tIns="0" rIns="0" bIns="0"/>
          <a:lstStyle/>
          <a:p>
            <a:endParaRPr/>
          </a:p>
        </p:txBody>
      </p:sp>
      <p:grpSp>
        <p:nvGrpSpPr>
          <p:cNvPr id="787" name="Group"/>
          <p:cNvGrpSpPr/>
          <p:nvPr/>
        </p:nvGrpSpPr>
        <p:grpSpPr>
          <a:xfrm>
            <a:off x="742950" y="5695950"/>
            <a:ext cx="3429000" cy="228600"/>
            <a:chOff x="0" y="0"/>
            <a:chExt cx="3429000" cy="228600"/>
          </a:xfrm>
        </p:grpSpPr>
        <p:sp>
          <p:nvSpPr>
            <p:cNvPr id="785" name="Rectangle"/>
            <p:cNvSpPr/>
            <p:nvPr/>
          </p:nvSpPr>
          <p:spPr>
            <a:xfrm>
              <a:off x="0" y="0"/>
              <a:ext cx="3429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786" name="Cluster 3 is small but highly valuable"/>
            <p:cNvSpPr txBox="1"/>
            <p:nvPr/>
          </p:nvSpPr>
          <p:spPr>
            <a:xfrm>
              <a:off x="0" y="0"/>
              <a:ext cx="34290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Cluster 3 is small but highly valuable</a:t>
              </a:r>
            </a:p>
          </p:txBody>
        </p:sp>
      </p:grpSp>
      <p:grpSp>
        <p:nvGrpSpPr>
          <p:cNvPr id="790" name="Group"/>
          <p:cNvGrpSpPr/>
          <p:nvPr/>
        </p:nvGrpSpPr>
        <p:grpSpPr>
          <a:xfrm>
            <a:off x="4343400" y="5695950"/>
            <a:ext cx="6191250" cy="400050"/>
            <a:chOff x="0" y="0"/>
            <a:chExt cx="6191250" cy="400050"/>
          </a:xfrm>
        </p:grpSpPr>
        <p:sp>
          <p:nvSpPr>
            <p:cNvPr id="788" name="Rectangle"/>
            <p:cNvSpPr/>
            <p:nvPr/>
          </p:nvSpPr>
          <p:spPr>
            <a:xfrm>
              <a:off x="0" y="0"/>
              <a:ext cx="61912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789" name="It contains only 45 members, yet it has the highest average points and loyalty score. This makes it a priority group for retention and premium treatment."/>
            <p:cNvSpPr txBox="1"/>
            <p:nvPr/>
          </p:nvSpPr>
          <p:spPr>
            <a:xfrm>
              <a:off x="0" y="0"/>
              <a:ext cx="61912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It contains only 45 members, yet it has the highest average points and loyalty score. This makes it a priority group for retention and premium treatment.</a:t>
              </a: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793"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796" name="Group"/>
          <p:cNvGrpSpPr/>
          <p:nvPr/>
        </p:nvGrpSpPr>
        <p:grpSpPr>
          <a:xfrm>
            <a:off x="533400" y="323850"/>
            <a:ext cx="4953000" cy="228600"/>
            <a:chOff x="0" y="0"/>
            <a:chExt cx="4953000" cy="228600"/>
          </a:xfrm>
        </p:grpSpPr>
        <p:sp>
          <p:nvSpPr>
            <p:cNvPr id="79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795"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799" name="Group"/>
          <p:cNvGrpSpPr/>
          <p:nvPr/>
        </p:nvGrpSpPr>
        <p:grpSpPr>
          <a:xfrm>
            <a:off x="533400" y="723900"/>
            <a:ext cx="6667500" cy="609600"/>
            <a:chOff x="0" y="0"/>
            <a:chExt cx="6667500" cy="609600"/>
          </a:xfrm>
        </p:grpSpPr>
        <p:sp>
          <p:nvSpPr>
            <p:cNvPr id="797"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798" name="Cluster Interpretati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Cluster Interpretation</a:t>
              </a:r>
            </a:p>
          </p:txBody>
        </p:sp>
      </p:grpSp>
      <p:grpSp>
        <p:nvGrpSpPr>
          <p:cNvPr id="802" name="Group"/>
          <p:cNvGrpSpPr/>
          <p:nvPr/>
        </p:nvGrpSpPr>
        <p:grpSpPr>
          <a:xfrm>
            <a:off x="552450" y="1485900"/>
            <a:ext cx="6477000" cy="457200"/>
            <a:chOff x="0" y="0"/>
            <a:chExt cx="6477000" cy="457200"/>
          </a:xfrm>
        </p:grpSpPr>
        <p:sp>
          <p:nvSpPr>
            <p:cNvPr id="800"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801" name="The clusters help separate high-value loyal members from newer high-activity members and broad mid-value population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clusters help separate high-value loyal members from newer high-activity members and broad mid-value populations.</a:t>
              </a:r>
            </a:p>
          </p:txBody>
        </p:sp>
      </p:grpSp>
      <p:grpSp>
        <p:nvGrpSpPr>
          <p:cNvPr id="805" name="Group"/>
          <p:cNvGrpSpPr/>
          <p:nvPr/>
        </p:nvGrpSpPr>
        <p:grpSpPr>
          <a:xfrm>
            <a:off x="533400" y="6438900"/>
            <a:ext cx="4953000" cy="228600"/>
            <a:chOff x="0" y="0"/>
            <a:chExt cx="4953000" cy="228600"/>
          </a:xfrm>
        </p:grpSpPr>
        <p:sp>
          <p:nvSpPr>
            <p:cNvPr id="80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804"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808" name="Group"/>
          <p:cNvGrpSpPr/>
          <p:nvPr/>
        </p:nvGrpSpPr>
        <p:grpSpPr>
          <a:xfrm>
            <a:off x="11125200" y="6419850"/>
            <a:ext cx="514350" cy="228600"/>
            <a:chOff x="0" y="0"/>
            <a:chExt cx="514350" cy="228600"/>
          </a:xfrm>
        </p:grpSpPr>
        <p:sp>
          <p:nvSpPr>
            <p:cNvPr id="806"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807" name="09"/>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09</a:t>
              </a:r>
            </a:p>
          </p:txBody>
        </p:sp>
      </p:grpSp>
      <p:sp>
        <p:nvSpPr>
          <p:cNvPr id="809" name="Rectangle"/>
          <p:cNvSpPr/>
          <p:nvPr/>
        </p:nvSpPr>
        <p:spPr>
          <a:xfrm>
            <a:off x="781050" y="2190750"/>
            <a:ext cx="95250" cy="552450"/>
          </a:xfrm>
          <a:prstGeom prst="rect">
            <a:avLst/>
          </a:prstGeom>
          <a:solidFill>
            <a:srgbClr val="2C6FB2"/>
          </a:solidFill>
          <a:ln w="3175">
            <a:solidFill>
              <a:srgbClr val="000000">
                <a:alpha val="0"/>
              </a:srgbClr>
            </a:solidFill>
          </a:ln>
        </p:spPr>
        <p:txBody>
          <a:bodyPr lIns="0" tIns="0" rIns="0" bIns="0"/>
          <a:lstStyle/>
          <a:p>
            <a:endParaRPr/>
          </a:p>
        </p:txBody>
      </p:sp>
      <p:grpSp>
        <p:nvGrpSpPr>
          <p:cNvPr id="812" name="Group"/>
          <p:cNvGrpSpPr/>
          <p:nvPr/>
        </p:nvGrpSpPr>
        <p:grpSpPr>
          <a:xfrm>
            <a:off x="1066800" y="2171700"/>
            <a:ext cx="1619250" cy="228600"/>
            <a:chOff x="0" y="0"/>
            <a:chExt cx="1619250" cy="228600"/>
          </a:xfrm>
        </p:grpSpPr>
        <p:sp>
          <p:nvSpPr>
            <p:cNvPr id="810" name="Rectangle"/>
            <p:cNvSpPr/>
            <p:nvPr/>
          </p:nvSpPr>
          <p:spPr>
            <a:xfrm>
              <a:off x="0" y="0"/>
              <a:ext cx="1619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811" name="Cluster 0"/>
            <p:cNvSpPr txBox="1"/>
            <p:nvPr/>
          </p:nvSpPr>
          <p:spPr>
            <a:xfrm>
              <a:off x="0" y="0"/>
              <a:ext cx="161925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Cluster 0</a:t>
              </a:r>
            </a:p>
          </p:txBody>
        </p:sp>
      </p:grpSp>
      <p:grpSp>
        <p:nvGrpSpPr>
          <p:cNvPr id="815" name="Group"/>
          <p:cNvGrpSpPr/>
          <p:nvPr/>
        </p:nvGrpSpPr>
        <p:grpSpPr>
          <a:xfrm>
            <a:off x="2952750" y="2200275"/>
            <a:ext cx="1714500" cy="209550"/>
            <a:chOff x="0" y="0"/>
            <a:chExt cx="1714500" cy="209550"/>
          </a:xfrm>
        </p:grpSpPr>
        <p:sp>
          <p:nvSpPr>
            <p:cNvPr id="813" name="Rectangle"/>
            <p:cNvSpPr/>
            <p:nvPr/>
          </p:nvSpPr>
          <p:spPr>
            <a:xfrm>
              <a:off x="0" y="0"/>
              <a:ext cx="171450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2C6FB2"/>
                  </a:solidFill>
                  <a:latin typeface="Aptos"/>
                  <a:ea typeface="Aptos"/>
                  <a:cs typeface="Aptos"/>
                  <a:sym typeface="Aptos"/>
                </a:defRPr>
              </a:pPr>
              <a:endParaRPr/>
            </a:p>
          </p:txBody>
        </p:sp>
        <p:sp>
          <p:nvSpPr>
            <p:cNvPr id="814" name="large steady base"/>
            <p:cNvSpPr txBox="1"/>
            <p:nvPr/>
          </p:nvSpPr>
          <p:spPr>
            <a:xfrm>
              <a:off x="0" y="0"/>
              <a:ext cx="17145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2C6FB2"/>
                  </a:solidFill>
                  <a:latin typeface="Aptos"/>
                  <a:ea typeface="Aptos"/>
                  <a:cs typeface="Aptos"/>
                  <a:sym typeface="Aptos"/>
                </a:defRPr>
              </a:lvl1pPr>
            </a:lstStyle>
            <a:p>
              <a:r>
                <a:t>large steady base</a:t>
              </a:r>
            </a:p>
          </p:txBody>
        </p:sp>
      </p:grpSp>
      <p:grpSp>
        <p:nvGrpSpPr>
          <p:cNvPr id="818" name="Group"/>
          <p:cNvGrpSpPr/>
          <p:nvPr/>
        </p:nvGrpSpPr>
        <p:grpSpPr>
          <a:xfrm>
            <a:off x="4857750" y="2190750"/>
            <a:ext cx="5143500" cy="457200"/>
            <a:chOff x="0" y="0"/>
            <a:chExt cx="5143500" cy="457200"/>
          </a:xfrm>
        </p:grpSpPr>
        <p:sp>
          <p:nvSpPr>
            <p:cNvPr id="816" name="Rectangle"/>
            <p:cNvSpPr/>
            <p:nvPr/>
          </p:nvSpPr>
          <p:spPr>
            <a:xfrm>
              <a:off x="0" y="0"/>
              <a:ext cx="51435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817" name="Largest group, moderate score, long membership duration."/>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Largest group, moderate score, long membership duration.</a:t>
              </a:r>
            </a:p>
          </p:txBody>
        </p:sp>
      </p:grpSp>
      <p:sp>
        <p:nvSpPr>
          <p:cNvPr id="819" name="Rectangle"/>
          <p:cNvSpPr/>
          <p:nvPr/>
        </p:nvSpPr>
        <p:spPr>
          <a:xfrm>
            <a:off x="781050" y="3067050"/>
            <a:ext cx="95250" cy="552450"/>
          </a:xfrm>
          <a:prstGeom prst="rect">
            <a:avLst/>
          </a:prstGeom>
          <a:solidFill>
            <a:srgbClr val="3C9D72"/>
          </a:solidFill>
          <a:ln w="3175">
            <a:solidFill>
              <a:srgbClr val="000000">
                <a:alpha val="0"/>
              </a:srgbClr>
            </a:solidFill>
          </a:ln>
        </p:spPr>
        <p:txBody>
          <a:bodyPr lIns="0" tIns="0" rIns="0" bIns="0"/>
          <a:lstStyle/>
          <a:p>
            <a:endParaRPr/>
          </a:p>
        </p:txBody>
      </p:sp>
      <p:grpSp>
        <p:nvGrpSpPr>
          <p:cNvPr id="822" name="Group"/>
          <p:cNvGrpSpPr/>
          <p:nvPr/>
        </p:nvGrpSpPr>
        <p:grpSpPr>
          <a:xfrm>
            <a:off x="1066800" y="3048000"/>
            <a:ext cx="1619250" cy="228600"/>
            <a:chOff x="0" y="0"/>
            <a:chExt cx="1619250" cy="228600"/>
          </a:xfrm>
        </p:grpSpPr>
        <p:sp>
          <p:nvSpPr>
            <p:cNvPr id="820" name="Rectangle"/>
            <p:cNvSpPr/>
            <p:nvPr/>
          </p:nvSpPr>
          <p:spPr>
            <a:xfrm>
              <a:off x="0" y="0"/>
              <a:ext cx="1619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821" name="Cluster 1"/>
            <p:cNvSpPr txBox="1"/>
            <p:nvPr/>
          </p:nvSpPr>
          <p:spPr>
            <a:xfrm>
              <a:off x="0" y="0"/>
              <a:ext cx="161925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Cluster 1</a:t>
              </a:r>
            </a:p>
          </p:txBody>
        </p:sp>
      </p:grpSp>
      <p:grpSp>
        <p:nvGrpSpPr>
          <p:cNvPr id="825" name="Group"/>
          <p:cNvGrpSpPr/>
          <p:nvPr/>
        </p:nvGrpSpPr>
        <p:grpSpPr>
          <a:xfrm>
            <a:off x="2952750" y="3076575"/>
            <a:ext cx="1714500" cy="209550"/>
            <a:chOff x="0" y="0"/>
            <a:chExt cx="1714500" cy="209550"/>
          </a:xfrm>
        </p:grpSpPr>
        <p:sp>
          <p:nvSpPr>
            <p:cNvPr id="823" name="Rectangle"/>
            <p:cNvSpPr/>
            <p:nvPr/>
          </p:nvSpPr>
          <p:spPr>
            <a:xfrm>
              <a:off x="0" y="0"/>
              <a:ext cx="171450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3C9D72"/>
                  </a:solidFill>
                  <a:latin typeface="Aptos"/>
                  <a:ea typeface="Aptos"/>
                  <a:cs typeface="Aptos"/>
                  <a:sym typeface="Aptos"/>
                </a:defRPr>
              </a:pPr>
              <a:endParaRPr/>
            </a:p>
          </p:txBody>
        </p:sp>
        <p:sp>
          <p:nvSpPr>
            <p:cNvPr id="824" name="new high activity"/>
            <p:cNvSpPr txBox="1"/>
            <p:nvPr/>
          </p:nvSpPr>
          <p:spPr>
            <a:xfrm>
              <a:off x="0" y="0"/>
              <a:ext cx="17145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3C9D72"/>
                  </a:solidFill>
                  <a:latin typeface="Aptos"/>
                  <a:ea typeface="Aptos"/>
                  <a:cs typeface="Aptos"/>
                  <a:sym typeface="Aptos"/>
                </a:defRPr>
              </a:lvl1pPr>
            </a:lstStyle>
            <a:p>
              <a:r>
                <a:t>new high activity</a:t>
              </a:r>
            </a:p>
          </p:txBody>
        </p:sp>
      </p:grpSp>
      <p:grpSp>
        <p:nvGrpSpPr>
          <p:cNvPr id="828" name="Group"/>
          <p:cNvGrpSpPr/>
          <p:nvPr/>
        </p:nvGrpSpPr>
        <p:grpSpPr>
          <a:xfrm>
            <a:off x="4857750" y="3067050"/>
            <a:ext cx="5143500" cy="457200"/>
            <a:chOff x="0" y="0"/>
            <a:chExt cx="5143500" cy="457200"/>
          </a:xfrm>
        </p:grpSpPr>
        <p:sp>
          <p:nvSpPr>
            <p:cNvPr id="826" name="Rectangle"/>
            <p:cNvSpPr/>
            <p:nvPr/>
          </p:nvSpPr>
          <p:spPr>
            <a:xfrm>
              <a:off x="0" y="0"/>
              <a:ext cx="51435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827" name="Shorter membership duration but strong point balances."/>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Shorter membership duration but strong point balances.</a:t>
              </a:r>
            </a:p>
          </p:txBody>
        </p:sp>
      </p:grpSp>
      <p:sp>
        <p:nvSpPr>
          <p:cNvPr id="829" name="Rectangle"/>
          <p:cNvSpPr/>
          <p:nvPr/>
        </p:nvSpPr>
        <p:spPr>
          <a:xfrm>
            <a:off x="781050" y="3943350"/>
            <a:ext cx="95250" cy="552450"/>
          </a:xfrm>
          <a:prstGeom prst="rect">
            <a:avLst/>
          </a:prstGeom>
          <a:solidFill>
            <a:srgbClr val="D99A16"/>
          </a:solidFill>
          <a:ln w="3175">
            <a:solidFill>
              <a:srgbClr val="000000">
                <a:alpha val="0"/>
              </a:srgbClr>
            </a:solidFill>
          </a:ln>
        </p:spPr>
        <p:txBody>
          <a:bodyPr lIns="0" tIns="0" rIns="0" bIns="0"/>
          <a:lstStyle/>
          <a:p>
            <a:endParaRPr/>
          </a:p>
        </p:txBody>
      </p:sp>
      <p:grpSp>
        <p:nvGrpSpPr>
          <p:cNvPr id="832" name="Group"/>
          <p:cNvGrpSpPr/>
          <p:nvPr/>
        </p:nvGrpSpPr>
        <p:grpSpPr>
          <a:xfrm>
            <a:off x="1066800" y="3924300"/>
            <a:ext cx="1619250" cy="228600"/>
            <a:chOff x="0" y="0"/>
            <a:chExt cx="1619250" cy="228600"/>
          </a:xfrm>
        </p:grpSpPr>
        <p:sp>
          <p:nvSpPr>
            <p:cNvPr id="830" name="Rectangle"/>
            <p:cNvSpPr/>
            <p:nvPr/>
          </p:nvSpPr>
          <p:spPr>
            <a:xfrm>
              <a:off x="0" y="0"/>
              <a:ext cx="1619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831" name="Cluster 2"/>
            <p:cNvSpPr txBox="1"/>
            <p:nvPr/>
          </p:nvSpPr>
          <p:spPr>
            <a:xfrm>
              <a:off x="0" y="0"/>
              <a:ext cx="161925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Cluster 2</a:t>
              </a:r>
            </a:p>
          </p:txBody>
        </p:sp>
      </p:grpSp>
      <p:grpSp>
        <p:nvGrpSpPr>
          <p:cNvPr id="835" name="Group"/>
          <p:cNvGrpSpPr/>
          <p:nvPr/>
        </p:nvGrpSpPr>
        <p:grpSpPr>
          <a:xfrm>
            <a:off x="2952750" y="3952875"/>
            <a:ext cx="1714500" cy="209550"/>
            <a:chOff x="0" y="0"/>
            <a:chExt cx="1714500" cy="209550"/>
          </a:xfrm>
        </p:grpSpPr>
        <p:sp>
          <p:nvSpPr>
            <p:cNvPr id="833" name="Rectangle"/>
            <p:cNvSpPr/>
            <p:nvPr/>
          </p:nvSpPr>
          <p:spPr>
            <a:xfrm>
              <a:off x="0" y="0"/>
              <a:ext cx="171450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D99A16"/>
                  </a:solidFill>
                  <a:latin typeface="Aptos"/>
                  <a:ea typeface="Aptos"/>
                  <a:cs typeface="Aptos"/>
                  <a:sym typeface="Aptos"/>
                </a:defRPr>
              </a:pPr>
              <a:endParaRPr/>
            </a:p>
          </p:txBody>
        </p:sp>
        <p:sp>
          <p:nvSpPr>
            <p:cNvPr id="834" name="developing members"/>
            <p:cNvSpPr txBox="1"/>
            <p:nvPr/>
          </p:nvSpPr>
          <p:spPr>
            <a:xfrm>
              <a:off x="0" y="0"/>
              <a:ext cx="17145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D99A16"/>
                  </a:solidFill>
                  <a:latin typeface="Aptos"/>
                  <a:ea typeface="Aptos"/>
                  <a:cs typeface="Aptos"/>
                  <a:sym typeface="Aptos"/>
                </a:defRPr>
              </a:lvl1pPr>
            </a:lstStyle>
            <a:p>
              <a:r>
                <a:t>developing members</a:t>
              </a:r>
            </a:p>
          </p:txBody>
        </p:sp>
      </p:grpSp>
      <p:grpSp>
        <p:nvGrpSpPr>
          <p:cNvPr id="838" name="Group"/>
          <p:cNvGrpSpPr/>
          <p:nvPr/>
        </p:nvGrpSpPr>
        <p:grpSpPr>
          <a:xfrm>
            <a:off x="4857750" y="3943350"/>
            <a:ext cx="5143500" cy="457200"/>
            <a:chOff x="0" y="0"/>
            <a:chExt cx="5143500" cy="457200"/>
          </a:xfrm>
        </p:grpSpPr>
        <p:sp>
          <p:nvSpPr>
            <p:cNvPr id="836" name="Rectangle"/>
            <p:cNvSpPr/>
            <p:nvPr/>
          </p:nvSpPr>
          <p:spPr>
            <a:xfrm>
              <a:off x="0" y="0"/>
              <a:ext cx="51435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837" name="Mid-size group with low-to-mid points and lower average score."/>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Mid-size group with low-to-mid points and lower average score.</a:t>
              </a:r>
            </a:p>
          </p:txBody>
        </p:sp>
      </p:grpSp>
      <p:sp>
        <p:nvSpPr>
          <p:cNvPr id="839" name="Rectangle"/>
          <p:cNvSpPr/>
          <p:nvPr/>
        </p:nvSpPr>
        <p:spPr>
          <a:xfrm>
            <a:off x="781050" y="4819650"/>
            <a:ext cx="95250" cy="552450"/>
          </a:xfrm>
          <a:prstGeom prst="rect">
            <a:avLst/>
          </a:prstGeom>
          <a:solidFill>
            <a:srgbClr val="0A6B61"/>
          </a:solidFill>
          <a:ln w="3175">
            <a:solidFill>
              <a:srgbClr val="000000">
                <a:alpha val="0"/>
              </a:srgbClr>
            </a:solidFill>
          </a:ln>
        </p:spPr>
        <p:txBody>
          <a:bodyPr lIns="0" tIns="0" rIns="0" bIns="0"/>
          <a:lstStyle/>
          <a:p>
            <a:endParaRPr/>
          </a:p>
        </p:txBody>
      </p:sp>
      <p:grpSp>
        <p:nvGrpSpPr>
          <p:cNvPr id="842" name="Group"/>
          <p:cNvGrpSpPr/>
          <p:nvPr/>
        </p:nvGrpSpPr>
        <p:grpSpPr>
          <a:xfrm>
            <a:off x="1066800" y="4800600"/>
            <a:ext cx="1619250" cy="228600"/>
            <a:chOff x="0" y="0"/>
            <a:chExt cx="1619250" cy="228600"/>
          </a:xfrm>
        </p:grpSpPr>
        <p:sp>
          <p:nvSpPr>
            <p:cNvPr id="840" name="Rectangle"/>
            <p:cNvSpPr/>
            <p:nvPr/>
          </p:nvSpPr>
          <p:spPr>
            <a:xfrm>
              <a:off x="0" y="0"/>
              <a:ext cx="1619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841" name="Cluster 3"/>
            <p:cNvSpPr txBox="1"/>
            <p:nvPr/>
          </p:nvSpPr>
          <p:spPr>
            <a:xfrm>
              <a:off x="0" y="0"/>
              <a:ext cx="161925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Cluster 3</a:t>
              </a:r>
            </a:p>
          </p:txBody>
        </p:sp>
      </p:grpSp>
      <p:grpSp>
        <p:nvGrpSpPr>
          <p:cNvPr id="845" name="Group"/>
          <p:cNvGrpSpPr/>
          <p:nvPr/>
        </p:nvGrpSpPr>
        <p:grpSpPr>
          <a:xfrm>
            <a:off x="2952750" y="4829175"/>
            <a:ext cx="1714500" cy="209550"/>
            <a:chOff x="0" y="0"/>
            <a:chExt cx="1714500" cy="209550"/>
          </a:xfrm>
        </p:grpSpPr>
        <p:sp>
          <p:nvSpPr>
            <p:cNvPr id="843" name="Rectangle"/>
            <p:cNvSpPr/>
            <p:nvPr/>
          </p:nvSpPr>
          <p:spPr>
            <a:xfrm>
              <a:off x="0" y="0"/>
              <a:ext cx="1714500" cy="2095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844" name="premium loyal core"/>
            <p:cNvSpPr txBox="1"/>
            <p:nvPr/>
          </p:nvSpPr>
          <p:spPr>
            <a:xfrm>
              <a:off x="0" y="0"/>
              <a:ext cx="17145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premium loyal core</a:t>
              </a:r>
            </a:p>
          </p:txBody>
        </p:sp>
      </p:grpSp>
      <p:grpSp>
        <p:nvGrpSpPr>
          <p:cNvPr id="848" name="Group"/>
          <p:cNvGrpSpPr/>
          <p:nvPr/>
        </p:nvGrpSpPr>
        <p:grpSpPr>
          <a:xfrm>
            <a:off x="4857750" y="4819650"/>
            <a:ext cx="5143500" cy="457200"/>
            <a:chOff x="0" y="0"/>
            <a:chExt cx="5143500" cy="457200"/>
          </a:xfrm>
        </p:grpSpPr>
        <p:sp>
          <p:nvSpPr>
            <p:cNvPr id="846" name="Rectangle"/>
            <p:cNvSpPr/>
            <p:nvPr/>
          </p:nvSpPr>
          <p:spPr>
            <a:xfrm>
              <a:off x="0" y="0"/>
              <a:ext cx="51435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847" name="Smallest group with the highest points and strongest score."/>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Smallest group with the highest points and strongest score.</a:t>
              </a:r>
            </a:p>
          </p:txBody>
        </p:sp>
      </p:grpSp>
      <p:sp>
        <p:nvSpPr>
          <p:cNvPr id="849" name="Rectangle"/>
          <p:cNvSpPr/>
          <p:nvPr/>
        </p:nvSpPr>
        <p:spPr>
          <a:xfrm>
            <a:off x="781050" y="5715000"/>
            <a:ext cx="92392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852" name="Group"/>
          <p:cNvGrpSpPr/>
          <p:nvPr/>
        </p:nvGrpSpPr>
        <p:grpSpPr>
          <a:xfrm>
            <a:off x="781050" y="5886450"/>
            <a:ext cx="2000250" cy="228600"/>
            <a:chOff x="0" y="0"/>
            <a:chExt cx="2000250" cy="228600"/>
          </a:xfrm>
        </p:grpSpPr>
        <p:sp>
          <p:nvSpPr>
            <p:cNvPr id="850" name="Rectangle"/>
            <p:cNvSpPr/>
            <p:nvPr/>
          </p:nvSpPr>
          <p:spPr>
            <a:xfrm>
              <a:off x="0" y="0"/>
              <a:ext cx="2000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851" name="How to use clusters"/>
            <p:cNvSpPr txBox="1"/>
            <p:nvPr/>
          </p:nvSpPr>
          <p:spPr>
            <a:xfrm>
              <a:off x="0" y="0"/>
              <a:ext cx="2000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How to use clusters</a:t>
              </a:r>
            </a:p>
          </p:txBody>
        </p:sp>
      </p:grpSp>
      <p:grpSp>
        <p:nvGrpSpPr>
          <p:cNvPr id="855" name="Group"/>
          <p:cNvGrpSpPr/>
          <p:nvPr/>
        </p:nvGrpSpPr>
        <p:grpSpPr>
          <a:xfrm>
            <a:off x="3048000" y="5857875"/>
            <a:ext cx="6953250" cy="323850"/>
            <a:chOff x="0" y="0"/>
            <a:chExt cx="6953250" cy="323850"/>
          </a:xfrm>
        </p:grpSpPr>
        <p:sp>
          <p:nvSpPr>
            <p:cNvPr id="853" name="Rectangle"/>
            <p:cNvSpPr/>
            <p:nvPr/>
          </p:nvSpPr>
          <p:spPr>
            <a:xfrm>
              <a:off x="0" y="0"/>
              <a:ext cx="6953250" cy="3238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854" name="Use clusters as a second lens after loyalty segments. Segments are easier for campaigns, while clusters reveal behavior patterns behind the labels."/>
            <p:cNvSpPr txBox="1"/>
            <p:nvPr/>
          </p:nvSpPr>
          <p:spPr>
            <a:xfrm>
              <a:off x="0" y="0"/>
              <a:ext cx="6953250" cy="304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Use clusters as a second lens after loyalty segments. Segments are easier for campaigns, while clusters reveal behavior patterns behind the labels.</a:t>
              </a:r>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 name="Rectangle"/>
          <p:cNvSpPr/>
          <p:nvPr/>
        </p:nvSpPr>
        <p:spPr>
          <a:xfrm>
            <a:off x="0" y="3810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858"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861" name="Group"/>
          <p:cNvGrpSpPr/>
          <p:nvPr/>
        </p:nvGrpSpPr>
        <p:grpSpPr>
          <a:xfrm>
            <a:off x="533400" y="323850"/>
            <a:ext cx="4953000" cy="228600"/>
            <a:chOff x="0" y="0"/>
            <a:chExt cx="4953000" cy="228600"/>
          </a:xfrm>
        </p:grpSpPr>
        <p:sp>
          <p:nvSpPr>
            <p:cNvPr id="85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860"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864" name="Group"/>
          <p:cNvGrpSpPr/>
          <p:nvPr/>
        </p:nvGrpSpPr>
        <p:grpSpPr>
          <a:xfrm>
            <a:off x="533400" y="723900"/>
            <a:ext cx="6667500" cy="609600"/>
            <a:chOff x="0" y="0"/>
            <a:chExt cx="6667500" cy="609600"/>
          </a:xfrm>
        </p:grpSpPr>
        <p:sp>
          <p:nvSpPr>
            <p:cNvPr id="862"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863" name="Train and Test Split Selecti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Train and Test Split Selection</a:t>
              </a:r>
            </a:p>
          </p:txBody>
        </p:sp>
      </p:grpSp>
      <p:grpSp>
        <p:nvGrpSpPr>
          <p:cNvPr id="867" name="Group"/>
          <p:cNvGrpSpPr/>
          <p:nvPr/>
        </p:nvGrpSpPr>
        <p:grpSpPr>
          <a:xfrm>
            <a:off x="552450" y="1485900"/>
            <a:ext cx="6477000" cy="457200"/>
            <a:chOff x="0" y="0"/>
            <a:chExt cx="6477000" cy="457200"/>
          </a:xfrm>
        </p:grpSpPr>
        <p:sp>
          <p:nvSpPr>
            <p:cNvPr id="865"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866" name="Three split ratios were tested to check whether the model result stays strong when the training and testing balance change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Three split ratios were tested to check whether the model result stays strong when the training and testing balance changes.</a:t>
              </a:r>
            </a:p>
          </p:txBody>
        </p:sp>
      </p:grpSp>
      <p:grpSp>
        <p:nvGrpSpPr>
          <p:cNvPr id="870" name="Group"/>
          <p:cNvGrpSpPr/>
          <p:nvPr/>
        </p:nvGrpSpPr>
        <p:grpSpPr>
          <a:xfrm>
            <a:off x="533400" y="6438900"/>
            <a:ext cx="4953000" cy="228600"/>
            <a:chOff x="0" y="0"/>
            <a:chExt cx="4953000" cy="228600"/>
          </a:xfrm>
        </p:grpSpPr>
        <p:sp>
          <p:nvSpPr>
            <p:cNvPr id="86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869"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873" name="Group"/>
          <p:cNvGrpSpPr/>
          <p:nvPr/>
        </p:nvGrpSpPr>
        <p:grpSpPr>
          <a:xfrm>
            <a:off x="11125200" y="6419850"/>
            <a:ext cx="514350" cy="228600"/>
            <a:chOff x="0" y="0"/>
            <a:chExt cx="514350" cy="228600"/>
          </a:xfrm>
        </p:grpSpPr>
        <p:sp>
          <p:nvSpPr>
            <p:cNvPr id="871"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872" name="10"/>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10</a:t>
              </a:r>
            </a:p>
          </p:txBody>
        </p:sp>
      </p:grpSp>
      <p:sp>
        <p:nvSpPr>
          <p:cNvPr id="874" name="Rectangle"/>
          <p:cNvSpPr/>
          <p:nvPr/>
        </p:nvSpPr>
        <p:spPr>
          <a:xfrm>
            <a:off x="704850" y="2190750"/>
            <a:ext cx="952500" cy="428625"/>
          </a:xfrm>
          <a:prstGeom prst="rect">
            <a:avLst/>
          </a:prstGeom>
          <a:solidFill>
            <a:srgbClr val="0A6B61"/>
          </a:solidFill>
          <a:ln>
            <a:solidFill>
              <a:srgbClr val="FFFFFF"/>
            </a:solidFill>
          </a:ln>
        </p:spPr>
        <p:txBody>
          <a:bodyPr lIns="0" tIns="0" rIns="0" bIns="0"/>
          <a:lstStyle/>
          <a:p>
            <a:endParaRPr/>
          </a:p>
        </p:txBody>
      </p:sp>
      <p:grpSp>
        <p:nvGrpSpPr>
          <p:cNvPr id="877" name="Group"/>
          <p:cNvGrpSpPr/>
          <p:nvPr/>
        </p:nvGrpSpPr>
        <p:grpSpPr>
          <a:xfrm>
            <a:off x="781050" y="2266950"/>
            <a:ext cx="800100" cy="333375"/>
            <a:chOff x="0" y="0"/>
            <a:chExt cx="800100" cy="333375"/>
          </a:xfrm>
        </p:grpSpPr>
        <p:sp>
          <p:nvSpPr>
            <p:cNvPr id="875" name="Rectangle"/>
            <p:cNvSpPr/>
            <p:nvPr/>
          </p:nvSpPr>
          <p:spPr>
            <a:xfrm>
              <a:off x="0" y="0"/>
              <a:ext cx="80010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FFFFFF"/>
                  </a:solidFill>
                  <a:latin typeface="Aptos"/>
                  <a:ea typeface="Aptos"/>
                  <a:cs typeface="Aptos"/>
                  <a:sym typeface="Aptos"/>
                </a:defRPr>
              </a:pPr>
              <a:endParaRPr/>
            </a:p>
          </p:txBody>
        </p:sp>
        <p:sp>
          <p:nvSpPr>
            <p:cNvPr id="876" name="Split"/>
            <p:cNvSpPr txBox="1"/>
            <p:nvPr/>
          </p:nvSpPr>
          <p:spPr>
            <a:xfrm>
              <a:off x="0" y="0"/>
              <a:ext cx="8001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FFFFFF"/>
                  </a:solidFill>
                  <a:latin typeface="Aptos"/>
                  <a:ea typeface="Aptos"/>
                  <a:cs typeface="Aptos"/>
                  <a:sym typeface="Aptos"/>
                </a:defRPr>
              </a:lvl1pPr>
            </a:lstStyle>
            <a:p>
              <a:r>
                <a:t>Split</a:t>
              </a:r>
            </a:p>
          </p:txBody>
        </p:sp>
      </p:grpSp>
      <p:sp>
        <p:nvSpPr>
          <p:cNvPr id="878" name="Rectangle"/>
          <p:cNvSpPr/>
          <p:nvPr/>
        </p:nvSpPr>
        <p:spPr>
          <a:xfrm>
            <a:off x="1657350" y="2190750"/>
            <a:ext cx="1107281" cy="428625"/>
          </a:xfrm>
          <a:prstGeom prst="rect">
            <a:avLst/>
          </a:prstGeom>
          <a:solidFill>
            <a:srgbClr val="0A6B61"/>
          </a:solidFill>
          <a:ln>
            <a:solidFill>
              <a:srgbClr val="FFFFFF"/>
            </a:solidFill>
          </a:ln>
        </p:spPr>
        <p:txBody>
          <a:bodyPr lIns="0" tIns="0" rIns="0" bIns="0"/>
          <a:lstStyle/>
          <a:p>
            <a:endParaRPr/>
          </a:p>
        </p:txBody>
      </p:sp>
      <p:grpSp>
        <p:nvGrpSpPr>
          <p:cNvPr id="881" name="Group"/>
          <p:cNvGrpSpPr/>
          <p:nvPr/>
        </p:nvGrpSpPr>
        <p:grpSpPr>
          <a:xfrm>
            <a:off x="1733550" y="2266950"/>
            <a:ext cx="954880" cy="333375"/>
            <a:chOff x="0" y="0"/>
            <a:chExt cx="954879" cy="333375"/>
          </a:xfrm>
        </p:grpSpPr>
        <p:sp>
          <p:nvSpPr>
            <p:cNvPr id="879"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880" name="Accuracy"/>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Accuracy</a:t>
              </a:r>
            </a:p>
          </p:txBody>
        </p:sp>
      </p:grpSp>
      <p:sp>
        <p:nvSpPr>
          <p:cNvPr id="882" name="Rectangle"/>
          <p:cNvSpPr/>
          <p:nvPr/>
        </p:nvSpPr>
        <p:spPr>
          <a:xfrm>
            <a:off x="2764631" y="2190750"/>
            <a:ext cx="1107282" cy="428625"/>
          </a:xfrm>
          <a:prstGeom prst="rect">
            <a:avLst/>
          </a:prstGeom>
          <a:solidFill>
            <a:srgbClr val="0A6B61"/>
          </a:solidFill>
          <a:ln>
            <a:solidFill>
              <a:srgbClr val="FFFFFF"/>
            </a:solidFill>
          </a:ln>
        </p:spPr>
        <p:txBody>
          <a:bodyPr lIns="0" tIns="0" rIns="0" bIns="0"/>
          <a:lstStyle/>
          <a:p>
            <a:endParaRPr/>
          </a:p>
        </p:txBody>
      </p:sp>
      <p:grpSp>
        <p:nvGrpSpPr>
          <p:cNvPr id="885" name="Group"/>
          <p:cNvGrpSpPr/>
          <p:nvPr/>
        </p:nvGrpSpPr>
        <p:grpSpPr>
          <a:xfrm>
            <a:off x="2840831" y="2266950"/>
            <a:ext cx="954881" cy="333375"/>
            <a:chOff x="0" y="0"/>
            <a:chExt cx="954879" cy="333375"/>
          </a:xfrm>
        </p:grpSpPr>
        <p:sp>
          <p:nvSpPr>
            <p:cNvPr id="883"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884" name="Balanced"/>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Balanced</a:t>
              </a:r>
            </a:p>
          </p:txBody>
        </p:sp>
      </p:grpSp>
      <p:sp>
        <p:nvSpPr>
          <p:cNvPr id="886" name="Rectangle"/>
          <p:cNvSpPr/>
          <p:nvPr/>
        </p:nvSpPr>
        <p:spPr>
          <a:xfrm>
            <a:off x="3871912" y="2190750"/>
            <a:ext cx="1107282" cy="428625"/>
          </a:xfrm>
          <a:prstGeom prst="rect">
            <a:avLst/>
          </a:prstGeom>
          <a:solidFill>
            <a:srgbClr val="0A6B61"/>
          </a:solidFill>
          <a:ln>
            <a:solidFill>
              <a:srgbClr val="FFFFFF"/>
            </a:solidFill>
          </a:ln>
        </p:spPr>
        <p:txBody>
          <a:bodyPr lIns="0" tIns="0" rIns="0" bIns="0"/>
          <a:lstStyle/>
          <a:p>
            <a:endParaRPr/>
          </a:p>
        </p:txBody>
      </p:sp>
      <p:grpSp>
        <p:nvGrpSpPr>
          <p:cNvPr id="889" name="Group"/>
          <p:cNvGrpSpPr/>
          <p:nvPr/>
        </p:nvGrpSpPr>
        <p:grpSpPr>
          <a:xfrm>
            <a:off x="3948112" y="2266950"/>
            <a:ext cx="954881" cy="333375"/>
            <a:chOff x="0" y="0"/>
            <a:chExt cx="954879" cy="333375"/>
          </a:xfrm>
        </p:grpSpPr>
        <p:sp>
          <p:nvSpPr>
            <p:cNvPr id="887"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888" name="F1"/>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F1</a:t>
              </a:r>
            </a:p>
          </p:txBody>
        </p:sp>
      </p:grpSp>
      <p:sp>
        <p:nvSpPr>
          <p:cNvPr id="890" name="Rectangle"/>
          <p:cNvSpPr/>
          <p:nvPr/>
        </p:nvSpPr>
        <p:spPr>
          <a:xfrm>
            <a:off x="4979194" y="2190750"/>
            <a:ext cx="1107282" cy="428625"/>
          </a:xfrm>
          <a:prstGeom prst="rect">
            <a:avLst/>
          </a:prstGeom>
          <a:solidFill>
            <a:srgbClr val="0A6B61"/>
          </a:solidFill>
          <a:ln>
            <a:solidFill>
              <a:srgbClr val="FFFFFF"/>
            </a:solidFill>
          </a:ln>
        </p:spPr>
        <p:txBody>
          <a:bodyPr lIns="0" tIns="0" rIns="0" bIns="0"/>
          <a:lstStyle/>
          <a:p>
            <a:endParaRPr/>
          </a:p>
        </p:txBody>
      </p:sp>
      <p:grpSp>
        <p:nvGrpSpPr>
          <p:cNvPr id="893" name="Group"/>
          <p:cNvGrpSpPr/>
          <p:nvPr/>
        </p:nvGrpSpPr>
        <p:grpSpPr>
          <a:xfrm>
            <a:off x="5055394" y="2266950"/>
            <a:ext cx="954881" cy="333375"/>
            <a:chOff x="0" y="0"/>
            <a:chExt cx="954879" cy="333375"/>
          </a:xfrm>
        </p:grpSpPr>
        <p:sp>
          <p:nvSpPr>
            <p:cNvPr id="891"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b="1">
                  <a:solidFill>
                    <a:srgbClr val="FFFFFF"/>
                  </a:solidFill>
                  <a:latin typeface="Aptos"/>
                  <a:ea typeface="Aptos"/>
                  <a:cs typeface="Aptos"/>
                  <a:sym typeface="Aptos"/>
                </a:defRPr>
              </a:pPr>
              <a:endParaRPr/>
            </a:p>
          </p:txBody>
        </p:sp>
        <p:sp>
          <p:nvSpPr>
            <p:cNvPr id="892" name="Macro F1"/>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b="1">
                  <a:solidFill>
                    <a:srgbClr val="FFFFFF"/>
                  </a:solidFill>
                  <a:latin typeface="Aptos"/>
                  <a:ea typeface="Aptos"/>
                  <a:cs typeface="Aptos"/>
                  <a:sym typeface="Aptos"/>
                </a:defRPr>
              </a:lvl1pPr>
            </a:lstStyle>
            <a:p>
              <a:r>
                <a:t>Macro F1</a:t>
              </a:r>
            </a:p>
          </p:txBody>
        </p:sp>
      </p:grpSp>
      <p:sp>
        <p:nvSpPr>
          <p:cNvPr id="894" name="Rectangle"/>
          <p:cNvSpPr/>
          <p:nvPr/>
        </p:nvSpPr>
        <p:spPr>
          <a:xfrm>
            <a:off x="704850" y="2619375"/>
            <a:ext cx="952500" cy="428625"/>
          </a:xfrm>
          <a:prstGeom prst="rect">
            <a:avLst/>
          </a:prstGeom>
          <a:solidFill>
            <a:srgbClr val="FFFFFF"/>
          </a:solidFill>
          <a:ln>
            <a:solidFill>
              <a:srgbClr val="DFE5E2"/>
            </a:solidFill>
          </a:ln>
        </p:spPr>
        <p:txBody>
          <a:bodyPr lIns="0" tIns="0" rIns="0" bIns="0"/>
          <a:lstStyle/>
          <a:p>
            <a:endParaRPr/>
          </a:p>
        </p:txBody>
      </p:sp>
      <p:grpSp>
        <p:nvGrpSpPr>
          <p:cNvPr id="897" name="Group"/>
          <p:cNvGrpSpPr/>
          <p:nvPr/>
        </p:nvGrpSpPr>
        <p:grpSpPr>
          <a:xfrm>
            <a:off x="781050" y="2695575"/>
            <a:ext cx="800100" cy="333375"/>
            <a:chOff x="0" y="0"/>
            <a:chExt cx="800100" cy="333375"/>
          </a:xfrm>
        </p:grpSpPr>
        <p:sp>
          <p:nvSpPr>
            <p:cNvPr id="895" name="Rectangle"/>
            <p:cNvSpPr/>
            <p:nvPr/>
          </p:nvSpPr>
          <p:spPr>
            <a:xfrm>
              <a:off x="0" y="0"/>
              <a:ext cx="80010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896" name="70/30"/>
            <p:cNvSpPr txBox="1"/>
            <p:nvPr/>
          </p:nvSpPr>
          <p:spPr>
            <a:xfrm>
              <a:off x="0" y="0"/>
              <a:ext cx="8001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70/30</a:t>
              </a:r>
            </a:p>
          </p:txBody>
        </p:sp>
      </p:grpSp>
      <p:sp>
        <p:nvSpPr>
          <p:cNvPr id="898" name="Rectangle"/>
          <p:cNvSpPr/>
          <p:nvPr/>
        </p:nvSpPr>
        <p:spPr>
          <a:xfrm>
            <a:off x="1657350" y="2619375"/>
            <a:ext cx="1107281" cy="428625"/>
          </a:xfrm>
          <a:prstGeom prst="rect">
            <a:avLst/>
          </a:prstGeom>
          <a:solidFill>
            <a:srgbClr val="FFFFFF"/>
          </a:solidFill>
          <a:ln>
            <a:solidFill>
              <a:srgbClr val="DFE5E2"/>
            </a:solidFill>
          </a:ln>
        </p:spPr>
        <p:txBody>
          <a:bodyPr lIns="0" tIns="0" rIns="0" bIns="0"/>
          <a:lstStyle/>
          <a:p>
            <a:endParaRPr/>
          </a:p>
        </p:txBody>
      </p:sp>
      <p:grpSp>
        <p:nvGrpSpPr>
          <p:cNvPr id="901" name="Group"/>
          <p:cNvGrpSpPr/>
          <p:nvPr/>
        </p:nvGrpSpPr>
        <p:grpSpPr>
          <a:xfrm>
            <a:off x="1733550" y="2695575"/>
            <a:ext cx="954880" cy="333375"/>
            <a:chOff x="0" y="0"/>
            <a:chExt cx="954879" cy="333375"/>
          </a:xfrm>
        </p:grpSpPr>
        <p:sp>
          <p:nvSpPr>
            <p:cNvPr id="899"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00" name="91.0%"/>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91.0%</a:t>
              </a:r>
            </a:p>
          </p:txBody>
        </p:sp>
      </p:grpSp>
      <p:sp>
        <p:nvSpPr>
          <p:cNvPr id="902" name="Rectangle"/>
          <p:cNvSpPr/>
          <p:nvPr/>
        </p:nvSpPr>
        <p:spPr>
          <a:xfrm>
            <a:off x="2764631" y="2619375"/>
            <a:ext cx="1107282" cy="428625"/>
          </a:xfrm>
          <a:prstGeom prst="rect">
            <a:avLst/>
          </a:prstGeom>
          <a:solidFill>
            <a:srgbClr val="FFFFFF"/>
          </a:solidFill>
          <a:ln>
            <a:solidFill>
              <a:srgbClr val="DFE5E2"/>
            </a:solidFill>
          </a:ln>
        </p:spPr>
        <p:txBody>
          <a:bodyPr lIns="0" tIns="0" rIns="0" bIns="0"/>
          <a:lstStyle/>
          <a:p>
            <a:endParaRPr/>
          </a:p>
        </p:txBody>
      </p:sp>
      <p:grpSp>
        <p:nvGrpSpPr>
          <p:cNvPr id="905" name="Group"/>
          <p:cNvGrpSpPr/>
          <p:nvPr/>
        </p:nvGrpSpPr>
        <p:grpSpPr>
          <a:xfrm>
            <a:off x="2840831" y="2695575"/>
            <a:ext cx="954881" cy="333375"/>
            <a:chOff x="0" y="0"/>
            <a:chExt cx="954879" cy="333375"/>
          </a:xfrm>
        </p:grpSpPr>
        <p:sp>
          <p:nvSpPr>
            <p:cNvPr id="903"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04" name="89.9%"/>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89.9%</a:t>
              </a:r>
            </a:p>
          </p:txBody>
        </p:sp>
      </p:grpSp>
      <p:sp>
        <p:nvSpPr>
          <p:cNvPr id="906" name="Rectangle"/>
          <p:cNvSpPr/>
          <p:nvPr/>
        </p:nvSpPr>
        <p:spPr>
          <a:xfrm>
            <a:off x="3871912" y="2619375"/>
            <a:ext cx="1107282" cy="428625"/>
          </a:xfrm>
          <a:prstGeom prst="rect">
            <a:avLst/>
          </a:prstGeom>
          <a:solidFill>
            <a:srgbClr val="FFFFFF"/>
          </a:solidFill>
          <a:ln>
            <a:solidFill>
              <a:srgbClr val="DFE5E2"/>
            </a:solidFill>
          </a:ln>
        </p:spPr>
        <p:txBody>
          <a:bodyPr lIns="0" tIns="0" rIns="0" bIns="0"/>
          <a:lstStyle/>
          <a:p>
            <a:endParaRPr/>
          </a:p>
        </p:txBody>
      </p:sp>
      <p:grpSp>
        <p:nvGrpSpPr>
          <p:cNvPr id="909" name="Group"/>
          <p:cNvGrpSpPr/>
          <p:nvPr/>
        </p:nvGrpSpPr>
        <p:grpSpPr>
          <a:xfrm>
            <a:off x="3948112" y="2695575"/>
            <a:ext cx="954881" cy="333375"/>
            <a:chOff x="0" y="0"/>
            <a:chExt cx="954879" cy="333375"/>
          </a:xfrm>
        </p:grpSpPr>
        <p:sp>
          <p:nvSpPr>
            <p:cNvPr id="907"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08" name="91.2%"/>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91.2%</a:t>
              </a:r>
            </a:p>
          </p:txBody>
        </p:sp>
      </p:grpSp>
      <p:sp>
        <p:nvSpPr>
          <p:cNvPr id="910" name="Rectangle"/>
          <p:cNvSpPr/>
          <p:nvPr/>
        </p:nvSpPr>
        <p:spPr>
          <a:xfrm>
            <a:off x="4979194" y="2619375"/>
            <a:ext cx="1107282" cy="428625"/>
          </a:xfrm>
          <a:prstGeom prst="rect">
            <a:avLst/>
          </a:prstGeom>
          <a:solidFill>
            <a:srgbClr val="FFFFFF"/>
          </a:solidFill>
          <a:ln>
            <a:solidFill>
              <a:srgbClr val="DFE5E2"/>
            </a:solidFill>
          </a:ln>
        </p:spPr>
        <p:txBody>
          <a:bodyPr lIns="0" tIns="0" rIns="0" bIns="0"/>
          <a:lstStyle/>
          <a:p>
            <a:endParaRPr/>
          </a:p>
        </p:txBody>
      </p:sp>
      <p:grpSp>
        <p:nvGrpSpPr>
          <p:cNvPr id="913" name="Group"/>
          <p:cNvGrpSpPr/>
          <p:nvPr/>
        </p:nvGrpSpPr>
        <p:grpSpPr>
          <a:xfrm>
            <a:off x="5055394" y="2695575"/>
            <a:ext cx="954881" cy="333375"/>
            <a:chOff x="0" y="0"/>
            <a:chExt cx="954879" cy="333375"/>
          </a:xfrm>
        </p:grpSpPr>
        <p:sp>
          <p:nvSpPr>
            <p:cNvPr id="911"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12" name="89.5%"/>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89.5%</a:t>
              </a:r>
            </a:p>
          </p:txBody>
        </p:sp>
      </p:grpSp>
      <p:sp>
        <p:nvSpPr>
          <p:cNvPr id="914" name="Rectangle"/>
          <p:cNvSpPr/>
          <p:nvPr/>
        </p:nvSpPr>
        <p:spPr>
          <a:xfrm>
            <a:off x="704850" y="3048000"/>
            <a:ext cx="952500" cy="428625"/>
          </a:xfrm>
          <a:prstGeom prst="rect">
            <a:avLst/>
          </a:prstGeom>
          <a:solidFill>
            <a:srgbClr val="F1F5F3"/>
          </a:solidFill>
          <a:ln>
            <a:solidFill>
              <a:srgbClr val="DFE5E2"/>
            </a:solidFill>
          </a:ln>
        </p:spPr>
        <p:txBody>
          <a:bodyPr lIns="0" tIns="0" rIns="0" bIns="0"/>
          <a:lstStyle/>
          <a:p>
            <a:endParaRPr/>
          </a:p>
        </p:txBody>
      </p:sp>
      <p:grpSp>
        <p:nvGrpSpPr>
          <p:cNvPr id="917" name="Group"/>
          <p:cNvGrpSpPr/>
          <p:nvPr/>
        </p:nvGrpSpPr>
        <p:grpSpPr>
          <a:xfrm>
            <a:off x="781050" y="3124200"/>
            <a:ext cx="800100" cy="333375"/>
            <a:chOff x="0" y="0"/>
            <a:chExt cx="800100" cy="333375"/>
          </a:xfrm>
        </p:grpSpPr>
        <p:sp>
          <p:nvSpPr>
            <p:cNvPr id="915" name="Rectangle"/>
            <p:cNvSpPr/>
            <p:nvPr/>
          </p:nvSpPr>
          <p:spPr>
            <a:xfrm>
              <a:off x="0" y="0"/>
              <a:ext cx="80010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916" name="75/25"/>
            <p:cNvSpPr txBox="1"/>
            <p:nvPr/>
          </p:nvSpPr>
          <p:spPr>
            <a:xfrm>
              <a:off x="0" y="0"/>
              <a:ext cx="8001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75/25</a:t>
              </a:r>
            </a:p>
          </p:txBody>
        </p:sp>
      </p:grpSp>
      <p:sp>
        <p:nvSpPr>
          <p:cNvPr id="918" name="Rectangle"/>
          <p:cNvSpPr/>
          <p:nvPr/>
        </p:nvSpPr>
        <p:spPr>
          <a:xfrm>
            <a:off x="1657350" y="3048000"/>
            <a:ext cx="1107281" cy="428625"/>
          </a:xfrm>
          <a:prstGeom prst="rect">
            <a:avLst/>
          </a:prstGeom>
          <a:solidFill>
            <a:srgbClr val="F1F5F3"/>
          </a:solidFill>
          <a:ln>
            <a:solidFill>
              <a:srgbClr val="DFE5E2"/>
            </a:solidFill>
          </a:ln>
        </p:spPr>
        <p:txBody>
          <a:bodyPr lIns="0" tIns="0" rIns="0" bIns="0"/>
          <a:lstStyle/>
          <a:p>
            <a:endParaRPr/>
          </a:p>
        </p:txBody>
      </p:sp>
      <p:grpSp>
        <p:nvGrpSpPr>
          <p:cNvPr id="921" name="Group"/>
          <p:cNvGrpSpPr/>
          <p:nvPr/>
        </p:nvGrpSpPr>
        <p:grpSpPr>
          <a:xfrm>
            <a:off x="1733550" y="3124200"/>
            <a:ext cx="954880" cy="333375"/>
            <a:chOff x="0" y="0"/>
            <a:chExt cx="954879" cy="333375"/>
          </a:xfrm>
        </p:grpSpPr>
        <p:sp>
          <p:nvSpPr>
            <p:cNvPr id="919"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20" name="89.3%"/>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89.3%</a:t>
              </a:r>
            </a:p>
          </p:txBody>
        </p:sp>
      </p:grpSp>
      <p:sp>
        <p:nvSpPr>
          <p:cNvPr id="922" name="Rectangle"/>
          <p:cNvSpPr/>
          <p:nvPr/>
        </p:nvSpPr>
        <p:spPr>
          <a:xfrm>
            <a:off x="2764631" y="3048000"/>
            <a:ext cx="1107282" cy="428625"/>
          </a:xfrm>
          <a:prstGeom prst="rect">
            <a:avLst/>
          </a:prstGeom>
          <a:solidFill>
            <a:srgbClr val="F1F5F3"/>
          </a:solidFill>
          <a:ln>
            <a:solidFill>
              <a:srgbClr val="DFE5E2"/>
            </a:solidFill>
          </a:ln>
        </p:spPr>
        <p:txBody>
          <a:bodyPr lIns="0" tIns="0" rIns="0" bIns="0"/>
          <a:lstStyle/>
          <a:p>
            <a:endParaRPr/>
          </a:p>
        </p:txBody>
      </p:sp>
      <p:grpSp>
        <p:nvGrpSpPr>
          <p:cNvPr id="925" name="Group"/>
          <p:cNvGrpSpPr/>
          <p:nvPr/>
        </p:nvGrpSpPr>
        <p:grpSpPr>
          <a:xfrm>
            <a:off x="2840831" y="3124200"/>
            <a:ext cx="954881" cy="333375"/>
            <a:chOff x="0" y="0"/>
            <a:chExt cx="954879" cy="333375"/>
          </a:xfrm>
        </p:grpSpPr>
        <p:sp>
          <p:nvSpPr>
            <p:cNvPr id="923"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24" name="87.8%"/>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87.8%</a:t>
              </a:r>
            </a:p>
          </p:txBody>
        </p:sp>
      </p:grpSp>
      <p:sp>
        <p:nvSpPr>
          <p:cNvPr id="926" name="Rectangle"/>
          <p:cNvSpPr/>
          <p:nvPr/>
        </p:nvSpPr>
        <p:spPr>
          <a:xfrm>
            <a:off x="3871912" y="3048000"/>
            <a:ext cx="1107282" cy="428625"/>
          </a:xfrm>
          <a:prstGeom prst="rect">
            <a:avLst/>
          </a:prstGeom>
          <a:solidFill>
            <a:srgbClr val="F1F5F3"/>
          </a:solidFill>
          <a:ln>
            <a:solidFill>
              <a:srgbClr val="DFE5E2"/>
            </a:solidFill>
          </a:ln>
        </p:spPr>
        <p:txBody>
          <a:bodyPr lIns="0" tIns="0" rIns="0" bIns="0"/>
          <a:lstStyle/>
          <a:p>
            <a:endParaRPr/>
          </a:p>
        </p:txBody>
      </p:sp>
      <p:grpSp>
        <p:nvGrpSpPr>
          <p:cNvPr id="929" name="Group"/>
          <p:cNvGrpSpPr/>
          <p:nvPr/>
        </p:nvGrpSpPr>
        <p:grpSpPr>
          <a:xfrm>
            <a:off x="3948112" y="3124200"/>
            <a:ext cx="954881" cy="333375"/>
            <a:chOff x="0" y="0"/>
            <a:chExt cx="954879" cy="333375"/>
          </a:xfrm>
        </p:grpSpPr>
        <p:sp>
          <p:nvSpPr>
            <p:cNvPr id="927"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28" name="89.4%"/>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89.4%</a:t>
              </a:r>
            </a:p>
          </p:txBody>
        </p:sp>
      </p:grpSp>
      <p:sp>
        <p:nvSpPr>
          <p:cNvPr id="930" name="Rectangle"/>
          <p:cNvSpPr/>
          <p:nvPr/>
        </p:nvSpPr>
        <p:spPr>
          <a:xfrm>
            <a:off x="4979194" y="3048000"/>
            <a:ext cx="1107282" cy="428625"/>
          </a:xfrm>
          <a:prstGeom prst="rect">
            <a:avLst/>
          </a:prstGeom>
          <a:solidFill>
            <a:srgbClr val="F1F5F3"/>
          </a:solidFill>
          <a:ln>
            <a:solidFill>
              <a:srgbClr val="DFE5E2"/>
            </a:solidFill>
          </a:ln>
        </p:spPr>
        <p:txBody>
          <a:bodyPr lIns="0" tIns="0" rIns="0" bIns="0"/>
          <a:lstStyle/>
          <a:p>
            <a:endParaRPr/>
          </a:p>
        </p:txBody>
      </p:sp>
      <p:grpSp>
        <p:nvGrpSpPr>
          <p:cNvPr id="933" name="Group"/>
          <p:cNvGrpSpPr/>
          <p:nvPr/>
        </p:nvGrpSpPr>
        <p:grpSpPr>
          <a:xfrm>
            <a:off x="5055394" y="3124200"/>
            <a:ext cx="954881" cy="333375"/>
            <a:chOff x="0" y="0"/>
            <a:chExt cx="954879" cy="333375"/>
          </a:xfrm>
        </p:grpSpPr>
        <p:sp>
          <p:nvSpPr>
            <p:cNvPr id="931"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32" name="87.3%"/>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87.3%</a:t>
              </a:r>
            </a:p>
          </p:txBody>
        </p:sp>
      </p:grpSp>
      <p:sp>
        <p:nvSpPr>
          <p:cNvPr id="934" name="Rectangle"/>
          <p:cNvSpPr/>
          <p:nvPr/>
        </p:nvSpPr>
        <p:spPr>
          <a:xfrm>
            <a:off x="704850" y="3476625"/>
            <a:ext cx="952500" cy="428625"/>
          </a:xfrm>
          <a:prstGeom prst="rect">
            <a:avLst/>
          </a:prstGeom>
          <a:solidFill>
            <a:srgbClr val="FFFFFF"/>
          </a:solidFill>
          <a:ln>
            <a:solidFill>
              <a:srgbClr val="DFE5E2"/>
            </a:solidFill>
          </a:ln>
        </p:spPr>
        <p:txBody>
          <a:bodyPr lIns="0" tIns="0" rIns="0" bIns="0"/>
          <a:lstStyle/>
          <a:p>
            <a:endParaRPr/>
          </a:p>
        </p:txBody>
      </p:sp>
      <p:grpSp>
        <p:nvGrpSpPr>
          <p:cNvPr id="937" name="Group"/>
          <p:cNvGrpSpPr/>
          <p:nvPr/>
        </p:nvGrpSpPr>
        <p:grpSpPr>
          <a:xfrm>
            <a:off x="781050" y="3552825"/>
            <a:ext cx="800100" cy="333375"/>
            <a:chOff x="0" y="0"/>
            <a:chExt cx="800100" cy="333375"/>
          </a:xfrm>
        </p:grpSpPr>
        <p:sp>
          <p:nvSpPr>
            <p:cNvPr id="935" name="Rectangle"/>
            <p:cNvSpPr/>
            <p:nvPr/>
          </p:nvSpPr>
          <p:spPr>
            <a:xfrm>
              <a:off x="0" y="0"/>
              <a:ext cx="80010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10242C"/>
                  </a:solidFill>
                  <a:latin typeface="Aptos"/>
                  <a:ea typeface="Aptos"/>
                  <a:cs typeface="Aptos"/>
                  <a:sym typeface="Aptos"/>
                </a:defRPr>
              </a:pPr>
              <a:endParaRPr/>
            </a:p>
          </p:txBody>
        </p:sp>
        <p:sp>
          <p:nvSpPr>
            <p:cNvPr id="936" name="80/20"/>
            <p:cNvSpPr txBox="1"/>
            <p:nvPr/>
          </p:nvSpPr>
          <p:spPr>
            <a:xfrm>
              <a:off x="0" y="0"/>
              <a:ext cx="8001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10242C"/>
                  </a:solidFill>
                  <a:latin typeface="Aptos"/>
                  <a:ea typeface="Aptos"/>
                  <a:cs typeface="Aptos"/>
                  <a:sym typeface="Aptos"/>
                </a:defRPr>
              </a:lvl1pPr>
            </a:lstStyle>
            <a:p>
              <a:r>
                <a:t>80/20</a:t>
              </a:r>
            </a:p>
          </p:txBody>
        </p:sp>
      </p:grpSp>
      <p:sp>
        <p:nvSpPr>
          <p:cNvPr id="938" name="Rectangle"/>
          <p:cNvSpPr/>
          <p:nvPr/>
        </p:nvSpPr>
        <p:spPr>
          <a:xfrm>
            <a:off x="1657350" y="3476625"/>
            <a:ext cx="1107281" cy="428625"/>
          </a:xfrm>
          <a:prstGeom prst="rect">
            <a:avLst/>
          </a:prstGeom>
          <a:solidFill>
            <a:srgbClr val="FFFFFF"/>
          </a:solidFill>
          <a:ln>
            <a:solidFill>
              <a:srgbClr val="DFE5E2"/>
            </a:solidFill>
          </a:ln>
        </p:spPr>
        <p:txBody>
          <a:bodyPr lIns="0" tIns="0" rIns="0" bIns="0"/>
          <a:lstStyle/>
          <a:p>
            <a:endParaRPr/>
          </a:p>
        </p:txBody>
      </p:sp>
      <p:grpSp>
        <p:nvGrpSpPr>
          <p:cNvPr id="941" name="Group"/>
          <p:cNvGrpSpPr/>
          <p:nvPr/>
        </p:nvGrpSpPr>
        <p:grpSpPr>
          <a:xfrm>
            <a:off x="1733550" y="3552825"/>
            <a:ext cx="954880" cy="333375"/>
            <a:chOff x="0" y="0"/>
            <a:chExt cx="954879" cy="333375"/>
          </a:xfrm>
        </p:grpSpPr>
        <p:sp>
          <p:nvSpPr>
            <p:cNvPr id="939"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40" name="88.9%"/>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88.9%</a:t>
              </a:r>
            </a:p>
          </p:txBody>
        </p:sp>
      </p:grpSp>
      <p:sp>
        <p:nvSpPr>
          <p:cNvPr id="942" name="Rectangle"/>
          <p:cNvSpPr/>
          <p:nvPr/>
        </p:nvSpPr>
        <p:spPr>
          <a:xfrm>
            <a:off x="2764631" y="3476625"/>
            <a:ext cx="1107282" cy="428625"/>
          </a:xfrm>
          <a:prstGeom prst="rect">
            <a:avLst/>
          </a:prstGeom>
          <a:solidFill>
            <a:srgbClr val="FFFFFF"/>
          </a:solidFill>
          <a:ln>
            <a:solidFill>
              <a:srgbClr val="DFE5E2"/>
            </a:solidFill>
          </a:ln>
        </p:spPr>
        <p:txBody>
          <a:bodyPr lIns="0" tIns="0" rIns="0" bIns="0"/>
          <a:lstStyle/>
          <a:p>
            <a:endParaRPr/>
          </a:p>
        </p:txBody>
      </p:sp>
      <p:grpSp>
        <p:nvGrpSpPr>
          <p:cNvPr id="945" name="Group"/>
          <p:cNvGrpSpPr/>
          <p:nvPr/>
        </p:nvGrpSpPr>
        <p:grpSpPr>
          <a:xfrm>
            <a:off x="2840831" y="3552825"/>
            <a:ext cx="954881" cy="333375"/>
            <a:chOff x="0" y="0"/>
            <a:chExt cx="954879" cy="333375"/>
          </a:xfrm>
        </p:grpSpPr>
        <p:sp>
          <p:nvSpPr>
            <p:cNvPr id="943"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44" name="85.6%"/>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85.6%</a:t>
              </a:r>
            </a:p>
          </p:txBody>
        </p:sp>
      </p:grpSp>
      <p:sp>
        <p:nvSpPr>
          <p:cNvPr id="946" name="Rectangle"/>
          <p:cNvSpPr/>
          <p:nvPr/>
        </p:nvSpPr>
        <p:spPr>
          <a:xfrm>
            <a:off x="3871912" y="3476625"/>
            <a:ext cx="1107282" cy="428625"/>
          </a:xfrm>
          <a:prstGeom prst="rect">
            <a:avLst/>
          </a:prstGeom>
          <a:solidFill>
            <a:srgbClr val="FFFFFF"/>
          </a:solidFill>
          <a:ln>
            <a:solidFill>
              <a:srgbClr val="DFE5E2"/>
            </a:solidFill>
          </a:ln>
        </p:spPr>
        <p:txBody>
          <a:bodyPr lIns="0" tIns="0" rIns="0" bIns="0"/>
          <a:lstStyle/>
          <a:p>
            <a:endParaRPr/>
          </a:p>
        </p:txBody>
      </p:sp>
      <p:grpSp>
        <p:nvGrpSpPr>
          <p:cNvPr id="949" name="Group"/>
          <p:cNvGrpSpPr/>
          <p:nvPr/>
        </p:nvGrpSpPr>
        <p:grpSpPr>
          <a:xfrm>
            <a:off x="3948112" y="3552825"/>
            <a:ext cx="954881" cy="333375"/>
            <a:chOff x="0" y="0"/>
            <a:chExt cx="954879" cy="333375"/>
          </a:xfrm>
        </p:grpSpPr>
        <p:sp>
          <p:nvSpPr>
            <p:cNvPr id="947"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48" name="89.1%"/>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89.1%</a:t>
              </a:r>
            </a:p>
          </p:txBody>
        </p:sp>
      </p:grpSp>
      <p:sp>
        <p:nvSpPr>
          <p:cNvPr id="950" name="Rectangle"/>
          <p:cNvSpPr/>
          <p:nvPr/>
        </p:nvSpPr>
        <p:spPr>
          <a:xfrm>
            <a:off x="4979194" y="3476625"/>
            <a:ext cx="1107282" cy="428625"/>
          </a:xfrm>
          <a:prstGeom prst="rect">
            <a:avLst/>
          </a:prstGeom>
          <a:solidFill>
            <a:srgbClr val="FFFFFF"/>
          </a:solidFill>
          <a:ln>
            <a:solidFill>
              <a:srgbClr val="DFE5E2"/>
            </a:solidFill>
          </a:ln>
        </p:spPr>
        <p:txBody>
          <a:bodyPr lIns="0" tIns="0" rIns="0" bIns="0"/>
          <a:lstStyle/>
          <a:p>
            <a:endParaRPr/>
          </a:p>
        </p:txBody>
      </p:sp>
      <p:grpSp>
        <p:nvGrpSpPr>
          <p:cNvPr id="953" name="Group"/>
          <p:cNvGrpSpPr/>
          <p:nvPr/>
        </p:nvGrpSpPr>
        <p:grpSpPr>
          <a:xfrm>
            <a:off x="5055394" y="3552825"/>
            <a:ext cx="954881" cy="333375"/>
            <a:chOff x="0" y="0"/>
            <a:chExt cx="954879" cy="333375"/>
          </a:xfrm>
        </p:grpSpPr>
        <p:sp>
          <p:nvSpPr>
            <p:cNvPr id="951" name="Rectangle"/>
            <p:cNvSpPr/>
            <p:nvPr/>
          </p:nvSpPr>
          <p:spPr>
            <a:xfrm>
              <a:off x="0" y="0"/>
              <a:ext cx="954880" cy="3333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10242C"/>
                  </a:solidFill>
                  <a:latin typeface="Aptos"/>
                  <a:ea typeface="Aptos"/>
                  <a:cs typeface="Aptos"/>
                  <a:sym typeface="Aptos"/>
                </a:defRPr>
              </a:pPr>
              <a:endParaRPr/>
            </a:p>
          </p:txBody>
        </p:sp>
        <p:sp>
          <p:nvSpPr>
            <p:cNvPr id="952" name="85.4%"/>
            <p:cNvSpPr txBox="1"/>
            <p:nvPr/>
          </p:nvSpPr>
          <p:spPr>
            <a:xfrm>
              <a:off x="0" y="0"/>
              <a:ext cx="95488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10242C"/>
                  </a:solidFill>
                  <a:latin typeface="Aptos"/>
                  <a:ea typeface="Aptos"/>
                  <a:cs typeface="Aptos"/>
                  <a:sym typeface="Aptos"/>
                </a:defRPr>
              </a:lvl1pPr>
            </a:lstStyle>
            <a:p>
              <a:r>
                <a:t>85.4%</a:t>
              </a:r>
            </a:p>
          </p:txBody>
        </p:sp>
      </p:grpSp>
      <p:sp>
        <p:nvSpPr>
          <p:cNvPr id="954" name="Rectangle"/>
          <p:cNvSpPr/>
          <p:nvPr/>
        </p:nvSpPr>
        <p:spPr>
          <a:xfrm>
            <a:off x="6896100" y="2171700"/>
            <a:ext cx="3695700" cy="2000250"/>
          </a:xfrm>
          <a:prstGeom prst="rect">
            <a:avLst/>
          </a:prstGeom>
          <a:solidFill>
            <a:srgbClr val="FFFFFF"/>
          </a:solidFill>
          <a:ln>
            <a:solidFill>
              <a:srgbClr val="E4EAE7"/>
            </a:solidFill>
          </a:ln>
        </p:spPr>
        <p:txBody>
          <a:bodyPr lIns="0" tIns="0" rIns="0" bIns="0"/>
          <a:lstStyle/>
          <a:p>
            <a:endParaRPr/>
          </a:p>
        </p:txBody>
      </p:sp>
      <p:grpSp>
        <p:nvGrpSpPr>
          <p:cNvPr id="957" name="Group"/>
          <p:cNvGrpSpPr/>
          <p:nvPr/>
        </p:nvGrpSpPr>
        <p:grpSpPr>
          <a:xfrm>
            <a:off x="7162800" y="2428875"/>
            <a:ext cx="3162300" cy="558800"/>
            <a:chOff x="0" y="0"/>
            <a:chExt cx="3162300" cy="558800"/>
          </a:xfrm>
        </p:grpSpPr>
        <p:sp>
          <p:nvSpPr>
            <p:cNvPr id="955" name="Rectangle"/>
            <p:cNvSpPr/>
            <p:nvPr/>
          </p:nvSpPr>
          <p:spPr>
            <a:xfrm>
              <a:off x="0" y="0"/>
              <a:ext cx="3162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956" name="Why 70/30 is used in the final run"/>
            <p:cNvSpPr txBox="1"/>
            <p:nvPr/>
          </p:nvSpPr>
          <p:spPr>
            <a:xfrm>
              <a:off x="0" y="0"/>
              <a:ext cx="3162300" cy="558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Why 70/30 is used in the final run</a:t>
              </a:r>
            </a:p>
          </p:txBody>
        </p:sp>
      </p:grpSp>
      <p:grpSp>
        <p:nvGrpSpPr>
          <p:cNvPr id="960" name="Group"/>
          <p:cNvGrpSpPr/>
          <p:nvPr/>
        </p:nvGrpSpPr>
        <p:grpSpPr>
          <a:xfrm>
            <a:off x="7162800" y="2933700"/>
            <a:ext cx="3162300" cy="904875"/>
            <a:chOff x="0" y="0"/>
            <a:chExt cx="3162300" cy="904875"/>
          </a:xfrm>
        </p:grpSpPr>
        <p:sp>
          <p:nvSpPr>
            <p:cNvPr id="958" name="Rectangle"/>
            <p:cNvSpPr/>
            <p:nvPr/>
          </p:nvSpPr>
          <p:spPr>
            <a:xfrm>
              <a:off x="0" y="0"/>
              <a:ext cx="3162300" cy="904875"/>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959" name="The 70/30 split gives the largest test set among the three experiments and still delivers the best overall Gradient Boosting performance. That makes the evaluation more convincing for a small educational dataset."/>
            <p:cNvSpPr txBox="1"/>
            <p:nvPr/>
          </p:nvSpPr>
          <p:spPr>
            <a:xfrm>
              <a:off x="0" y="0"/>
              <a:ext cx="3162300" cy="889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The 70/30 split gives the largest test set among the three experiments and still delivers the best overall Gradient Boosting performance. That makes the evaluation more convincing for a small educational dataset.</a:t>
              </a:r>
            </a:p>
          </p:txBody>
        </p:sp>
      </p:grpSp>
      <p:grpSp>
        <p:nvGrpSpPr>
          <p:cNvPr id="963" name="Group"/>
          <p:cNvGrpSpPr/>
          <p:nvPr/>
        </p:nvGrpSpPr>
        <p:grpSpPr>
          <a:xfrm>
            <a:off x="952500" y="4476750"/>
            <a:ext cx="1714500" cy="228600"/>
            <a:chOff x="0" y="0"/>
            <a:chExt cx="1714500" cy="228600"/>
          </a:xfrm>
        </p:grpSpPr>
        <p:sp>
          <p:nvSpPr>
            <p:cNvPr id="961"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10242C"/>
                  </a:solidFill>
                  <a:latin typeface="Aptos"/>
                  <a:ea typeface="Aptos"/>
                  <a:cs typeface="Aptos"/>
                  <a:sym typeface="Aptos"/>
                </a:defRPr>
              </a:pPr>
              <a:endParaRPr/>
            </a:p>
          </p:txBody>
        </p:sp>
        <p:sp>
          <p:nvSpPr>
            <p:cNvPr id="962" name="70/30"/>
            <p:cNvSpPr txBox="1"/>
            <p:nvPr/>
          </p:nvSpPr>
          <p:spPr>
            <a:xfrm>
              <a:off x="0" y="0"/>
              <a:ext cx="1714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10242C"/>
                  </a:solidFill>
                  <a:latin typeface="Aptos"/>
                  <a:ea typeface="Aptos"/>
                  <a:cs typeface="Aptos"/>
                  <a:sym typeface="Aptos"/>
                </a:defRPr>
              </a:lvl1pPr>
            </a:lstStyle>
            <a:p>
              <a:r>
                <a:t>70/30</a:t>
              </a:r>
            </a:p>
          </p:txBody>
        </p:sp>
      </p:grpSp>
      <p:sp>
        <p:nvSpPr>
          <p:cNvPr id="964" name="Rectangle"/>
          <p:cNvSpPr/>
          <p:nvPr/>
        </p:nvSpPr>
        <p:spPr>
          <a:xfrm>
            <a:off x="1466849" y="4259262"/>
            <a:ext cx="685801" cy="1123951"/>
          </a:xfrm>
          <a:prstGeom prst="rect">
            <a:avLst/>
          </a:prstGeom>
          <a:solidFill>
            <a:srgbClr val="E6ECE9"/>
          </a:solidFill>
          <a:ln w="3175">
            <a:solidFill>
              <a:srgbClr val="000000">
                <a:alpha val="0"/>
              </a:srgbClr>
            </a:solidFill>
          </a:ln>
        </p:spPr>
        <p:txBody>
          <a:bodyPr lIns="0" tIns="0" rIns="0" bIns="0"/>
          <a:lstStyle/>
          <a:p>
            <a:endParaRPr/>
          </a:p>
        </p:txBody>
      </p:sp>
      <p:sp>
        <p:nvSpPr>
          <p:cNvPr id="965" name="Rectangle"/>
          <p:cNvSpPr/>
          <p:nvPr/>
        </p:nvSpPr>
        <p:spPr>
          <a:xfrm>
            <a:off x="1466850" y="4378324"/>
            <a:ext cx="685801" cy="1024643"/>
          </a:xfrm>
          <a:prstGeom prst="rect">
            <a:avLst/>
          </a:prstGeom>
          <a:solidFill>
            <a:srgbClr val="0A6B61"/>
          </a:solidFill>
          <a:ln w="3175">
            <a:solidFill>
              <a:srgbClr val="000000">
                <a:alpha val="0"/>
              </a:srgbClr>
            </a:solidFill>
          </a:ln>
        </p:spPr>
        <p:txBody>
          <a:bodyPr lIns="0" tIns="0" rIns="0" bIns="0"/>
          <a:lstStyle/>
          <a:p>
            <a:endParaRPr/>
          </a:p>
        </p:txBody>
      </p:sp>
      <p:grpSp>
        <p:nvGrpSpPr>
          <p:cNvPr id="968" name="Group"/>
          <p:cNvGrpSpPr/>
          <p:nvPr/>
        </p:nvGrpSpPr>
        <p:grpSpPr>
          <a:xfrm>
            <a:off x="1095374" y="5700712"/>
            <a:ext cx="1428751" cy="228601"/>
            <a:chOff x="0" y="0"/>
            <a:chExt cx="1428750" cy="228600"/>
          </a:xfrm>
        </p:grpSpPr>
        <p:sp>
          <p:nvSpPr>
            <p:cNvPr id="966" name="Rectangle"/>
            <p:cNvSpPr/>
            <p:nvPr/>
          </p:nvSpPr>
          <p:spPr>
            <a:xfrm>
              <a:off x="0" y="0"/>
              <a:ext cx="1428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967" name="91.2% weighted F1"/>
            <p:cNvSpPr txBox="1"/>
            <p:nvPr/>
          </p:nvSpPr>
          <p:spPr>
            <a:xfrm>
              <a:off x="0" y="0"/>
              <a:ext cx="14287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5E6A70"/>
                  </a:solidFill>
                  <a:latin typeface="Aptos"/>
                  <a:ea typeface="Aptos"/>
                  <a:cs typeface="Aptos"/>
                  <a:sym typeface="Aptos"/>
                </a:defRPr>
              </a:lvl1pPr>
            </a:lstStyle>
            <a:p>
              <a:r>
                <a:t>91.2% weighted F1</a:t>
              </a:r>
            </a:p>
          </p:txBody>
        </p:sp>
      </p:grpSp>
      <p:grpSp>
        <p:nvGrpSpPr>
          <p:cNvPr id="971" name="Group"/>
          <p:cNvGrpSpPr/>
          <p:nvPr/>
        </p:nvGrpSpPr>
        <p:grpSpPr>
          <a:xfrm>
            <a:off x="4286250" y="4476750"/>
            <a:ext cx="1714500" cy="228600"/>
            <a:chOff x="0" y="0"/>
            <a:chExt cx="1714500" cy="228600"/>
          </a:xfrm>
        </p:grpSpPr>
        <p:sp>
          <p:nvSpPr>
            <p:cNvPr id="969"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10242C"/>
                  </a:solidFill>
                  <a:latin typeface="Aptos"/>
                  <a:ea typeface="Aptos"/>
                  <a:cs typeface="Aptos"/>
                  <a:sym typeface="Aptos"/>
                </a:defRPr>
              </a:pPr>
              <a:endParaRPr/>
            </a:p>
          </p:txBody>
        </p:sp>
        <p:sp>
          <p:nvSpPr>
            <p:cNvPr id="970" name="75/25"/>
            <p:cNvSpPr txBox="1"/>
            <p:nvPr/>
          </p:nvSpPr>
          <p:spPr>
            <a:xfrm>
              <a:off x="0" y="0"/>
              <a:ext cx="1714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10242C"/>
                  </a:solidFill>
                  <a:latin typeface="Aptos"/>
                  <a:ea typeface="Aptos"/>
                  <a:cs typeface="Aptos"/>
                  <a:sym typeface="Aptos"/>
                </a:defRPr>
              </a:lvl1pPr>
            </a:lstStyle>
            <a:p>
              <a:r>
                <a:t>75/25</a:t>
              </a:r>
            </a:p>
          </p:txBody>
        </p:sp>
      </p:grpSp>
      <p:sp>
        <p:nvSpPr>
          <p:cNvPr id="972" name="Rectangle"/>
          <p:cNvSpPr/>
          <p:nvPr/>
        </p:nvSpPr>
        <p:spPr>
          <a:xfrm>
            <a:off x="4800600" y="4354512"/>
            <a:ext cx="685801" cy="1123951"/>
          </a:xfrm>
          <a:prstGeom prst="rect">
            <a:avLst/>
          </a:prstGeom>
          <a:solidFill>
            <a:srgbClr val="E6ECE9"/>
          </a:solidFill>
          <a:ln w="3175">
            <a:solidFill>
              <a:srgbClr val="000000">
                <a:alpha val="0"/>
              </a:srgbClr>
            </a:solidFill>
          </a:ln>
        </p:spPr>
        <p:txBody>
          <a:bodyPr lIns="0" tIns="0" rIns="0" bIns="0"/>
          <a:lstStyle/>
          <a:p>
            <a:endParaRPr/>
          </a:p>
        </p:txBody>
      </p:sp>
      <p:sp>
        <p:nvSpPr>
          <p:cNvPr id="973" name="Rectangle"/>
          <p:cNvSpPr/>
          <p:nvPr/>
        </p:nvSpPr>
        <p:spPr>
          <a:xfrm>
            <a:off x="4800600" y="4463985"/>
            <a:ext cx="685801" cy="1005018"/>
          </a:xfrm>
          <a:prstGeom prst="rect">
            <a:avLst/>
          </a:prstGeom>
          <a:solidFill>
            <a:srgbClr val="2C6FB2"/>
          </a:solidFill>
          <a:ln w="3175">
            <a:solidFill>
              <a:srgbClr val="000000">
                <a:alpha val="0"/>
              </a:srgbClr>
            </a:solidFill>
          </a:ln>
        </p:spPr>
        <p:txBody>
          <a:bodyPr lIns="0" tIns="0" rIns="0" bIns="0"/>
          <a:lstStyle/>
          <a:p>
            <a:endParaRPr/>
          </a:p>
        </p:txBody>
      </p:sp>
      <p:grpSp>
        <p:nvGrpSpPr>
          <p:cNvPr id="976" name="Group"/>
          <p:cNvGrpSpPr/>
          <p:nvPr/>
        </p:nvGrpSpPr>
        <p:grpSpPr>
          <a:xfrm>
            <a:off x="4429125" y="5724525"/>
            <a:ext cx="1428751" cy="228601"/>
            <a:chOff x="0" y="0"/>
            <a:chExt cx="1428750" cy="228600"/>
          </a:xfrm>
        </p:grpSpPr>
        <p:sp>
          <p:nvSpPr>
            <p:cNvPr id="974" name="Rectangle"/>
            <p:cNvSpPr/>
            <p:nvPr/>
          </p:nvSpPr>
          <p:spPr>
            <a:xfrm>
              <a:off x="0" y="0"/>
              <a:ext cx="1428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975" name="89.4% weighted F1"/>
            <p:cNvSpPr txBox="1"/>
            <p:nvPr/>
          </p:nvSpPr>
          <p:spPr>
            <a:xfrm>
              <a:off x="0" y="0"/>
              <a:ext cx="14287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5E6A70"/>
                  </a:solidFill>
                  <a:latin typeface="Aptos"/>
                  <a:ea typeface="Aptos"/>
                  <a:cs typeface="Aptos"/>
                  <a:sym typeface="Aptos"/>
                </a:defRPr>
              </a:lvl1pPr>
            </a:lstStyle>
            <a:p>
              <a:r>
                <a:t>89.4% weighted F1</a:t>
              </a:r>
            </a:p>
          </p:txBody>
        </p:sp>
      </p:grpSp>
      <p:grpSp>
        <p:nvGrpSpPr>
          <p:cNvPr id="979" name="Group"/>
          <p:cNvGrpSpPr/>
          <p:nvPr/>
        </p:nvGrpSpPr>
        <p:grpSpPr>
          <a:xfrm>
            <a:off x="7620000" y="4476750"/>
            <a:ext cx="1714500" cy="228600"/>
            <a:chOff x="0" y="0"/>
            <a:chExt cx="1714500" cy="228600"/>
          </a:xfrm>
        </p:grpSpPr>
        <p:sp>
          <p:nvSpPr>
            <p:cNvPr id="977"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b="1">
                  <a:solidFill>
                    <a:srgbClr val="10242C"/>
                  </a:solidFill>
                  <a:latin typeface="Aptos"/>
                  <a:ea typeface="Aptos"/>
                  <a:cs typeface="Aptos"/>
                  <a:sym typeface="Aptos"/>
                </a:defRPr>
              </a:pPr>
              <a:endParaRPr/>
            </a:p>
          </p:txBody>
        </p:sp>
        <p:sp>
          <p:nvSpPr>
            <p:cNvPr id="978" name="80/20"/>
            <p:cNvSpPr txBox="1"/>
            <p:nvPr/>
          </p:nvSpPr>
          <p:spPr>
            <a:xfrm>
              <a:off x="0" y="0"/>
              <a:ext cx="1714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b="1">
                  <a:solidFill>
                    <a:srgbClr val="10242C"/>
                  </a:solidFill>
                  <a:latin typeface="Aptos"/>
                  <a:ea typeface="Aptos"/>
                  <a:cs typeface="Aptos"/>
                  <a:sym typeface="Aptos"/>
                </a:defRPr>
              </a:lvl1pPr>
            </a:lstStyle>
            <a:p>
              <a:r>
                <a:t>80/20</a:t>
              </a:r>
            </a:p>
          </p:txBody>
        </p:sp>
      </p:grpSp>
      <p:sp>
        <p:nvSpPr>
          <p:cNvPr id="980" name="Rectangle"/>
          <p:cNvSpPr/>
          <p:nvPr/>
        </p:nvSpPr>
        <p:spPr>
          <a:xfrm>
            <a:off x="8134350" y="4402137"/>
            <a:ext cx="685801" cy="1123951"/>
          </a:xfrm>
          <a:prstGeom prst="rect">
            <a:avLst/>
          </a:prstGeom>
          <a:solidFill>
            <a:srgbClr val="E6ECE9"/>
          </a:solidFill>
          <a:ln w="3175">
            <a:solidFill>
              <a:srgbClr val="000000">
                <a:alpha val="0"/>
              </a:srgbClr>
            </a:solidFill>
          </a:ln>
        </p:spPr>
        <p:txBody>
          <a:bodyPr lIns="0" tIns="0" rIns="0" bIns="0"/>
          <a:lstStyle/>
          <a:p>
            <a:endParaRPr/>
          </a:p>
        </p:txBody>
      </p:sp>
      <p:sp>
        <p:nvSpPr>
          <p:cNvPr id="981" name="Rectangle"/>
          <p:cNvSpPr/>
          <p:nvPr/>
        </p:nvSpPr>
        <p:spPr>
          <a:xfrm>
            <a:off x="8134350" y="4509152"/>
            <a:ext cx="685801" cy="1001996"/>
          </a:xfrm>
          <a:prstGeom prst="rect">
            <a:avLst/>
          </a:prstGeom>
          <a:solidFill>
            <a:srgbClr val="2C6FB2"/>
          </a:solidFill>
          <a:ln w="3175">
            <a:solidFill>
              <a:srgbClr val="000000">
                <a:alpha val="0"/>
              </a:srgbClr>
            </a:solidFill>
          </a:ln>
        </p:spPr>
        <p:txBody>
          <a:bodyPr lIns="0" tIns="0" rIns="0" bIns="0"/>
          <a:lstStyle/>
          <a:p>
            <a:endParaRPr/>
          </a:p>
        </p:txBody>
      </p:sp>
      <p:grpSp>
        <p:nvGrpSpPr>
          <p:cNvPr id="984" name="Group"/>
          <p:cNvGrpSpPr/>
          <p:nvPr/>
        </p:nvGrpSpPr>
        <p:grpSpPr>
          <a:xfrm>
            <a:off x="7762875" y="5756275"/>
            <a:ext cx="1428751" cy="228601"/>
            <a:chOff x="0" y="0"/>
            <a:chExt cx="1428750" cy="228600"/>
          </a:xfrm>
        </p:grpSpPr>
        <p:sp>
          <p:nvSpPr>
            <p:cNvPr id="982" name="Rectangle"/>
            <p:cNvSpPr/>
            <p:nvPr/>
          </p:nvSpPr>
          <p:spPr>
            <a:xfrm>
              <a:off x="0" y="0"/>
              <a:ext cx="1428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900">
                  <a:solidFill>
                    <a:srgbClr val="5E6A70"/>
                  </a:solidFill>
                  <a:latin typeface="Aptos"/>
                  <a:ea typeface="Aptos"/>
                  <a:cs typeface="Aptos"/>
                  <a:sym typeface="Aptos"/>
                </a:defRPr>
              </a:pPr>
              <a:endParaRPr/>
            </a:p>
          </p:txBody>
        </p:sp>
        <p:sp>
          <p:nvSpPr>
            <p:cNvPr id="983" name="89.1% weighted F1"/>
            <p:cNvSpPr txBox="1"/>
            <p:nvPr/>
          </p:nvSpPr>
          <p:spPr>
            <a:xfrm>
              <a:off x="0" y="0"/>
              <a:ext cx="14287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900">
                  <a:solidFill>
                    <a:srgbClr val="5E6A70"/>
                  </a:solidFill>
                  <a:latin typeface="Aptos"/>
                  <a:ea typeface="Aptos"/>
                  <a:cs typeface="Aptos"/>
                  <a:sym typeface="Aptos"/>
                </a:defRPr>
              </a:lvl1pPr>
            </a:lstStyle>
            <a:p>
              <a:r>
                <a:t>89.1% weighted F1</a:t>
              </a:r>
            </a:p>
          </p:txBody>
        </p:sp>
      </p:gr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987"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990" name="Group"/>
          <p:cNvGrpSpPr/>
          <p:nvPr/>
        </p:nvGrpSpPr>
        <p:grpSpPr>
          <a:xfrm>
            <a:off x="533400" y="323850"/>
            <a:ext cx="4953000" cy="228600"/>
            <a:chOff x="0" y="0"/>
            <a:chExt cx="4953000" cy="228600"/>
          </a:xfrm>
        </p:grpSpPr>
        <p:sp>
          <p:nvSpPr>
            <p:cNvPr id="98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989"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993" name="Group"/>
          <p:cNvGrpSpPr/>
          <p:nvPr/>
        </p:nvGrpSpPr>
        <p:grpSpPr>
          <a:xfrm>
            <a:off x="533400" y="723900"/>
            <a:ext cx="6667500" cy="609600"/>
            <a:chOff x="0" y="0"/>
            <a:chExt cx="6667500" cy="609600"/>
          </a:xfrm>
        </p:grpSpPr>
        <p:sp>
          <p:nvSpPr>
            <p:cNvPr id="991"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992" name="Classification Model Comparis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Classification Model Comparison</a:t>
              </a:r>
            </a:p>
          </p:txBody>
        </p:sp>
      </p:grpSp>
      <p:grpSp>
        <p:nvGrpSpPr>
          <p:cNvPr id="996" name="Group"/>
          <p:cNvGrpSpPr/>
          <p:nvPr/>
        </p:nvGrpSpPr>
        <p:grpSpPr>
          <a:xfrm>
            <a:off x="552450" y="1485900"/>
            <a:ext cx="6477000" cy="457200"/>
            <a:chOff x="0" y="0"/>
            <a:chExt cx="6477000" cy="457200"/>
          </a:xfrm>
        </p:grpSpPr>
        <p:sp>
          <p:nvSpPr>
            <p:cNvPr id="994"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995" name="Three classifiers were evaluated on the same engineered features and target segments. Gradient Boosting is the strongest choice."/>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Three classifiers were evaluated on the same engineered features and target segments. Gradient Boosting is the strongest choice.</a:t>
              </a:r>
            </a:p>
          </p:txBody>
        </p:sp>
      </p:grpSp>
      <p:grpSp>
        <p:nvGrpSpPr>
          <p:cNvPr id="999" name="Group"/>
          <p:cNvGrpSpPr/>
          <p:nvPr/>
        </p:nvGrpSpPr>
        <p:grpSpPr>
          <a:xfrm>
            <a:off x="533400" y="6438900"/>
            <a:ext cx="4953000" cy="228600"/>
            <a:chOff x="0" y="0"/>
            <a:chExt cx="4953000" cy="228600"/>
          </a:xfrm>
        </p:grpSpPr>
        <p:sp>
          <p:nvSpPr>
            <p:cNvPr id="997"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998"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002" name="Group"/>
          <p:cNvGrpSpPr/>
          <p:nvPr/>
        </p:nvGrpSpPr>
        <p:grpSpPr>
          <a:xfrm>
            <a:off x="11125200" y="6419850"/>
            <a:ext cx="514350" cy="228600"/>
            <a:chOff x="0" y="0"/>
            <a:chExt cx="514350" cy="228600"/>
          </a:xfrm>
        </p:grpSpPr>
        <p:sp>
          <p:nvSpPr>
            <p:cNvPr id="1000"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001" name="11"/>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11</a:t>
              </a:r>
            </a:p>
          </p:txBody>
        </p:sp>
      </p:grpSp>
      <p:grpSp>
        <p:nvGrpSpPr>
          <p:cNvPr id="1005" name="Group"/>
          <p:cNvGrpSpPr/>
          <p:nvPr/>
        </p:nvGrpSpPr>
        <p:grpSpPr>
          <a:xfrm>
            <a:off x="723900" y="2152650"/>
            <a:ext cx="3905250" cy="266700"/>
            <a:chOff x="0" y="0"/>
            <a:chExt cx="3905250" cy="266700"/>
          </a:xfrm>
        </p:grpSpPr>
        <p:sp>
          <p:nvSpPr>
            <p:cNvPr id="1003" name="Rectangle"/>
            <p:cNvSpPr/>
            <p:nvPr/>
          </p:nvSpPr>
          <p:spPr>
            <a:xfrm>
              <a:off x="0" y="0"/>
              <a:ext cx="3905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700" b="1">
                  <a:solidFill>
                    <a:srgbClr val="10242C"/>
                  </a:solidFill>
                  <a:latin typeface="Aptos Display"/>
                  <a:ea typeface="Aptos Display"/>
                  <a:cs typeface="Aptos Display"/>
                  <a:sym typeface="Aptos Display"/>
                </a:defRPr>
              </a:pPr>
              <a:endParaRPr/>
            </a:p>
          </p:txBody>
        </p:sp>
        <p:sp>
          <p:nvSpPr>
            <p:cNvPr id="1004" name="Weighted F1 Score"/>
            <p:cNvSpPr txBox="1"/>
            <p:nvPr/>
          </p:nvSpPr>
          <p:spPr>
            <a:xfrm>
              <a:off x="0" y="0"/>
              <a:ext cx="3905250" cy="254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700" b="1">
                  <a:solidFill>
                    <a:srgbClr val="10242C"/>
                  </a:solidFill>
                  <a:latin typeface="Aptos Display"/>
                  <a:ea typeface="Aptos Display"/>
                  <a:cs typeface="Aptos Display"/>
                  <a:sym typeface="Aptos Display"/>
                </a:defRPr>
              </a:lvl1pPr>
            </a:lstStyle>
            <a:p>
              <a:r>
                <a:t>Weighted F1 Score</a:t>
              </a:r>
            </a:p>
          </p:txBody>
        </p:sp>
      </p:grpSp>
      <p:grpSp>
        <p:nvGrpSpPr>
          <p:cNvPr id="1008" name="Group"/>
          <p:cNvGrpSpPr/>
          <p:nvPr/>
        </p:nvGrpSpPr>
        <p:grpSpPr>
          <a:xfrm>
            <a:off x="723900" y="2619375"/>
            <a:ext cx="1600200" cy="266700"/>
            <a:chOff x="0" y="0"/>
            <a:chExt cx="1600200" cy="266700"/>
          </a:xfrm>
        </p:grpSpPr>
        <p:sp>
          <p:nvSpPr>
            <p:cNvPr id="1006"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b="1">
                  <a:solidFill>
                    <a:srgbClr val="10242C"/>
                  </a:solidFill>
                  <a:latin typeface="Aptos"/>
                  <a:ea typeface="Aptos"/>
                  <a:cs typeface="Aptos"/>
                  <a:sym typeface="Aptos"/>
                </a:defRPr>
              </a:pPr>
              <a:endParaRPr/>
            </a:p>
          </p:txBody>
        </p:sp>
        <p:sp>
          <p:nvSpPr>
            <p:cNvPr id="1007" name="Gradient Boosting"/>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b="1">
                  <a:solidFill>
                    <a:srgbClr val="10242C"/>
                  </a:solidFill>
                  <a:latin typeface="Aptos"/>
                  <a:ea typeface="Aptos"/>
                  <a:cs typeface="Aptos"/>
                  <a:sym typeface="Aptos"/>
                </a:defRPr>
              </a:lvl1pPr>
            </a:lstStyle>
            <a:p>
              <a:r>
                <a:t>Gradient Boosting</a:t>
              </a:r>
            </a:p>
          </p:txBody>
        </p:sp>
      </p:grpSp>
      <p:sp>
        <p:nvSpPr>
          <p:cNvPr id="1009" name="Rectangle"/>
          <p:cNvSpPr/>
          <p:nvPr/>
        </p:nvSpPr>
        <p:spPr>
          <a:xfrm>
            <a:off x="2324100" y="268605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10" name="Rectangle"/>
          <p:cNvSpPr/>
          <p:nvPr/>
        </p:nvSpPr>
        <p:spPr>
          <a:xfrm>
            <a:off x="2324099" y="2686050"/>
            <a:ext cx="2413987" cy="152400"/>
          </a:xfrm>
          <a:prstGeom prst="rect">
            <a:avLst/>
          </a:prstGeom>
          <a:solidFill>
            <a:srgbClr val="0A6B61"/>
          </a:solidFill>
          <a:ln w="3175">
            <a:solidFill>
              <a:srgbClr val="000000">
                <a:alpha val="0"/>
              </a:srgbClr>
            </a:solidFill>
          </a:ln>
        </p:spPr>
        <p:txBody>
          <a:bodyPr lIns="0" tIns="0" rIns="0" bIns="0"/>
          <a:lstStyle/>
          <a:p>
            <a:endParaRPr/>
          </a:p>
        </p:txBody>
      </p:sp>
      <p:grpSp>
        <p:nvGrpSpPr>
          <p:cNvPr id="1013" name="Group"/>
          <p:cNvGrpSpPr/>
          <p:nvPr/>
        </p:nvGrpSpPr>
        <p:grpSpPr>
          <a:xfrm>
            <a:off x="5057775" y="2628900"/>
            <a:ext cx="619125" cy="228600"/>
            <a:chOff x="0" y="0"/>
            <a:chExt cx="619125" cy="228600"/>
          </a:xfrm>
        </p:grpSpPr>
        <p:sp>
          <p:nvSpPr>
            <p:cNvPr id="1011"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12" name="91.2%"/>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91.2%</a:t>
              </a:r>
            </a:p>
          </p:txBody>
        </p:sp>
      </p:grpSp>
      <p:grpSp>
        <p:nvGrpSpPr>
          <p:cNvPr id="1016" name="Group"/>
          <p:cNvGrpSpPr/>
          <p:nvPr/>
        </p:nvGrpSpPr>
        <p:grpSpPr>
          <a:xfrm>
            <a:off x="723900" y="3171825"/>
            <a:ext cx="1600200" cy="266700"/>
            <a:chOff x="0" y="0"/>
            <a:chExt cx="1600200" cy="266700"/>
          </a:xfrm>
        </p:grpSpPr>
        <p:sp>
          <p:nvSpPr>
            <p:cNvPr id="1014"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015" name="Random Forest"/>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Random Forest</a:t>
              </a:r>
            </a:p>
          </p:txBody>
        </p:sp>
      </p:grpSp>
      <p:sp>
        <p:nvSpPr>
          <p:cNvPr id="1017" name="Rectangle"/>
          <p:cNvSpPr/>
          <p:nvPr/>
        </p:nvSpPr>
        <p:spPr>
          <a:xfrm>
            <a:off x="2324100" y="323850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18" name="Rectangle"/>
          <p:cNvSpPr/>
          <p:nvPr/>
        </p:nvSpPr>
        <p:spPr>
          <a:xfrm>
            <a:off x="2324099" y="3238500"/>
            <a:ext cx="2335234" cy="152400"/>
          </a:xfrm>
          <a:prstGeom prst="rect">
            <a:avLst/>
          </a:prstGeom>
          <a:solidFill>
            <a:srgbClr val="2C6FB2"/>
          </a:solidFill>
          <a:ln w="3175">
            <a:solidFill>
              <a:srgbClr val="000000">
                <a:alpha val="0"/>
              </a:srgbClr>
            </a:solidFill>
          </a:ln>
        </p:spPr>
        <p:txBody>
          <a:bodyPr lIns="0" tIns="0" rIns="0" bIns="0"/>
          <a:lstStyle/>
          <a:p>
            <a:endParaRPr/>
          </a:p>
        </p:txBody>
      </p:sp>
      <p:grpSp>
        <p:nvGrpSpPr>
          <p:cNvPr id="1021" name="Group"/>
          <p:cNvGrpSpPr/>
          <p:nvPr/>
        </p:nvGrpSpPr>
        <p:grpSpPr>
          <a:xfrm>
            <a:off x="5057775" y="3181350"/>
            <a:ext cx="619125" cy="228600"/>
            <a:chOff x="0" y="0"/>
            <a:chExt cx="619125" cy="228600"/>
          </a:xfrm>
        </p:grpSpPr>
        <p:sp>
          <p:nvSpPr>
            <p:cNvPr id="1019"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20" name="88.2%"/>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88.2%</a:t>
              </a:r>
            </a:p>
          </p:txBody>
        </p:sp>
      </p:grpSp>
      <p:grpSp>
        <p:nvGrpSpPr>
          <p:cNvPr id="1024" name="Group"/>
          <p:cNvGrpSpPr/>
          <p:nvPr/>
        </p:nvGrpSpPr>
        <p:grpSpPr>
          <a:xfrm>
            <a:off x="723900" y="3724275"/>
            <a:ext cx="1600200" cy="266700"/>
            <a:chOff x="0" y="0"/>
            <a:chExt cx="1600200" cy="266700"/>
          </a:xfrm>
        </p:grpSpPr>
        <p:sp>
          <p:nvSpPr>
            <p:cNvPr id="1022"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023" name="Decision Tree"/>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Decision Tree</a:t>
              </a:r>
            </a:p>
          </p:txBody>
        </p:sp>
      </p:grpSp>
      <p:sp>
        <p:nvSpPr>
          <p:cNvPr id="1025" name="Rectangle"/>
          <p:cNvSpPr/>
          <p:nvPr/>
        </p:nvSpPr>
        <p:spPr>
          <a:xfrm>
            <a:off x="2324100" y="379095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26" name="Rectangle"/>
          <p:cNvSpPr/>
          <p:nvPr/>
        </p:nvSpPr>
        <p:spPr>
          <a:xfrm>
            <a:off x="2324099" y="3790950"/>
            <a:ext cx="2146451" cy="152400"/>
          </a:xfrm>
          <a:prstGeom prst="rect">
            <a:avLst/>
          </a:prstGeom>
          <a:solidFill>
            <a:srgbClr val="C94E3C"/>
          </a:solidFill>
          <a:ln w="3175">
            <a:solidFill>
              <a:srgbClr val="000000">
                <a:alpha val="0"/>
              </a:srgbClr>
            </a:solidFill>
          </a:ln>
        </p:spPr>
        <p:txBody>
          <a:bodyPr lIns="0" tIns="0" rIns="0" bIns="0"/>
          <a:lstStyle/>
          <a:p>
            <a:endParaRPr/>
          </a:p>
        </p:txBody>
      </p:sp>
      <p:grpSp>
        <p:nvGrpSpPr>
          <p:cNvPr id="1029" name="Group"/>
          <p:cNvGrpSpPr/>
          <p:nvPr/>
        </p:nvGrpSpPr>
        <p:grpSpPr>
          <a:xfrm>
            <a:off x="5057775" y="3733800"/>
            <a:ext cx="619125" cy="228600"/>
            <a:chOff x="0" y="0"/>
            <a:chExt cx="619125" cy="228600"/>
          </a:xfrm>
        </p:grpSpPr>
        <p:sp>
          <p:nvSpPr>
            <p:cNvPr id="1027"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28" name="81.1%"/>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81.1%</a:t>
              </a:r>
            </a:p>
          </p:txBody>
        </p:sp>
      </p:grpSp>
      <p:grpSp>
        <p:nvGrpSpPr>
          <p:cNvPr id="1032" name="Group"/>
          <p:cNvGrpSpPr/>
          <p:nvPr/>
        </p:nvGrpSpPr>
        <p:grpSpPr>
          <a:xfrm>
            <a:off x="723900" y="4762500"/>
            <a:ext cx="3905250" cy="266700"/>
            <a:chOff x="0" y="0"/>
            <a:chExt cx="3905250" cy="266700"/>
          </a:xfrm>
        </p:grpSpPr>
        <p:sp>
          <p:nvSpPr>
            <p:cNvPr id="1030" name="Rectangle"/>
            <p:cNvSpPr/>
            <p:nvPr/>
          </p:nvSpPr>
          <p:spPr>
            <a:xfrm>
              <a:off x="0" y="0"/>
              <a:ext cx="39052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700" b="1">
                  <a:solidFill>
                    <a:srgbClr val="10242C"/>
                  </a:solidFill>
                  <a:latin typeface="Aptos Display"/>
                  <a:ea typeface="Aptos Display"/>
                  <a:cs typeface="Aptos Display"/>
                  <a:sym typeface="Aptos Display"/>
                </a:defRPr>
              </a:pPr>
              <a:endParaRPr/>
            </a:p>
          </p:txBody>
        </p:sp>
        <p:sp>
          <p:nvSpPr>
            <p:cNvPr id="1031" name="Balanced Accuracy"/>
            <p:cNvSpPr txBox="1"/>
            <p:nvPr/>
          </p:nvSpPr>
          <p:spPr>
            <a:xfrm>
              <a:off x="0" y="0"/>
              <a:ext cx="3905250" cy="254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700" b="1">
                  <a:solidFill>
                    <a:srgbClr val="10242C"/>
                  </a:solidFill>
                  <a:latin typeface="Aptos Display"/>
                  <a:ea typeface="Aptos Display"/>
                  <a:cs typeface="Aptos Display"/>
                  <a:sym typeface="Aptos Display"/>
                </a:defRPr>
              </a:lvl1pPr>
            </a:lstStyle>
            <a:p>
              <a:r>
                <a:t>Balanced Accuracy</a:t>
              </a:r>
            </a:p>
          </p:txBody>
        </p:sp>
      </p:grpSp>
      <p:grpSp>
        <p:nvGrpSpPr>
          <p:cNvPr id="1035" name="Group"/>
          <p:cNvGrpSpPr/>
          <p:nvPr/>
        </p:nvGrpSpPr>
        <p:grpSpPr>
          <a:xfrm>
            <a:off x="723900" y="5210175"/>
            <a:ext cx="1600200" cy="266700"/>
            <a:chOff x="0" y="0"/>
            <a:chExt cx="1600200" cy="266700"/>
          </a:xfrm>
        </p:grpSpPr>
        <p:sp>
          <p:nvSpPr>
            <p:cNvPr id="1033"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b="1">
                  <a:solidFill>
                    <a:srgbClr val="10242C"/>
                  </a:solidFill>
                  <a:latin typeface="Aptos"/>
                  <a:ea typeface="Aptos"/>
                  <a:cs typeface="Aptos"/>
                  <a:sym typeface="Aptos"/>
                </a:defRPr>
              </a:pPr>
              <a:endParaRPr/>
            </a:p>
          </p:txBody>
        </p:sp>
        <p:sp>
          <p:nvSpPr>
            <p:cNvPr id="1034" name="Gradient Boosting"/>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b="1">
                  <a:solidFill>
                    <a:srgbClr val="10242C"/>
                  </a:solidFill>
                  <a:latin typeface="Aptos"/>
                  <a:ea typeface="Aptos"/>
                  <a:cs typeface="Aptos"/>
                  <a:sym typeface="Aptos"/>
                </a:defRPr>
              </a:lvl1pPr>
            </a:lstStyle>
            <a:p>
              <a:r>
                <a:t>Gradient Boosting</a:t>
              </a:r>
            </a:p>
          </p:txBody>
        </p:sp>
      </p:grpSp>
      <p:sp>
        <p:nvSpPr>
          <p:cNvPr id="1036" name="Rectangle"/>
          <p:cNvSpPr/>
          <p:nvPr/>
        </p:nvSpPr>
        <p:spPr>
          <a:xfrm>
            <a:off x="2324100" y="527685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37" name="Rectangle"/>
          <p:cNvSpPr/>
          <p:nvPr/>
        </p:nvSpPr>
        <p:spPr>
          <a:xfrm>
            <a:off x="2324100" y="5276850"/>
            <a:ext cx="2380634" cy="152400"/>
          </a:xfrm>
          <a:prstGeom prst="rect">
            <a:avLst/>
          </a:prstGeom>
          <a:solidFill>
            <a:srgbClr val="0A6B61"/>
          </a:solidFill>
          <a:ln w="3175">
            <a:solidFill>
              <a:srgbClr val="000000">
                <a:alpha val="0"/>
              </a:srgbClr>
            </a:solidFill>
          </a:ln>
        </p:spPr>
        <p:txBody>
          <a:bodyPr lIns="0" tIns="0" rIns="0" bIns="0"/>
          <a:lstStyle/>
          <a:p>
            <a:endParaRPr/>
          </a:p>
        </p:txBody>
      </p:sp>
      <p:grpSp>
        <p:nvGrpSpPr>
          <p:cNvPr id="1040" name="Group"/>
          <p:cNvGrpSpPr/>
          <p:nvPr/>
        </p:nvGrpSpPr>
        <p:grpSpPr>
          <a:xfrm>
            <a:off x="5057775" y="5219700"/>
            <a:ext cx="619125" cy="228600"/>
            <a:chOff x="0" y="0"/>
            <a:chExt cx="619125" cy="228600"/>
          </a:xfrm>
        </p:grpSpPr>
        <p:sp>
          <p:nvSpPr>
            <p:cNvPr id="1038"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39" name="89.9%"/>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89.9%</a:t>
              </a:r>
            </a:p>
          </p:txBody>
        </p:sp>
      </p:grpSp>
      <p:grpSp>
        <p:nvGrpSpPr>
          <p:cNvPr id="1043" name="Group"/>
          <p:cNvGrpSpPr/>
          <p:nvPr/>
        </p:nvGrpSpPr>
        <p:grpSpPr>
          <a:xfrm>
            <a:off x="723900" y="5572125"/>
            <a:ext cx="1600200" cy="266700"/>
            <a:chOff x="0" y="0"/>
            <a:chExt cx="1600200" cy="266700"/>
          </a:xfrm>
        </p:grpSpPr>
        <p:sp>
          <p:nvSpPr>
            <p:cNvPr id="1041"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042" name="Random Forest"/>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Random Forest</a:t>
              </a:r>
            </a:p>
          </p:txBody>
        </p:sp>
      </p:grpSp>
      <p:sp>
        <p:nvSpPr>
          <p:cNvPr id="1044" name="Rectangle"/>
          <p:cNvSpPr/>
          <p:nvPr/>
        </p:nvSpPr>
        <p:spPr>
          <a:xfrm>
            <a:off x="2324100" y="563880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45" name="Rectangle"/>
          <p:cNvSpPr/>
          <p:nvPr/>
        </p:nvSpPr>
        <p:spPr>
          <a:xfrm>
            <a:off x="2324099" y="5638800"/>
            <a:ext cx="2304081" cy="152400"/>
          </a:xfrm>
          <a:prstGeom prst="rect">
            <a:avLst/>
          </a:prstGeom>
          <a:solidFill>
            <a:srgbClr val="2C6FB2"/>
          </a:solidFill>
          <a:ln w="3175">
            <a:solidFill>
              <a:srgbClr val="000000">
                <a:alpha val="0"/>
              </a:srgbClr>
            </a:solidFill>
          </a:ln>
        </p:spPr>
        <p:txBody>
          <a:bodyPr lIns="0" tIns="0" rIns="0" bIns="0"/>
          <a:lstStyle/>
          <a:p>
            <a:endParaRPr/>
          </a:p>
        </p:txBody>
      </p:sp>
      <p:grpSp>
        <p:nvGrpSpPr>
          <p:cNvPr id="1048" name="Group"/>
          <p:cNvGrpSpPr/>
          <p:nvPr/>
        </p:nvGrpSpPr>
        <p:grpSpPr>
          <a:xfrm>
            <a:off x="5057775" y="5581650"/>
            <a:ext cx="619125" cy="228600"/>
            <a:chOff x="0" y="0"/>
            <a:chExt cx="619125" cy="228600"/>
          </a:xfrm>
        </p:grpSpPr>
        <p:sp>
          <p:nvSpPr>
            <p:cNvPr id="1046"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47" name="87.0%"/>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87.0%</a:t>
              </a:r>
            </a:p>
          </p:txBody>
        </p:sp>
      </p:grpSp>
      <p:grpSp>
        <p:nvGrpSpPr>
          <p:cNvPr id="1051" name="Group"/>
          <p:cNvGrpSpPr/>
          <p:nvPr/>
        </p:nvGrpSpPr>
        <p:grpSpPr>
          <a:xfrm>
            <a:off x="723900" y="5934075"/>
            <a:ext cx="1600200" cy="266700"/>
            <a:chOff x="0" y="0"/>
            <a:chExt cx="1600200" cy="266700"/>
          </a:xfrm>
        </p:grpSpPr>
        <p:sp>
          <p:nvSpPr>
            <p:cNvPr id="1049" name="Rectangle"/>
            <p:cNvSpPr/>
            <p:nvPr/>
          </p:nvSpPr>
          <p:spPr>
            <a:xfrm>
              <a:off x="0" y="0"/>
              <a:ext cx="16002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050" name="Decision Tree"/>
            <p:cNvSpPr txBox="1"/>
            <p:nvPr/>
          </p:nvSpPr>
          <p:spPr>
            <a:xfrm>
              <a:off x="0" y="0"/>
              <a:ext cx="16002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Decision Tree</a:t>
              </a:r>
            </a:p>
          </p:txBody>
        </p:sp>
      </p:grpSp>
      <p:sp>
        <p:nvSpPr>
          <p:cNvPr id="1052" name="Rectangle"/>
          <p:cNvSpPr/>
          <p:nvPr/>
        </p:nvSpPr>
        <p:spPr>
          <a:xfrm>
            <a:off x="2324100" y="6000750"/>
            <a:ext cx="2647950" cy="152400"/>
          </a:xfrm>
          <a:prstGeom prst="rect">
            <a:avLst/>
          </a:prstGeom>
          <a:solidFill>
            <a:srgbClr val="E7ECEA"/>
          </a:solidFill>
          <a:ln w="3175">
            <a:solidFill>
              <a:srgbClr val="000000">
                <a:alpha val="0"/>
              </a:srgbClr>
            </a:solidFill>
          </a:ln>
        </p:spPr>
        <p:txBody>
          <a:bodyPr lIns="0" tIns="0" rIns="0" bIns="0"/>
          <a:lstStyle/>
          <a:p>
            <a:endParaRPr/>
          </a:p>
        </p:txBody>
      </p:sp>
      <p:sp>
        <p:nvSpPr>
          <p:cNvPr id="1053" name="Rectangle"/>
          <p:cNvSpPr/>
          <p:nvPr/>
        </p:nvSpPr>
        <p:spPr>
          <a:xfrm>
            <a:off x="2324099" y="6000750"/>
            <a:ext cx="2081910" cy="152400"/>
          </a:xfrm>
          <a:prstGeom prst="rect">
            <a:avLst/>
          </a:prstGeom>
          <a:solidFill>
            <a:srgbClr val="C94E3C"/>
          </a:solidFill>
          <a:ln w="3175">
            <a:solidFill>
              <a:srgbClr val="000000">
                <a:alpha val="0"/>
              </a:srgbClr>
            </a:solidFill>
          </a:ln>
        </p:spPr>
        <p:txBody>
          <a:bodyPr lIns="0" tIns="0" rIns="0" bIns="0"/>
          <a:lstStyle/>
          <a:p>
            <a:endParaRPr/>
          </a:p>
        </p:txBody>
      </p:sp>
      <p:grpSp>
        <p:nvGrpSpPr>
          <p:cNvPr id="1056" name="Group"/>
          <p:cNvGrpSpPr/>
          <p:nvPr/>
        </p:nvGrpSpPr>
        <p:grpSpPr>
          <a:xfrm>
            <a:off x="5057775" y="5943600"/>
            <a:ext cx="619125" cy="228600"/>
            <a:chOff x="0" y="0"/>
            <a:chExt cx="619125" cy="228600"/>
          </a:xfrm>
        </p:grpSpPr>
        <p:sp>
          <p:nvSpPr>
            <p:cNvPr id="1054"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055" name="78.6%"/>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78.6%</a:t>
              </a:r>
            </a:p>
          </p:txBody>
        </p:sp>
      </p:grpSp>
      <p:sp>
        <p:nvSpPr>
          <p:cNvPr id="1057" name="Rectangle"/>
          <p:cNvSpPr/>
          <p:nvPr/>
        </p:nvSpPr>
        <p:spPr>
          <a:xfrm>
            <a:off x="6572250" y="2152650"/>
            <a:ext cx="4095750" cy="1238250"/>
          </a:xfrm>
          <a:prstGeom prst="rect">
            <a:avLst/>
          </a:prstGeom>
          <a:solidFill>
            <a:srgbClr val="FFFFFF"/>
          </a:solidFill>
          <a:ln>
            <a:solidFill>
              <a:srgbClr val="E4EAE7"/>
            </a:solidFill>
          </a:ln>
        </p:spPr>
        <p:txBody>
          <a:bodyPr lIns="0" tIns="0" rIns="0" bIns="0"/>
          <a:lstStyle/>
          <a:p>
            <a:endParaRPr/>
          </a:p>
        </p:txBody>
      </p:sp>
      <p:sp>
        <p:nvSpPr>
          <p:cNvPr id="1058" name="Rectangle"/>
          <p:cNvSpPr/>
          <p:nvPr/>
        </p:nvSpPr>
        <p:spPr>
          <a:xfrm>
            <a:off x="6572250" y="2152650"/>
            <a:ext cx="4095750" cy="47625"/>
          </a:xfrm>
          <a:prstGeom prst="rect">
            <a:avLst/>
          </a:prstGeom>
          <a:solidFill>
            <a:srgbClr val="0A6B61"/>
          </a:solidFill>
          <a:ln w="3175">
            <a:solidFill>
              <a:srgbClr val="000000">
                <a:alpha val="0"/>
              </a:srgbClr>
            </a:solidFill>
          </a:ln>
        </p:spPr>
        <p:txBody>
          <a:bodyPr lIns="0" tIns="0" rIns="0" bIns="0"/>
          <a:lstStyle/>
          <a:p>
            <a:endParaRPr/>
          </a:p>
        </p:txBody>
      </p:sp>
      <p:grpSp>
        <p:nvGrpSpPr>
          <p:cNvPr id="1061" name="Group"/>
          <p:cNvGrpSpPr/>
          <p:nvPr/>
        </p:nvGrpSpPr>
        <p:grpSpPr>
          <a:xfrm>
            <a:off x="6743700" y="2343150"/>
            <a:ext cx="3752850" cy="266700"/>
            <a:chOff x="0" y="0"/>
            <a:chExt cx="3752850" cy="266700"/>
          </a:xfrm>
        </p:grpSpPr>
        <p:sp>
          <p:nvSpPr>
            <p:cNvPr id="1059" name="Rectangle"/>
            <p:cNvSpPr/>
            <p:nvPr/>
          </p:nvSpPr>
          <p:spPr>
            <a:xfrm>
              <a:off x="0" y="0"/>
              <a:ext cx="3752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060" name="1. Gradient Boosting"/>
            <p:cNvSpPr txBox="1"/>
            <p:nvPr/>
          </p:nvSpPr>
          <p:spPr>
            <a:xfrm>
              <a:off x="0" y="0"/>
              <a:ext cx="37528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1. Gradient Boosting</a:t>
              </a:r>
            </a:p>
          </p:txBody>
        </p:sp>
      </p:grpSp>
      <p:grpSp>
        <p:nvGrpSpPr>
          <p:cNvPr id="1064" name="Group"/>
          <p:cNvGrpSpPr/>
          <p:nvPr/>
        </p:nvGrpSpPr>
        <p:grpSpPr>
          <a:xfrm>
            <a:off x="6743700" y="2695575"/>
            <a:ext cx="3752850" cy="571500"/>
            <a:chOff x="0" y="0"/>
            <a:chExt cx="3752850" cy="571500"/>
          </a:xfrm>
        </p:grpSpPr>
        <p:sp>
          <p:nvSpPr>
            <p:cNvPr id="1062" name="Rectangle"/>
            <p:cNvSpPr/>
            <p:nvPr/>
          </p:nvSpPr>
          <p:spPr>
            <a:xfrm>
              <a:off x="0" y="0"/>
              <a:ext cx="3752850" cy="571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063" name="Best overall result: 91.0% accuracy, 89.9% balanced accuracy, and 91.2% weighted F1 on the 70/30 split."/>
            <p:cNvSpPr txBox="1"/>
            <p:nvPr/>
          </p:nvSpPr>
          <p:spPr>
            <a:xfrm>
              <a:off x="0" y="0"/>
              <a:ext cx="37528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Best overall result: 91.0% accuracy, 89.9% balanced accuracy, and 91.2% weighted F1 on the 70/30 split.</a:t>
              </a:r>
            </a:p>
          </p:txBody>
        </p:sp>
      </p:grpSp>
      <p:sp>
        <p:nvSpPr>
          <p:cNvPr id="1065" name="Rectangle"/>
          <p:cNvSpPr/>
          <p:nvPr/>
        </p:nvSpPr>
        <p:spPr>
          <a:xfrm>
            <a:off x="6572250" y="3638550"/>
            <a:ext cx="4095750" cy="1066800"/>
          </a:xfrm>
          <a:prstGeom prst="rect">
            <a:avLst/>
          </a:prstGeom>
          <a:solidFill>
            <a:srgbClr val="FFFFFF"/>
          </a:solidFill>
          <a:ln>
            <a:solidFill>
              <a:srgbClr val="E4EAE7"/>
            </a:solidFill>
          </a:ln>
        </p:spPr>
        <p:txBody>
          <a:bodyPr lIns="0" tIns="0" rIns="0" bIns="0"/>
          <a:lstStyle/>
          <a:p>
            <a:endParaRPr/>
          </a:p>
        </p:txBody>
      </p:sp>
      <p:sp>
        <p:nvSpPr>
          <p:cNvPr id="1066" name="Rectangle"/>
          <p:cNvSpPr/>
          <p:nvPr/>
        </p:nvSpPr>
        <p:spPr>
          <a:xfrm>
            <a:off x="6572250" y="3638550"/>
            <a:ext cx="4095750" cy="47625"/>
          </a:xfrm>
          <a:prstGeom prst="rect">
            <a:avLst/>
          </a:prstGeom>
          <a:solidFill>
            <a:srgbClr val="2C6FB2"/>
          </a:solidFill>
          <a:ln w="3175">
            <a:solidFill>
              <a:srgbClr val="000000">
                <a:alpha val="0"/>
              </a:srgbClr>
            </a:solidFill>
          </a:ln>
        </p:spPr>
        <p:txBody>
          <a:bodyPr lIns="0" tIns="0" rIns="0" bIns="0"/>
          <a:lstStyle/>
          <a:p>
            <a:endParaRPr/>
          </a:p>
        </p:txBody>
      </p:sp>
      <p:grpSp>
        <p:nvGrpSpPr>
          <p:cNvPr id="1069" name="Group"/>
          <p:cNvGrpSpPr/>
          <p:nvPr/>
        </p:nvGrpSpPr>
        <p:grpSpPr>
          <a:xfrm>
            <a:off x="6743700" y="3829050"/>
            <a:ext cx="3752850" cy="266700"/>
            <a:chOff x="0" y="0"/>
            <a:chExt cx="3752850" cy="266700"/>
          </a:xfrm>
        </p:grpSpPr>
        <p:sp>
          <p:nvSpPr>
            <p:cNvPr id="1067" name="Rectangle"/>
            <p:cNvSpPr/>
            <p:nvPr/>
          </p:nvSpPr>
          <p:spPr>
            <a:xfrm>
              <a:off x="0" y="0"/>
              <a:ext cx="3752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068" name="2. Random Forest"/>
            <p:cNvSpPr txBox="1"/>
            <p:nvPr/>
          </p:nvSpPr>
          <p:spPr>
            <a:xfrm>
              <a:off x="0" y="0"/>
              <a:ext cx="37528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2. Random Forest</a:t>
              </a:r>
            </a:p>
          </p:txBody>
        </p:sp>
      </p:grpSp>
      <p:grpSp>
        <p:nvGrpSpPr>
          <p:cNvPr id="1072" name="Group"/>
          <p:cNvGrpSpPr/>
          <p:nvPr/>
        </p:nvGrpSpPr>
        <p:grpSpPr>
          <a:xfrm>
            <a:off x="6743700" y="4181475"/>
            <a:ext cx="3752850" cy="495300"/>
            <a:chOff x="0" y="0"/>
            <a:chExt cx="3752850" cy="495300"/>
          </a:xfrm>
        </p:grpSpPr>
        <p:sp>
          <p:nvSpPr>
            <p:cNvPr id="1070" name="Rectangle"/>
            <p:cNvSpPr/>
            <p:nvPr/>
          </p:nvSpPr>
          <p:spPr>
            <a:xfrm>
              <a:off x="0" y="0"/>
              <a:ext cx="37528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071" name="Strong second model with stable performance, but it remains below Gradient Boosting across the final comparison metrics."/>
            <p:cNvSpPr txBox="1"/>
            <p:nvPr/>
          </p:nvSpPr>
          <p:spPr>
            <a:xfrm>
              <a:off x="0" y="0"/>
              <a:ext cx="3752850" cy="495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Strong second model with stable performance, but it remains below Gradient Boosting across the final comparison metrics.</a:t>
              </a:r>
            </a:p>
          </p:txBody>
        </p:sp>
      </p:grpSp>
      <p:sp>
        <p:nvSpPr>
          <p:cNvPr id="1073" name="Rectangle"/>
          <p:cNvSpPr/>
          <p:nvPr/>
        </p:nvSpPr>
        <p:spPr>
          <a:xfrm>
            <a:off x="6572250" y="4953000"/>
            <a:ext cx="4095750" cy="1066800"/>
          </a:xfrm>
          <a:prstGeom prst="rect">
            <a:avLst/>
          </a:prstGeom>
          <a:solidFill>
            <a:srgbClr val="FFFFFF"/>
          </a:solidFill>
          <a:ln>
            <a:solidFill>
              <a:srgbClr val="E4EAE7"/>
            </a:solidFill>
          </a:ln>
        </p:spPr>
        <p:txBody>
          <a:bodyPr lIns="0" tIns="0" rIns="0" bIns="0"/>
          <a:lstStyle/>
          <a:p>
            <a:endParaRPr/>
          </a:p>
        </p:txBody>
      </p:sp>
      <p:sp>
        <p:nvSpPr>
          <p:cNvPr id="1074" name="Rectangle"/>
          <p:cNvSpPr/>
          <p:nvPr/>
        </p:nvSpPr>
        <p:spPr>
          <a:xfrm>
            <a:off x="6572250" y="4953000"/>
            <a:ext cx="4095750" cy="47625"/>
          </a:xfrm>
          <a:prstGeom prst="rect">
            <a:avLst/>
          </a:prstGeom>
          <a:solidFill>
            <a:srgbClr val="C94E3C"/>
          </a:solidFill>
          <a:ln w="3175">
            <a:solidFill>
              <a:srgbClr val="000000">
                <a:alpha val="0"/>
              </a:srgbClr>
            </a:solidFill>
          </a:ln>
        </p:spPr>
        <p:txBody>
          <a:bodyPr lIns="0" tIns="0" rIns="0" bIns="0"/>
          <a:lstStyle/>
          <a:p>
            <a:endParaRPr/>
          </a:p>
        </p:txBody>
      </p:sp>
      <p:grpSp>
        <p:nvGrpSpPr>
          <p:cNvPr id="1077" name="Group"/>
          <p:cNvGrpSpPr/>
          <p:nvPr/>
        </p:nvGrpSpPr>
        <p:grpSpPr>
          <a:xfrm>
            <a:off x="6743700" y="5143500"/>
            <a:ext cx="3752850" cy="266700"/>
            <a:chOff x="0" y="0"/>
            <a:chExt cx="3752850" cy="266700"/>
          </a:xfrm>
        </p:grpSpPr>
        <p:sp>
          <p:nvSpPr>
            <p:cNvPr id="1075" name="Rectangle"/>
            <p:cNvSpPr/>
            <p:nvPr/>
          </p:nvSpPr>
          <p:spPr>
            <a:xfrm>
              <a:off x="0" y="0"/>
              <a:ext cx="3752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076" name="3. Decision Tree"/>
            <p:cNvSpPr txBox="1"/>
            <p:nvPr/>
          </p:nvSpPr>
          <p:spPr>
            <a:xfrm>
              <a:off x="0" y="0"/>
              <a:ext cx="37528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3. Decision Tree</a:t>
              </a:r>
            </a:p>
          </p:txBody>
        </p:sp>
      </p:grpSp>
      <p:grpSp>
        <p:nvGrpSpPr>
          <p:cNvPr id="1080" name="Group"/>
          <p:cNvGrpSpPr/>
          <p:nvPr/>
        </p:nvGrpSpPr>
        <p:grpSpPr>
          <a:xfrm>
            <a:off x="6743700" y="5495925"/>
            <a:ext cx="3752850" cy="400050"/>
            <a:chOff x="0" y="0"/>
            <a:chExt cx="3752850" cy="400050"/>
          </a:xfrm>
        </p:grpSpPr>
        <p:sp>
          <p:nvSpPr>
            <p:cNvPr id="1078" name="Rectangle"/>
            <p:cNvSpPr/>
            <p:nvPr/>
          </p:nvSpPr>
          <p:spPr>
            <a:xfrm>
              <a:off x="0" y="0"/>
              <a:ext cx="37528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079" name="Most interpretable baseline, but lower performance shows a single shallow tree is too simple for the behavior patterns."/>
            <p:cNvSpPr txBox="1"/>
            <p:nvPr/>
          </p:nvSpPr>
          <p:spPr>
            <a:xfrm>
              <a:off x="0" y="0"/>
              <a:ext cx="3752850" cy="330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Most interpretable baseline, but lower performance shows a single shallow tree is too simple for the behavior patterns.</a:t>
              </a:r>
            </a:p>
          </p:txBody>
        </p:sp>
      </p:gr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083"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086" name="Group"/>
          <p:cNvGrpSpPr/>
          <p:nvPr/>
        </p:nvGrpSpPr>
        <p:grpSpPr>
          <a:xfrm>
            <a:off x="533400" y="323850"/>
            <a:ext cx="4953000" cy="228600"/>
            <a:chOff x="0" y="0"/>
            <a:chExt cx="4953000" cy="228600"/>
          </a:xfrm>
        </p:grpSpPr>
        <p:sp>
          <p:nvSpPr>
            <p:cNvPr id="108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085"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089" name="Group"/>
          <p:cNvGrpSpPr/>
          <p:nvPr/>
        </p:nvGrpSpPr>
        <p:grpSpPr>
          <a:xfrm>
            <a:off x="533400" y="723900"/>
            <a:ext cx="6667500" cy="609600"/>
            <a:chOff x="0" y="0"/>
            <a:chExt cx="6667500" cy="609600"/>
          </a:xfrm>
        </p:grpSpPr>
        <p:sp>
          <p:nvSpPr>
            <p:cNvPr id="1087"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088" name="Why Gradient Boosting Works Here"/>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Why Gradient Boosting Works Here</a:t>
              </a:r>
            </a:p>
          </p:txBody>
        </p:sp>
      </p:grpSp>
      <p:grpSp>
        <p:nvGrpSpPr>
          <p:cNvPr id="1092" name="Group"/>
          <p:cNvGrpSpPr/>
          <p:nvPr/>
        </p:nvGrpSpPr>
        <p:grpSpPr>
          <a:xfrm>
            <a:off x="552450" y="1485900"/>
            <a:ext cx="6477000" cy="457200"/>
            <a:chOff x="0" y="0"/>
            <a:chExt cx="6477000" cy="457200"/>
          </a:xfrm>
        </p:grpSpPr>
        <p:sp>
          <p:nvSpPr>
            <p:cNvPr id="1090"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091" name="Gradient Boosting is well suited to this dataset because loyalty behavior is not purely linear: points, point velocity, age, and membership duration interact."/>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Gradient Boosting is well suited to this dataset because loyalty behavior is not purely linear: points, point velocity, age, and membership duration interact.</a:t>
              </a:r>
            </a:p>
          </p:txBody>
        </p:sp>
      </p:grpSp>
      <p:grpSp>
        <p:nvGrpSpPr>
          <p:cNvPr id="1095" name="Group"/>
          <p:cNvGrpSpPr/>
          <p:nvPr/>
        </p:nvGrpSpPr>
        <p:grpSpPr>
          <a:xfrm>
            <a:off x="533400" y="6438900"/>
            <a:ext cx="4953000" cy="228600"/>
            <a:chOff x="0" y="0"/>
            <a:chExt cx="4953000" cy="228600"/>
          </a:xfrm>
        </p:grpSpPr>
        <p:sp>
          <p:nvSpPr>
            <p:cNvPr id="109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094"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098" name="Group"/>
          <p:cNvGrpSpPr/>
          <p:nvPr/>
        </p:nvGrpSpPr>
        <p:grpSpPr>
          <a:xfrm>
            <a:off x="11125200" y="6419850"/>
            <a:ext cx="514350" cy="228600"/>
            <a:chOff x="0" y="0"/>
            <a:chExt cx="514350" cy="228600"/>
          </a:xfrm>
        </p:grpSpPr>
        <p:sp>
          <p:nvSpPr>
            <p:cNvPr id="1096"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097" name="12"/>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12</a:t>
              </a:r>
            </a:p>
          </p:txBody>
        </p:sp>
      </p:grpSp>
      <p:sp>
        <p:nvSpPr>
          <p:cNvPr id="1099" name="Rectangle"/>
          <p:cNvSpPr/>
          <p:nvPr/>
        </p:nvSpPr>
        <p:spPr>
          <a:xfrm>
            <a:off x="571500" y="2114550"/>
            <a:ext cx="4953000" cy="3390900"/>
          </a:xfrm>
          <a:prstGeom prst="rect">
            <a:avLst/>
          </a:prstGeom>
          <a:solidFill>
            <a:srgbClr val="FFFFFF"/>
          </a:solidFill>
          <a:ln>
            <a:solidFill>
              <a:srgbClr val="E4EAE7"/>
            </a:solidFill>
          </a:ln>
        </p:spPr>
        <p:txBody>
          <a:bodyPr lIns="0" tIns="0" rIns="0" bIns="0"/>
          <a:lstStyle/>
          <a:p>
            <a:endParaRPr/>
          </a:p>
        </p:txBody>
      </p:sp>
      <p:pic>
        <p:nvPicPr>
          <p:cNvPr id="1100" name="image4.png" descr="image4.png"/>
          <p:cNvPicPr>
            <a:picLocks noChangeAspect="1"/>
          </p:cNvPicPr>
          <p:nvPr/>
        </p:nvPicPr>
        <p:blipFill>
          <a:blip r:embed="rId2"/>
          <a:stretch>
            <a:fillRect/>
          </a:stretch>
        </p:blipFill>
        <p:spPr>
          <a:xfrm>
            <a:off x="647700" y="2245995"/>
            <a:ext cx="4800600" cy="2880361"/>
          </a:xfrm>
          <a:prstGeom prst="rect">
            <a:avLst/>
          </a:prstGeom>
          <a:ln w="12700">
            <a:miter lim="400000"/>
          </a:ln>
        </p:spPr>
      </p:pic>
      <p:grpSp>
        <p:nvGrpSpPr>
          <p:cNvPr id="1103" name="Group"/>
          <p:cNvGrpSpPr/>
          <p:nvPr/>
        </p:nvGrpSpPr>
        <p:grpSpPr>
          <a:xfrm>
            <a:off x="685800" y="5229225"/>
            <a:ext cx="4724400" cy="171450"/>
            <a:chOff x="0" y="0"/>
            <a:chExt cx="4724400" cy="171450"/>
          </a:xfrm>
        </p:grpSpPr>
        <p:sp>
          <p:nvSpPr>
            <p:cNvPr id="1101" name="Rectangle"/>
            <p:cNvSpPr/>
            <p:nvPr/>
          </p:nvSpPr>
          <p:spPr>
            <a:xfrm>
              <a:off x="0" y="0"/>
              <a:ext cx="472440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1102" name="Figure 5. Gradient Boosting feature importance"/>
            <p:cNvSpPr txBox="1"/>
            <p:nvPr/>
          </p:nvSpPr>
          <p:spPr>
            <a:xfrm>
              <a:off x="0" y="0"/>
              <a:ext cx="47244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5. Gradient Boosting feature importance</a:t>
              </a:r>
            </a:p>
          </p:txBody>
        </p:sp>
      </p:grpSp>
      <p:grpSp>
        <p:nvGrpSpPr>
          <p:cNvPr id="1106" name="Group"/>
          <p:cNvGrpSpPr/>
          <p:nvPr/>
        </p:nvGrpSpPr>
        <p:grpSpPr>
          <a:xfrm>
            <a:off x="6115050" y="2133600"/>
            <a:ext cx="3810000" cy="266700"/>
            <a:chOff x="0" y="0"/>
            <a:chExt cx="3810000" cy="266700"/>
          </a:xfrm>
        </p:grpSpPr>
        <p:sp>
          <p:nvSpPr>
            <p:cNvPr id="1104" name="Rectangle"/>
            <p:cNvSpPr/>
            <p:nvPr/>
          </p:nvSpPr>
          <p:spPr>
            <a:xfrm>
              <a:off x="0" y="0"/>
              <a:ext cx="3810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700" b="1">
                  <a:solidFill>
                    <a:srgbClr val="10242C"/>
                  </a:solidFill>
                  <a:latin typeface="Aptos Display"/>
                  <a:ea typeface="Aptos Display"/>
                  <a:cs typeface="Aptos Display"/>
                  <a:sym typeface="Aptos Display"/>
                </a:defRPr>
              </a:pPr>
              <a:endParaRPr/>
            </a:p>
          </p:txBody>
        </p:sp>
        <p:sp>
          <p:nvSpPr>
            <p:cNvPr id="1105" name="Feature Importance Ranking"/>
            <p:cNvSpPr txBox="1"/>
            <p:nvPr/>
          </p:nvSpPr>
          <p:spPr>
            <a:xfrm>
              <a:off x="0" y="0"/>
              <a:ext cx="3810000" cy="254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700" b="1">
                  <a:solidFill>
                    <a:srgbClr val="10242C"/>
                  </a:solidFill>
                  <a:latin typeface="Aptos Display"/>
                  <a:ea typeface="Aptos Display"/>
                  <a:cs typeface="Aptos Display"/>
                  <a:sym typeface="Aptos Display"/>
                </a:defRPr>
              </a:lvl1pPr>
            </a:lstStyle>
            <a:p>
              <a:r>
                <a:t>Feature Importance Ranking</a:t>
              </a:r>
            </a:p>
          </p:txBody>
        </p:sp>
      </p:grpSp>
      <p:grpSp>
        <p:nvGrpSpPr>
          <p:cNvPr id="1109" name="Group"/>
          <p:cNvGrpSpPr/>
          <p:nvPr/>
        </p:nvGrpSpPr>
        <p:grpSpPr>
          <a:xfrm>
            <a:off x="6115050" y="2600325"/>
            <a:ext cx="1409700" cy="266700"/>
            <a:chOff x="0" y="0"/>
            <a:chExt cx="1409700" cy="266700"/>
          </a:xfrm>
        </p:grpSpPr>
        <p:sp>
          <p:nvSpPr>
            <p:cNvPr id="1107"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b="1">
                  <a:solidFill>
                    <a:srgbClr val="10242C"/>
                  </a:solidFill>
                  <a:latin typeface="Aptos"/>
                  <a:ea typeface="Aptos"/>
                  <a:cs typeface="Aptos"/>
                  <a:sym typeface="Aptos"/>
                </a:defRPr>
              </a:pPr>
              <a:endParaRPr/>
            </a:p>
          </p:txBody>
        </p:sp>
        <p:sp>
          <p:nvSpPr>
            <p:cNvPr id="1108" name="Points"/>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b="1">
                  <a:solidFill>
                    <a:srgbClr val="10242C"/>
                  </a:solidFill>
                  <a:latin typeface="Aptos"/>
                  <a:ea typeface="Aptos"/>
                  <a:cs typeface="Aptos"/>
                  <a:sym typeface="Aptos"/>
                </a:defRPr>
              </a:lvl1pPr>
            </a:lstStyle>
            <a:p>
              <a:r>
                <a:t>Points</a:t>
              </a:r>
            </a:p>
          </p:txBody>
        </p:sp>
      </p:grpSp>
      <p:sp>
        <p:nvSpPr>
          <p:cNvPr id="1110" name="Rectangle"/>
          <p:cNvSpPr/>
          <p:nvPr/>
        </p:nvSpPr>
        <p:spPr>
          <a:xfrm>
            <a:off x="7524750" y="2667000"/>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11" name="Rectangle"/>
          <p:cNvSpPr/>
          <p:nvPr/>
        </p:nvSpPr>
        <p:spPr>
          <a:xfrm>
            <a:off x="7524750" y="2667000"/>
            <a:ext cx="2139696" cy="152400"/>
          </a:xfrm>
          <a:prstGeom prst="rect">
            <a:avLst/>
          </a:prstGeom>
          <a:solidFill>
            <a:srgbClr val="0A6B61"/>
          </a:solidFill>
          <a:ln w="3175">
            <a:solidFill>
              <a:srgbClr val="000000">
                <a:alpha val="0"/>
              </a:srgbClr>
            </a:solidFill>
          </a:ln>
        </p:spPr>
        <p:txBody>
          <a:bodyPr lIns="0" tIns="0" rIns="0" bIns="0"/>
          <a:lstStyle/>
          <a:p>
            <a:endParaRPr/>
          </a:p>
        </p:txBody>
      </p:sp>
      <p:grpSp>
        <p:nvGrpSpPr>
          <p:cNvPr id="1114" name="Group"/>
          <p:cNvGrpSpPr/>
          <p:nvPr/>
        </p:nvGrpSpPr>
        <p:grpSpPr>
          <a:xfrm>
            <a:off x="9925050" y="2609850"/>
            <a:ext cx="619125" cy="228600"/>
            <a:chOff x="0" y="0"/>
            <a:chExt cx="619125" cy="228600"/>
          </a:xfrm>
        </p:grpSpPr>
        <p:sp>
          <p:nvSpPr>
            <p:cNvPr id="1112"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13" name="41.6%"/>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41.6%</a:t>
              </a:r>
            </a:p>
          </p:txBody>
        </p:sp>
      </p:grpSp>
      <p:grpSp>
        <p:nvGrpSpPr>
          <p:cNvPr id="1117" name="Group"/>
          <p:cNvGrpSpPr/>
          <p:nvPr/>
        </p:nvGrpSpPr>
        <p:grpSpPr>
          <a:xfrm>
            <a:off x="6115050" y="3028950"/>
            <a:ext cx="1409700" cy="266700"/>
            <a:chOff x="0" y="0"/>
            <a:chExt cx="1409700" cy="266700"/>
          </a:xfrm>
        </p:grpSpPr>
        <p:sp>
          <p:nvSpPr>
            <p:cNvPr id="1115"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b="1">
                  <a:solidFill>
                    <a:srgbClr val="10242C"/>
                  </a:solidFill>
                  <a:latin typeface="Aptos"/>
                  <a:ea typeface="Aptos"/>
                  <a:cs typeface="Aptos"/>
                  <a:sym typeface="Aptos"/>
                </a:defRPr>
              </a:pPr>
              <a:endParaRPr/>
            </a:p>
          </p:txBody>
        </p:sp>
        <p:sp>
          <p:nvSpPr>
            <p:cNvPr id="1116" name="Log Points"/>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b="1">
                  <a:solidFill>
                    <a:srgbClr val="10242C"/>
                  </a:solidFill>
                  <a:latin typeface="Aptos"/>
                  <a:ea typeface="Aptos"/>
                  <a:cs typeface="Aptos"/>
                  <a:sym typeface="Aptos"/>
                </a:defRPr>
              </a:lvl1pPr>
            </a:lstStyle>
            <a:p>
              <a:r>
                <a:t>Log Points</a:t>
              </a:r>
            </a:p>
          </p:txBody>
        </p:sp>
      </p:grpSp>
      <p:sp>
        <p:nvSpPr>
          <p:cNvPr id="1118" name="Rectangle"/>
          <p:cNvSpPr/>
          <p:nvPr/>
        </p:nvSpPr>
        <p:spPr>
          <a:xfrm>
            <a:off x="7524750" y="3095625"/>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19" name="Rectangle"/>
          <p:cNvSpPr/>
          <p:nvPr/>
        </p:nvSpPr>
        <p:spPr>
          <a:xfrm>
            <a:off x="7524750" y="3095625"/>
            <a:ext cx="2115007" cy="152400"/>
          </a:xfrm>
          <a:prstGeom prst="rect">
            <a:avLst/>
          </a:prstGeom>
          <a:solidFill>
            <a:srgbClr val="0A6B61"/>
          </a:solidFill>
          <a:ln w="3175">
            <a:solidFill>
              <a:srgbClr val="000000">
                <a:alpha val="0"/>
              </a:srgbClr>
            </a:solidFill>
          </a:ln>
        </p:spPr>
        <p:txBody>
          <a:bodyPr lIns="0" tIns="0" rIns="0" bIns="0"/>
          <a:lstStyle/>
          <a:p>
            <a:endParaRPr/>
          </a:p>
        </p:txBody>
      </p:sp>
      <p:grpSp>
        <p:nvGrpSpPr>
          <p:cNvPr id="1122" name="Group"/>
          <p:cNvGrpSpPr/>
          <p:nvPr/>
        </p:nvGrpSpPr>
        <p:grpSpPr>
          <a:xfrm>
            <a:off x="9925050" y="3038475"/>
            <a:ext cx="619125" cy="228600"/>
            <a:chOff x="0" y="0"/>
            <a:chExt cx="619125" cy="228600"/>
          </a:xfrm>
        </p:grpSpPr>
        <p:sp>
          <p:nvSpPr>
            <p:cNvPr id="1120"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21" name="41.1%"/>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41.1%</a:t>
              </a:r>
            </a:p>
          </p:txBody>
        </p:sp>
      </p:grpSp>
      <p:grpSp>
        <p:nvGrpSpPr>
          <p:cNvPr id="1125" name="Group"/>
          <p:cNvGrpSpPr/>
          <p:nvPr/>
        </p:nvGrpSpPr>
        <p:grpSpPr>
          <a:xfrm>
            <a:off x="6115050" y="3457575"/>
            <a:ext cx="1409700" cy="266700"/>
            <a:chOff x="0" y="0"/>
            <a:chExt cx="1409700" cy="266700"/>
          </a:xfrm>
        </p:grpSpPr>
        <p:sp>
          <p:nvSpPr>
            <p:cNvPr id="1123"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124" name="Membership Days"/>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Membership Days</a:t>
              </a:r>
            </a:p>
          </p:txBody>
        </p:sp>
      </p:grpSp>
      <p:sp>
        <p:nvSpPr>
          <p:cNvPr id="1126" name="Rectangle"/>
          <p:cNvSpPr/>
          <p:nvPr/>
        </p:nvSpPr>
        <p:spPr>
          <a:xfrm>
            <a:off x="7524750" y="3524250"/>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27" name="Rectangle"/>
          <p:cNvSpPr/>
          <p:nvPr/>
        </p:nvSpPr>
        <p:spPr>
          <a:xfrm>
            <a:off x="7524749" y="3524250"/>
            <a:ext cx="393994" cy="152400"/>
          </a:xfrm>
          <a:prstGeom prst="rect">
            <a:avLst/>
          </a:prstGeom>
          <a:solidFill>
            <a:srgbClr val="3C9D72"/>
          </a:solidFill>
          <a:ln w="3175">
            <a:solidFill>
              <a:srgbClr val="000000">
                <a:alpha val="0"/>
              </a:srgbClr>
            </a:solidFill>
          </a:ln>
        </p:spPr>
        <p:txBody>
          <a:bodyPr lIns="0" tIns="0" rIns="0" bIns="0"/>
          <a:lstStyle/>
          <a:p>
            <a:endParaRPr/>
          </a:p>
        </p:txBody>
      </p:sp>
      <p:grpSp>
        <p:nvGrpSpPr>
          <p:cNvPr id="1130" name="Group"/>
          <p:cNvGrpSpPr/>
          <p:nvPr/>
        </p:nvGrpSpPr>
        <p:grpSpPr>
          <a:xfrm>
            <a:off x="9925050" y="3467100"/>
            <a:ext cx="619125" cy="228600"/>
            <a:chOff x="0" y="0"/>
            <a:chExt cx="619125" cy="228600"/>
          </a:xfrm>
        </p:grpSpPr>
        <p:sp>
          <p:nvSpPr>
            <p:cNvPr id="1128"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29" name="7.7%"/>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7.7%</a:t>
              </a:r>
            </a:p>
          </p:txBody>
        </p:sp>
      </p:grpSp>
      <p:grpSp>
        <p:nvGrpSpPr>
          <p:cNvPr id="1133" name="Group"/>
          <p:cNvGrpSpPr/>
          <p:nvPr/>
        </p:nvGrpSpPr>
        <p:grpSpPr>
          <a:xfrm>
            <a:off x="6115050" y="3886200"/>
            <a:ext cx="1409700" cy="266700"/>
            <a:chOff x="0" y="0"/>
            <a:chExt cx="1409700" cy="266700"/>
          </a:xfrm>
        </p:grpSpPr>
        <p:sp>
          <p:nvSpPr>
            <p:cNvPr id="1131"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132" name="Points / Day"/>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Points / Day</a:t>
              </a:r>
            </a:p>
          </p:txBody>
        </p:sp>
      </p:grpSp>
      <p:sp>
        <p:nvSpPr>
          <p:cNvPr id="1134" name="Rectangle"/>
          <p:cNvSpPr/>
          <p:nvPr/>
        </p:nvSpPr>
        <p:spPr>
          <a:xfrm>
            <a:off x="7524750" y="3952875"/>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35" name="Rectangle"/>
          <p:cNvSpPr/>
          <p:nvPr/>
        </p:nvSpPr>
        <p:spPr>
          <a:xfrm>
            <a:off x="7524749" y="3952875"/>
            <a:ext cx="235060" cy="152400"/>
          </a:xfrm>
          <a:prstGeom prst="rect">
            <a:avLst/>
          </a:prstGeom>
          <a:solidFill>
            <a:srgbClr val="D99A16"/>
          </a:solidFill>
          <a:ln w="3175">
            <a:solidFill>
              <a:srgbClr val="000000">
                <a:alpha val="0"/>
              </a:srgbClr>
            </a:solidFill>
          </a:ln>
        </p:spPr>
        <p:txBody>
          <a:bodyPr lIns="0" tIns="0" rIns="0" bIns="0"/>
          <a:lstStyle/>
          <a:p>
            <a:endParaRPr/>
          </a:p>
        </p:txBody>
      </p:sp>
      <p:grpSp>
        <p:nvGrpSpPr>
          <p:cNvPr id="1138" name="Group"/>
          <p:cNvGrpSpPr/>
          <p:nvPr/>
        </p:nvGrpSpPr>
        <p:grpSpPr>
          <a:xfrm>
            <a:off x="9925050" y="3895725"/>
            <a:ext cx="619125" cy="228600"/>
            <a:chOff x="0" y="0"/>
            <a:chExt cx="619125" cy="228600"/>
          </a:xfrm>
        </p:grpSpPr>
        <p:sp>
          <p:nvSpPr>
            <p:cNvPr id="1136"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37" name="4.6%"/>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4.6%</a:t>
              </a:r>
            </a:p>
          </p:txBody>
        </p:sp>
      </p:grpSp>
      <p:grpSp>
        <p:nvGrpSpPr>
          <p:cNvPr id="1141" name="Group"/>
          <p:cNvGrpSpPr/>
          <p:nvPr/>
        </p:nvGrpSpPr>
        <p:grpSpPr>
          <a:xfrm>
            <a:off x="6115050" y="4314825"/>
            <a:ext cx="1409700" cy="266700"/>
            <a:chOff x="0" y="0"/>
            <a:chExt cx="1409700" cy="266700"/>
          </a:xfrm>
        </p:grpSpPr>
        <p:sp>
          <p:nvSpPr>
            <p:cNvPr id="1139"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140" name="Points / Month"/>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Points / Month</a:t>
              </a:r>
            </a:p>
          </p:txBody>
        </p:sp>
      </p:grpSp>
      <p:sp>
        <p:nvSpPr>
          <p:cNvPr id="1142" name="Rectangle"/>
          <p:cNvSpPr/>
          <p:nvPr/>
        </p:nvSpPr>
        <p:spPr>
          <a:xfrm>
            <a:off x="7524750" y="4381500"/>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43" name="Rectangle"/>
          <p:cNvSpPr/>
          <p:nvPr/>
        </p:nvSpPr>
        <p:spPr>
          <a:xfrm>
            <a:off x="7524749" y="4381500"/>
            <a:ext cx="207799" cy="152400"/>
          </a:xfrm>
          <a:prstGeom prst="rect">
            <a:avLst/>
          </a:prstGeom>
          <a:solidFill>
            <a:srgbClr val="D99A16"/>
          </a:solidFill>
          <a:ln w="3175">
            <a:solidFill>
              <a:srgbClr val="000000">
                <a:alpha val="0"/>
              </a:srgbClr>
            </a:solidFill>
          </a:ln>
        </p:spPr>
        <p:txBody>
          <a:bodyPr lIns="0" tIns="0" rIns="0" bIns="0"/>
          <a:lstStyle/>
          <a:p>
            <a:endParaRPr/>
          </a:p>
        </p:txBody>
      </p:sp>
      <p:grpSp>
        <p:nvGrpSpPr>
          <p:cNvPr id="1146" name="Group"/>
          <p:cNvGrpSpPr/>
          <p:nvPr/>
        </p:nvGrpSpPr>
        <p:grpSpPr>
          <a:xfrm>
            <a:off x="9925050" y="4324350"/>
            <a:ext cx="619125" cy="228600"/>
            <a:chOff x="0" y="0"/>
            <a:chExt cx="619125" cy="228600"/>
          </a:xfrm>
        </p:grpSpPr>
        <p:sp>
          <p:nvSpPr>
            <p:cNvPr id="1144"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45" name="4.0%"/>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4.0%</a:t>
              </a:r>
            </a:p>
          </p:txBody>
        </p:sp>
      </p:grpSp>
      <p:grpSp>
        <p:nvGrpSpPr>
          <p:cNvPr id="1149" name="Group"/>
          <p:cNvGrpSpPr/>
          <p:nvPr/>
        </p:nvGrpSpPr>
        <p:grpSpPr>
          <a:xfrm>
            <a:off x="6115050" y="4743450"/>
            <a:ext cx="1409700" cy="266700"/>
            <a:chOff x="0" y="0"/>
            <a:chExt cx="1409700" cy="266700"/>
          </a:xfrm>
        </p:grpSpPr>
        <p:sp>
          <p:nvSpPr>
            <p:cNvPr id="1147" name="Rectangle"/>
            <p:cNvSpPr/>
            <p:nvPr/>
          </p:nvSpPr>
          <p:spPr>
            <a:xfrm>
              <a:off x="0" y="0"/>
              <a:ext cx="14097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10242C"/>
                  </a:solidFill>
                  <a:latin typeface="Aptos"/>
                  <a:ea typeface="Aptos"/>
                  <a:cs typeface="Aptos"/>
                  <a:sym typeface="Aptos"/>
                </a:defRPr>
              </a:pPr>
              <a:endParaRPr/>
            </a:p>
          </p:txBody>
        </p:sp>
        <p:sp>
          <p:nvSpPr>
            <p:cNvPr id="1148" name="Age"/>
            <p:cNvSpPr txBox="1"/>
            <p:nvPr/>
          </p:nvSpPr>
          <p:spPr>
            <a:xfrm>
              <a:off x="0" y="0"/>
              <a:ext cx="14097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10242C"/>
                  </a:solidFill>
                  <a:latin typeface="Aptos"/>
                  <a:ea typeface="Aptos"/>
                  <a:cs typeface="Aptos"/>
                  <a:sym typeface="Aptos"/>
                </a:defRPr>
              </a:lvl1pPr>
            </a:lstStyle>
            <a:p>
              <a:r>
                <a:t>Age</a:t>
              </a:r>
            </a:p>
          </p:txBody>
        </p:sp>
      </p:grpSp>
      <p:sp>
        <p:nvSpPr>
          <p:cNvPr id="1150" name="Rectangle"/>
          <p:cNvSpPr/>
          <p:nvPr/>
        </p:nvSpPr>
        <p:spPr>
          <a:xfrm>
            <a:off x="7524750" y="4810125"/>
            <a:ext cx="2314575" cy="152400"/>
          </a:xfrm>
          <a:prstGeom prst="rect">
            <a:avLst/>
          </a:prstGeom>
          <a:solidFill>
            <a:srgbClr val="E7ECEA"/>
          </a:solidFill>
          <a:ln w="3175">
            <a:solidFill>
              <a:srgbClr val="000000">
                <a:alpha val="0"/>
              </a:srgbClr>
            </a:solidFill>
          </a:ln>
        </p:spPr>
        <p:txBody>
          <a:bodyPr lIns="0" tIns="0" rIns="0" bIns="0"/>
          <a:lstStyle/>
          <a:p>
            <a:endParaRPr/>
          </a:p>
        </p:txBody>
      </p:sp>
      <p:sp>
        <p:nvSpPr>
          <p:cNvPr id="1151" name="Rectangle"/>
          <p:cNvSpPr/>
          <p:nvPr/>
        </p:nvSpPr>
        <p:spPr>
          <a:xfrm>
            <a:off x="7524750" y="4810125"/>
            <a:ext cx="52463" cy="152400"/>
          </a:xfrm>
          <a:prstGeom prst="rect">
            <a:avLst/>
          </a:prstGeom>
          <a:solidFill>
            <a:srgbClr val="D99A16"/>
          </a:solidFill>
          <a:ln w="3175">
            <a:solidFill>
              <a:srgbClr val="000000">
                <a:alpha val="0"/>
              </a:srgbClr>
            </a:solidFill>
          </a:ln>
        </p:spPr>
        <p:txBody>
          <a:bodyPr lIns="0" tIns="0" rIns="0" bIns="0"/>
          <a:lstStyle/>
          <a:p>
            <a:endParaRPr/>
          </a:p>
        </p:txBody>
      </p:sp>
      <p:grpSp>
        <p:nvGrpSpPr>
          <p:cNvPr id="1154" name="Group"/>
          <p:cNvGrpSpPr/>
          <p:nvPr/>
        </p:nvGrpSpPr>
        <p:grpSpPr>
          <a:xfrm>
            <a:off x="9925050" y="4752975"/>
            <a:ext cx="619125" cy="228600"/>
            <a:chOff x="0" y="0"/>
            <a:chExt cx="619125" cy="228600"/>
          </a:xfrm>
        </p:grpSpPr>
        <p:sp>
          <p:nvSpPr>
            <p:cNvPr id="1152" name="Rectangle"/>
            <p:cNvSpPr/>
            <p:nvPr/>
          </p:nvSpPr>
          <p:spPr>
            <a:xfrm>
              <a:off x="0" y="0"/>
              <a:ext cx="619125"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a:solidFill>
                    <a:srgbClr val="5E6A70"/>
                  </a:solidFill>
                  <a:latin typeface="Aptos"/>
                  <a:ea typeface="Aptos"/>
                  <a:cs typeface="Aptos"/>
                  <a:sym typeface="Aptos"/>
                </a:defRPr>
              </a:pPr>
              <a:endParaRPr/>
            </a:p>
          </p:txBody>
        </p:sp>
        <p:sp>
          <p:nvSpPr>
            <p:cNvPr id="1153" name="1.0%"/>
            <p:cNvSpPr txBox="1"/>
            <p:nvPr/>
          </p:nvSpPr>
          <p:spPr>
            <a:xfrm>
              <a:off x="0" y="0"/>
              <a:ext cx="619125"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a:solidFill>
                    <a:srgbClr val="5E6A70"/>
                  </a:solidFill>
                  <a:latin typeface="Aptos"/>
                  <a:ea typeface="Aptos"/>
                  <a:cs typeface="Aptos"/>
                  <a:sym typeface="Aptos"/>
                </a:defRPr>
              </a:lvl1pPr>
            </a:lstStyle>
            <a:p>
              <a:r>
                <a:t>1.0%</a:t>
              </a:r>
            </a:p>
          </p:txBody>
        </p:sp>
      </p:grpSp>
      <p:grpSp>
        <p:nvGrpSpPr>
          <p:cNvPr id="1157" name="Group"/>
          <p:cNvGrpSpPr/>
          <p:nvPr/>
        </p:nvGrpSpPr>
        <p:grpSpPr>
          <a:xfrm>
            <a:off x="6115050" y="5467350"/>
            <a:ext cx="4476750" cy="660400"/>
            <a:chOff x="0" y="0"/>
            <a:chExt cx="4476750" cy="660400"/>
          </a:xfrm>
        </p:grpSpPr>
        <p:sp>
          <p:nvSpPr>
            <p:cNvPr id="1155" name="Rectangle"/>
            <p:cNvSpPr/>
            <p:nvPr/>
          </p:nvSpPr>
          <p:spPr>
            <a:xfrm>
              <a:off x="0" y="0"/>
              <a:ext cx="4476750" cy="552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156" name="Points and Log Points dominate the model, which is expected in a loyalty system. Membership duration and spending velocity still matter because they help separate steady customers from recent high-point customers."/>
            <p:cNvSpPr txBox="1"/>
            <p:nvPr/>
          </p:nvSpPr>
          <p:spPr>
            <a:xfrm>
              <a:off x="0" y="0"/>
              <a:ext cx="4476750" cy="660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Points and Log Points dominate the model, which is expected in a loyalty system. Membership duration and spending velocity still matter because they help separate steady customers from recent high-point customers.</a:t>
              </a:r>
            </a:p>
          </p:txBody>
        </p:sp>
      </p:gr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160"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163" name="Group"/>
          <p:cNvGrpSpPr/>
          <p:nvPr/>
        </p:nvGrpSpPr>
        <p:grpSpPr>
          <a:xfrm>
            <a:off x="533400" y="323850"/>
            <a:ext cx="4953000" cy="228600"/>
            <a:chOff x="0" y="0"/>
            <a:chExt cx="4953000" cy="228600"/>
          </a:xfrm>
        </p:grpSpPr>
        <p:sp>
          <p:nvSpPr>
            <p:cNvPr id="1161"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162"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166" name="Group"/>
          <p:cNvGrpSpPr/>
          <p:nvPr/>
        </p:nvGrpSpPr>
        <p:grpSpPr>
          <a:xfrm>
            <a:off x="533400" y="723900"/>
            <a:ext cx="6667500" cy="609600"/>
            <a:chOff x="0" y="0"/>
            <a:chExt cx="6667500" cy="609600"/>
          </a:xfrm>
        </p:grpSpPr>
        <p:sp>
          <p:nvSpPr>
            <p:cNvPr id="1164"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165" name="Model Evaluation Detail"/>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Model Evaluation Detail</a:t>
              </a:r>
            </a:p>
          </p:txBody>
        </p:sp>
      </p:grpSp>
      <p:grpSp>
        <p:nvGrpSpPr>
          <p:cNvPr id="1169" name="Group"/>
          <p:cNvGrpSpPr/>
          <p:nvPr/>
        </p:nvGrpSpPr>
        <p:grpSpPr>
          <a:xfrm>
            <a:off x="552450" y="1485900"/>
            <a:ext cx="6477000" cy="457200"/>
            <a:chOff x="0" y="0"/>
            <a:chExt cx="6477000" cy="457200"/>
          </a:xfrm>
        </p:grpSpPr>
        <p:sp>
          <p:nvSpPr>
            <p:cNvPr id="1167"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168" name="The final evaluation uses multiple classification metrics so the model is not judged by accuracy alone."/>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final evaluation uses multiple classification metrics so the model is not judged by accuracy alone.</a:t>
              </a:r>
            </a:p>
          </p:txBody>
        </p:sp>
      </p:grpSp>
      <p:grpSp>
        <p:nvGrpSpPr>
          <p:cNvPr id="1172" name="Group"/>
          <p:cNvGrpSpPr/>
          <p:nvPr/>
        </p:nvGrpSpPr>
        <p:grpSpPr>
          <a:xfrm>
            <a:off x="533400" y="6438900"/>
            <a:ext cx="4953000" cy="228600"/>
            <a:chOff x="0" y="0"/>
            <a:chExt cx="4953000" cy="228600"/>
          </a:xfrm>
        </p:grpSpPr>
        <p:sp>
          <p:nvSpPr>
            <p:cNvPr id="1170"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171"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175" name="Group"/>
          <p:cNvGrpSpPr/>
          <p:nvPr/>
        </p:nvGrpSpPr>
        <p:grpSpPr>
          <a:xfrm>
            <a:off x="11125200" y="6419850"/>
            <a:ext cx="514350" cy="228600"/>
            <a:chOff x="0" y="0"/>
            <a:chExt cx="514350" cy="228600"/>
          </a:xfrm>
        </p:grpSpPr>
        <p:sp>
          <p:nvSpPr>
            <p:cNvPr id="1173"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174" name="13"/>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13</a:t>
              </a:r>
            </a:p>
          </p:txBody>
        </p:sp>
      </p:grpSp>
      <p:sp>
        <p:nvSpPr>
          <p:cNvPr id="1176" name="Rectangle"/>
          <p:cNvSpPr/>
          <p:nvPr/>
        </p:nvSpPr>
        <p:spPr>
          <a:xfrm>
            <a:off x="647700" y="2057400"/>
            <a:ext cx="4476750" cy="3667125"/>
          </a:xfrm>
          <a:prstGeom prst="rect">
            <a:avLst/>
          </a:prstGeom>
          <a:solidFill>
            <a:srgbClr val="FFFFFF"/>
          </a:solidFill>
          <a:ln>
            <a:solidFill>
              <a:srgbClr val="E4EAE7"/>
            </a:solidFill>
          </a:ln>
        </p:spPr>
        <p:txBody>
          <a:bodyPr lIns="0" tIns="0" rIns="0" bIns="0"/>
          <a:lstStyle/>
          <a:p>
            <a:endParaRPr/>
          </a:p>
        </p:txBody>
      </p:sp>
      <p:pic>
        <p:nvPicPr>
          <p:cNvPr id="1177" name="image5.png" descr="image5.png"/>
          <p:cNvPicPr>
            <a:picLocks noChangeAspect="1"/>
          </p:cNvPicPr>
          <p:nvPr/>
        </p:nvPicPr>
        <p:blipFill>
          <a:blip r:embed="rId2"/>
          <a:stretch>
            <a:fillRect/>
          </a:stretch>
        </p:blipFill>
        <p:spPr>
          <a:xfrm>
            <a:off x="785812" y="2133600"/>
            <a:ext cx="4200526" cy="3267075"/>
          </a:xfrm>
          <a:prstGeom prst="rect">
            <a:avLst/>
          </a:prstGeom>
          <a:ln w="12700">
            <a:miter lim="400000"/>
          </a:ln>
        </p:spPr>
      </p:pic>
      <p:grpSp>
        <p:nvGrpSpPr>
          <p:cNvPr id="1180" name="Group"/>
          <p:cNvGrpSpPr/>
          <p:nvPr/>
        </p:nvGrpSpPr>
        <p:grpSpPr>
          <a:xfrm>
            <a:off x="762000" y="5448300"/>
            <a:ext cx="4248150" cy="171450"/>
            <a:chOff x="0" y="0"/>
            <a:chExt cx="4248150" cy="171450"/>
          </a:xfrm>
        </p:grpSpPr>
        <p:sp>
          <p:nvSpPr>
            <p:cNvPr id="1178" name="Rectangle"/>
            <p:cNvSpPr/>
            <p:nvPr/>
          </p:nvSpPr>
          <p:spPr>
            <a:xfrm>
              <a:off x="0" y="0"/>
              <a:ext cx="42481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1179" name="Figure 6. Gradient Boosting confusion matrix"/>
            <p:cNvSpPr txBox="1"/>
            <p:nvPr/>
          </p:nvSpPr>
          <p:spPr>
            <a:xfrm>
              <a:off x="0" y="0"/>
              <a:ext cx="42481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6. Gradient Boosting confusion matrix</a:t>
              </a:r>
            </a:p>
          </p:txBody>
        </p:sp>
      </p:grpSp>
      <p:sp>
        <p:nvSpPr>
          <p:cNvPr id="1181" name="Rectangle"/>
          <p:cNvSpPr/>
          <p:nvPr/>
        </p:nvSpPr>
        <p:spPr>
          <a:xfrm>
            <a:off x="5810250" y="2190750"/>
            <a:ext cx="1524000" cy="952500"/>
          </a:xfrm>
          <a:prstGeom prst="rect">
            <a:avLst/>
          </a:prstGeom>
          <a:solidFill>
            <a:srgbClr val="FFFFFF"/>
          </a:solidFill>
          <a:ln>
            <a:solidFill>
              <a:srgbClr val="E4EAE7"/>
            </a:solidFill>
          </a:ln>
        </p:spPr>
        <p:txBody>
          <a:bodyPr lIns="0" tIns="0" rIns="0" bIns="0"/>
          <a:lstStyle/>
          <a:p>
            <a:endParaRPr/>
          </a:p>
        </p:txBody>
      </p:sp>
      <p:sp>
        <p:nvSpPr>
          <p:cNvPr id="1182" name="Rectangle"/>
          <p:cNvSpPr/>
          <p:nvPr/>
        </p:nvSpPr>
        <p:spPr>
          <a:xfrm>
            <a:off x="5810250" y="2190750"/>
            <a:ext cx="47625" cy="952500"/>
          </a:xfrm>
          <a:prstGeom prst="rect">
            <a:avLst/>
          </a:prstGeom>
          <a:solidFill>
            <a:srgbClr val="0A6B61"/>
          </a:solidFill>
          <a:ln w="3175">
            <a:solidFill>
              <a:srgbClr val="000000">
                <a:alpha val="0"/>
              </a:srgbClr>
            </a:solidFill>
          </a:ln>
        </p:spPr>
        <p:txBody>
          <a:bodyPr lIns="0" tIns="0" rIns="0" bIns="0"/>
          <a:lstStyle/>
          <a:p>
            <a:endParaRPr/>
          </a:p>
        </p:txBody>
      </p:sp>
      <p:grpSp>
        <p:nvGrpSpPr>
          <p:cNvPr id="1185" name="Group"/>
          <p:cNvGrpSpPr/>
          <p:nvPr/>
        </p:nvGrpSpPr>
        <p:grpSpPr>
          <a:xfrm>
            <a:off x="5981700" y="2324100"/>
            <a:ext cx="1257300" cy="361950"/>
            <a:chOff x="0" y="0"/>
            <a:chExt cx="1257300" cy="361950"/>
          </a:xfrm>
        </p:grpSpPr>
        <p:sp>
          <p:nvSpPr>
            <p:cNvPr id="1183"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184" name="91.0%"/>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91.0%</a:t>
              </a:r>
            </a:p>
          </p:txBody>
        </p:sp>
      </p:grpSp>
      <p:grpSp>
        <p:nvGrpSpPr>
          <p:cNvPr id="1188" name="Group"/>
          <p:cNvGrpSpPr/>
          <p:nvPr/>
        </p:nvGrpSpPr>
        <p:grpSpPr>
          <a:xfrm>
            <a:off x="5981700" y="2714625"/>
            <a:ext cx="1257300" cy="285750"/>
            <a:chOff x="0" y="0"/>
            <a:chExt cx="1257300" cy="285750"/>
          </a:xfrm>
        </p:grpSpPr>
        <p:sp>
          <p:nvSpPr>
            <p:cNvPr id="1186"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187" name="accuracy"/>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accuracy</a:t>
              </a:r>
            </a:p>
          </p:txBody>
        </p:sp>
      </p:grpSp>
      <p:sp>
        <p:nvSpPr>
          <p:cNvPr id="1189" name="Rectangle"/>
          <p:cNvSpPr/>
          <p:nvPr/>
        </p:nvSpPr>
        <p:spPr>
          <a:xfrm>
            <a:off x="7543800" y="2190750"/>
            <a:ext cx="1524000" cy="952500"/>
          </a:xfrm>
          <a:prstGeom prst="rect">
            <a:avLst/>
          </a:prstGeom>
          <a:solidFill>
            <a:srgbClr val="FFFFFF"/>
          </a:solidFill>
          <a:ln>
            <a:solidFill>
              <a:srgbClr val="E4EAE7"/>
            </a:solidFill>
          </a:ln>
        </p:spPr>
        <p:txBody>
          <a:bodyPr lIns="0" tIns="0" rIns="0" bIns="0"/>
          <a:lstStyle/>
          <a:p>
            <a:endParaRPr/>
          </a:p>
        </p:txBody>
      </p:sp>
      <p:sp>
        <p:nvSpPr>
          <p:cNvPr id="1190" name="Rectangle"/>
          <p:cNvSpPr/>
          <p:nvPr/>
        </p:nvSpPr>
        <p:spPr>
          <a:xfrm>
            <a:off x="7543800" y="2190750"/>
            <a:ext cx="47625" cy="952500"/>
          </a:xfrm>
          <a:prstGeom prst="rect">
            <a:avLst/>
          </a:prstGeom>
          <a:solidFill>
            <a:srgbClr val="3C9D72"/>
          </a:solidFill>
          <a:ln w="3175">
            <a:solidFill>
              <a:srgbClr val="000000">
                <a:alpha val="0"/>
              </a:srgbClr>
            </a:solidFill>
          </a:ln>
        </p:spPr>
        <p:txBody>
          <a:bodyPr lIns="0" tIns="0" rIns="0" bIns="0"/>
          <a:lstStyle/>
          <a:p>
            <a:endParaRPr/>
          </a:p>
        </p:txBody>
      </p:sp>
      <p:grpSp>
        <p:nvGrpSpPr>
          <p:cNvPr id="1193" name="Group"/>
          <p:cNvGrpSpPr/>
          <p:nvPr/>
        </p:nvGrpSpPr>
        <p:grpSpPr>
          <a:xfrm>
            <a:off x="7715250" y="2324100"/>
            <a:ext cx="1257300" cy="361950"/>
            <a:chOff x="0" y="0"/>
            <a:chExt cx="1257300" cy="361950"/>
          </a:xfrm>
        </p:grpSpPr>
        <p:sp>
          <p:nvSpPr>
            <p:cNvPr id="1191"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192" name="89.9%"/>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89.9%</a:t>
              </a:r>
            </a:p>
          </p:txBody>
        </p:sp>
      </p:grpSp>
      <p:grpSp>
        <p:nvGrpSpPr>
          <p:cNvPr id="1196" name="Group"/>
          <p:cNvGrpSpPr/>
          <p:nvPr/>
        </p:nvGrpSpPr>
        <p:grpSpPr>
          <a:xfrm>
            <a:off x="7715250" y="2714625"/>
            <a:ext cx="1257300" cy="285750"/>
            <a:chOff x="0" y="0"/>
            <a:chExt cx="1257300" cy="285750"/>
          </a:xfrm>
        </p:grpSpPr>
        <p:sp>
          <p:nvSpPr>
            <p:cNvPr id="1194"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195" name="balanced accuracy"/>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balanced accuracy</a:t>
              </a:r>
            </a:p>
          </p:txBody>
        </p:sp>
      </p:grpSp>
      <p:sp>
        <p:nvSpPr>
          <p:cNvPr id="1197" name="Rectangle"/>
          <p:cNvSpPr/>
          <p:nvPr/>
        </p:nvSpPr>
        <p:spPr>
          <a:xfrm>
            <a:off x="9277350" y="2190750"/>
            <a:ext cx="1524000" cy="952500"/>
          </a:xfrm>
          <a:prstGeom prst="rect">
            <a:avLst/>
          </a:prstGeom>
          <a:solidFill>
            <a:srgbClr val="FFFFFF"/>
          </a:solidFill>
          <a:ln>
            <a:solidFill>
              <a:srgbClr val="E4EAE7"/>
            </a:solidFill>
          </a:ln>
        </p:spPr>
        <p:txBody>
          <a:bodyPr lIns="0" tIns="0" rIns="0" bIns="0"/>
          <a:lstStyle/>
          <a:p>
            <a:endParaRPr/>
          </a:p>
        </p:txBody>
      </p:sp>
      <p:sp>
        <p:nvSpPr>
          <p:cNvPr id="1198" name="Rectangle"/>
          <p:cNvSpPr/>
          <p:nvPr/>
        </p:nvSpPr>
        <p:spPr>
          <a:xfrm>
            <a:off x="9277350" y="2190750"/>
            <a:ext cx="47625" cy="952500"/>
          </a:xfrm>
          <a:prstGeom prst="rect">
            <a:avLst/>
          </a:prstGeom>
          <a:solidFill>
            <a:srgbClr val="D99A16"/>
          </a:solidFill>
          <a:ln w="3175">
            <a:solidFill>
              <a:srgbClr val="000000">
                <a:alpha val="0"/>
              </a:srgbClr>
            </a:solidFill>
          </a:ln>
        </p:spPr>
        <p:txBody>
          <a:bodyPr lIns="0" tIns="0" rIns="0" bIns="0"/>
          <a:lstStyle/>
          <a:p>
            <a:endParaRPr/>
          </a:p>
        </p:txBody>
      </p:sp>
      <p:grpSp>
        <p:nvGrpSpPr>
          <p:cNvPr id="1201" name="Group"/>
          <p:cNvGrpSpPr/>
          <p:nvPr/>
        </p:nvGrpSpPr>
        <p:grpSpPr>
          <a:xfrm>
            <a:off x="9448800" y="2324100"/>
            <a:ext cx="1257300" cy="361950"/>
            <a:chOff x="0" y="0"/>
            <a:chExt cx="1257300" cy="361950"/>
          </a:xfrm>
        </p:grpSpPr>
        <p:sp>
          <p:nvSpPr>
            <p:cNvPr id="1199"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00" name="92.1%"/>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92.1%</a:t>
              </a:r>
            </a:p>
          </p:txBody>
        </p:sp>
      </p:grpSp>
      <p:grpSp>
        <p:nvGrpSpPr>
          <p:cNvPr id="1204" name="Group"/>
          <p:cNvGrpSpPr/>
          <p:nvPr/>
        </p:nvGrpSpPr>
        <p:grpSpPr>
          <a:xfrm>
            <a:off x="9448800" y="2714625"/>
            <a:ext cx="1257300" cy="285750"/>
            <a:chOff x="0" y="0"/>
            <a:chExt cx="1257300" cy="285750"/>
          </a:xfrm>
        </p:grpSpPr>
        <p:sp>
          <p:nvSpPr>
            <p:cNvPr id="1202"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03" name="precision"/>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precision</a:t>
              </a:r>
            </a:p>
          </p:txBody>
        </p:sp>
      </p:grpSp>
      <p:sp>
        <p:nvSpPr>
          <p:cNvPr id="1205" name="Rectangle"/>
          <p:cNvSpPr/>
          <p:nvPr/>
        </p:nvSpPr>
        <p:spPr>
          <a:xfrm>
            <a:off x="5810250" y="3352800"/>
            <a:ext cx="1524000" cy="952500"/>
          </a:xfrm>
          <a:prstGeom prst="rect">
            <a:avLst/>
          </a:prstGeom>
          <a:solidFill>
            <a:srgbClr val="FFFFFF"/>
          </a:solidFill>
          <a:ln>
            <a:solidFill>
              <a:srgbClr val="E4EAE7"/>
            </a:solidFill>
          </a:ln>
        </p:spPr>
        <p:txBody>
          <a:bodyPr lIns="0" tIns="0" rIns="0" bIns="0"/>
          <a:lstStyle/>
          <a:p>
            <a:endParaRPr/>
          </a:p>
        </p:txBody>
      </p:sp>
      <p:sp>
        <p:nvSpPr>
          <p:cNvPr id="1206" name="Rectangle"/>
          <p:cNvSpPr/>
          <p:nvPr/>
        </p:nvSpPr>
        <p:spPr>
          <a:xfrm>
            <a:off x="5810250" y="3352800"/>
            <a:ext cx="47625" cy="952500"/>
          </a:xfrm>
          <a:prstGeom prst="rect">
            <a:avLst/>
          </a:prstGeom>
          <a:solidFill>
            <a:srgbClr val="2C6FB2"/>
          </a:solidFill>
          <a:ln w="3175">
            <a:solidFill>
              <a:srgbClr val="000000">
                <a:alpha val="0"/>
              </a:srgbClr>
            </a:solidFill>
          </a:ln>
        </p:spPr>
        <p:txBody>
          <a:bodyPr lIns="0" tIns="0" rIns="0" bIns="0"/>
          <a:lstStyle/>
          <a:p>
            <a:endParaRPr/>
          </a:p>
        </p:txBody>
      </p:sp>
      <p:grpSp>
        <p:nvGrpSpPr>
          <p:cNvPr id="1209" name="Group"/>
          <p:cNvGrpSpPr/>
          <p:nvPr/>
        </p:nvGrpSpPr>
        <p:grpSpPr>
          <a:xfrm>
            <a:off x="5981700" y="3486150"/>
            <a:ext cx="1257300" cy="361950"/>
            <a:chOff x="0" y="0"/>
            <a:chExt cx="1257300" cy="361950"/>
          </a:xfrm>
        </p:grpSpPr>
        <p:sp>
          <p:nvSpPr>
            <p:cNvPr id="1207"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08" name="91.0%"/>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91.0%</a:t>
              </a:r>
            </a:p>
          </p:txBody>
        </p:sp>
      </p:grpSp>
      <p:grpSp>
        <p:nvGrpSpPr>
          <p:cNvPr id="1212" name="Group"/>
          <p:cNvGrpSpPr/>
          <p:nvPr/>
        </p:nvGrpSpPr>
        <p:grpSpPr>
          <a:xfrm>
            <a:off x="5981700" y="3876675"/>
            <a:ext cx="1257300" cy="285750"/>
            <a:chOff x="0" y="0"/>
            <a:chExt cx="1257300" cy="285750"/>
          </a:xfrm>
        </p:grpSpPr>
        <p:sp>
          <p:nvSpPr>
            <p:cNvPr id="1210"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11" name="recall"/>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recall</a:t>
              </a:r>
            </a:p>
          </p:txBody>
        </p:sp>
      </p:grpSp>
      <p:sp>
        <p:nvSpPr>
          <p:cNvPr id="1213" name="Rectangle"/>
          <p:cNvSpPr/>
          <p:nvPr/>
        </p:nvSpPr>
        <p:spPr>
          <a:xfrm>
            <a:off x="7543800" y="3352800"/>
            <a:ext cx="1524000" cy="952500"/>
          </a:xfrm>
          <a:prstGeom prst="rect">
            <a:avLst/>
          </a:prstGeom>
          <a:solidFill>
            <a:srgbClr val="FFFFFF"/>
          </a:solidFill>
          <a:ln>
            <a:solidFill>
              <a:srgbClr val="E4EAE7"/>
            </a:solidFill>
          </a:ln>
        </p:spPr>
        <p:txBody>
          <a:bodyPr lIns="0" tIns="0" rIns="0" bIns="0"/>
          <a:lstStyle/>
          <a:p>
            <a:endParaRPr/>
          </a:p>
        </p:txBody>
      </p:sp>
      <p:sp>
        <p:nvSpPr>
          <p:cNvPr id="1214" name="Rectangle"/>
          <p:cNvSpPr/>
          <p:nvPr/>
        </p:nvSpPr>
        <p:spPr>
          <a:xfrm>
            <a:off x="7543800" y="3352800"/>
            <a:ext cx="47625" cy="952500"/>
          </a:xfrm>
          <a:prstGeom prst="rect">
            <a:avLst/>
          </a:prstGeom>
          <a:solidFill>
            <a:srgbClr val="C94E3C"/>
          </a:solidFill>
          <a:ln w="3175">
            <a:solidFill>
              <a:srgbClr val="000000">
                <a:alpha val="0"/>
              </a:srgbClr>
            </a:solidFill>
          </a:ln>
        </p:spPr>
        <p:txBody>
          <a:bodyPr lIns="0" tIns="0" rIns="0" bIns="0"/>
          <a:lstStyle/>
          <a:p>
            <a:endParaRPr/>
          </a:p>
        </p:txBody>
      </p:sp>
      <p:grpSp>
        <p:nvGrpSpPr>
          <p:cNvPr id="1217" name="Group"/>
          <p:cNvGrpSpPr/>
          <p:nvPr/>
        </p:nvGrpSpPr>
        <p:grpSpPr>
          <a:xfrm>
            <a:off x="7715250" y="3486150"/>
            <a:ext cx="1257300" cy="361950"/>
            <a:chOff x="0" y="0"/>
            <a:chExt cx="1257300" cy="361950"/>
          </a:xfrm>
        </p:grpSpPr>
        <p:sp>
          <p:nvSpPr>
            <p:cNvPr id="1215"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16" name="91.2%"/>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91.2%</a:t>
              </a:r>
            </a:p>
          </p:txBody>
        </p:sp>
      </p:grpSp>
      <p:grpSp>
        <p:nvGrpSpPr>
          <p:cNvPr id="1220" name="Group"/>
          <p:cNvGrpSpPr/>
          <p:nvPr/>
        </p:nvGrpSpPr>
        <p:grpSpPr>
          <a:xfrm>
            <a:off x="7715250" y="3876675"/>
            <a:ext cx="1257300" cy="285750"/>
            <a:chOff x="0" y="0"/>
            <a:chExt cx="1257300" cy="285750"/>
          </a:xfrm>
        </p:grpSpPr>
        <p:sp>
          <p:nvSpPr>
            <p:cNvPr id="1218"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19" name="weighted F1"/>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weighted F1</a:t>
              </a:r>
            </a:p>
          </p:txBody>
        </p:sp>
      </p:grpSp>
      <p:sp>
        <p:nvSpPr>
          <p:cNvPr id="1221" name="Rectangle"/>
          <p:cNvSpPr/>
          <p:nvPr/>
        </p:nvSpPr>
        <p:spPr>
          <a:xfrm>
            <a:off x="9277350" y="3352800"/>
            <a:ext cx="1524000" cy="952500"/>
          </a:xfrm>
          <a:prstGeom prst="rect">
            <a:avLst/>
          </a:prstGeom>
          <a:solidFill>
            <a:srgbClr val="FFFFFF"/>
          </a:solidFill>
          <a:ln>
            <a:solidFill>
              <a:srgbClr val="E4EAE7"/>
            </a:solidFill>
          </a:ln>
        </p:spPr>
        <p:txBody>
          <a:bodyPr lIns="0" tIns="0" rIns="0" bIns="0"/>
          <a:lstStyle/>
          <a:p>
            <a:endParaRPr/>
          </a:p>
        </p:txBody>
      </p:sp>
      <p:sp>
        <p:nvSpPr>
          <p:cNvPr id="1222" name="Rectangle"/>
          <p:cNvSpPr/>
          <p:nvPr/>
        </p:nvSpPr>
        <p:spPr>
          <a:xfrm>
            <a:off x="9277350" y="3352800"/>
            <a:ext cx="47625" cy="952500"/>
          </a:xfrm>
          <a:prstGeom prst="rect">
            <a:avLst/>
          </a:prstGeom>
          <a:solidFill>
            <a:srgbClr val="6E4CA1"/>
          </a:solidFill>
          <a:ln w="3175">
            <a:solidFill>
              <a:srgbClr val="000000">
                <a:alpha val="0"/>
              </a:srgbClr>
            </a:solidFill>
          </a:ln>
        </p:spPr>
        <p:txBody>
          <a:bodyPr lIns="0" tIns="0" rIns="0" bIns="0"/>
          <a:lstStyle/>
          <a:p>
            <a:endParaRPr/>
          </a:p>
        </p:txBody>
      </p:sp>
      <p:grpSp>
        <p:nvGrpSpPr>
          <p:cNvPr id="1225" name="Group"/>
          <p:cNvGrpSpPr/>
          <p:nvPr/>
        </p:nvGrpSpPr>
        <p:grpSpPr>
          <a:xfrm>
            <a:off x="9448800" y="3486150"/>
            <a:ext cx="1257300" cy="361950"/>
            <a:chOff x="0" y="0"/>
            <a:chExt cx="1257300" cy="361950"/>
          </a:xfrm>
        </p:grpSpPr>
        <p:sp>
          <p:nvSpPr>
            <p:cNvPr id="1223" name="Rectangle"/>
            <p:cNvSpPr/>
            <p:nvPr/>
          </p:nvSpPr>
          <p:spPr>
            <a:xfrm>
              <a:off x="0" y="0"/>
              <a:ext cx="1257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24" name="89.5%"/>
            <p:cNvSpPr txBox="1"/>
            <p:nvPr/>
          </p:nvSpPr>
          <p:spPr>
            <a:xfrm>
              <a:off x="0" y="0"/>
              <a:ext cx="1257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89.5%</a:t>
              </a:r>
            </a:p>
          </p:txBody>
        </p:sp>
      </p:grpSp>
      <p:grpSp>
        <p:nvGrpSpPr>
          <p:cNvPr id="1228" name="Group"/>
          <p:cNvGrpSpPr/>
          <p:nvPr/>
        </p:nvGrpSpPr>
        <p:grpSpPr>
          <a:xfrm>
            <a:off x="9448800" y="3876675"/>
            <a:ext cx="1257300" cy="285750"/>
            <a:chOff x="0" y="0"/>
            <a:chExt cx="1257300" cy="285750"/>
          </a:xfrm>
        </p:grpSpPr>
        <p:sp>
          <p:nvSpPr>
            <p:cNvPr id="1226" name="Rectangle"/>
            <p:cNvSpPr/>
            <p:nvPr/>
          </p:nvSpPr>
          <p:spPr>
            <a:xfrm>
              <a:off x="0" y="0"/>
              <a:ext cx="1257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27" name="macro F1"/>
            <p:cNvSpPr txBox="1"/>
            <p:nvPr/>
          </p:nvSpPr>
          <p:spPr>
            <a:xfrm>
              <a:off x="0" y="0"/>
              <a:ext cx="1257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macro F1</a:t>
              </a:r>
            </a:p>
          </p:txBody>
        </p:sp>
      </p:grpSp>
      <p:sp>
        <p:nvSpPr>
          <p:cNvPr id="1229" name="Rectangle"/>
          <p:cNvSpPr/>
          <p:nvPr/>
        </p:nvSpPr>
        <p:spPr>
          <a:xfrm>
            <a:off x="5829300" y="4686300"/>
            <a:ext cx="4953000" cy="1200150"/>
          </a:xfrm>
          <a:prstGeom prst="rect">
            <a:avLst/>
          </a:prstGeom>
          <a:solidFill>
            <a:srgbClr val="FFFFFF"/>
          </a:solidFill>
          <a:ln>
            <a:solidFill>
              <a:srgbClr val="E4EAE7"/>
            </a:solidFill>
          </a:ln>
        </p:spPr>
        <p:txBody>
          <a:bodyPr lIns="0" tIns="0" rIns="0" bIns="0"/>
          <a:lstStyle/>
          <a:p>
            <a:endParaRPr/>
          </a:p>
        </p:txBody>
      </p:sp>
      <p:sp>
        <p:nvSpPr>
          <p:cNvPr id="1230" name="Rectangle"/>
          <p:cNvSpPr/>
          <p:nvPr/>
        </p:nvSpPr>
        <p:spPr>
          <a:xfrm>
            <a:off x="5829300" y="4686300"/>
            <a:ext cx="4953000" cy="47625"/>
          </a:xfrm>
          <a:prstGeom prst="rect">
            <a:avLst/>
          </a:prstGeom>
          <a:solidFill>
            <a:srgbClr val="0A6B61"/>
          </a:solidFill>
          <a:ln w="3175">
            <a:solidFill>
              <a:srgbClr val="000000">
                <a:alpha val="0"/>
              </a:srgbClr>
            </a:solidFill>
          </a:ln>
        </p:spPr>
        <p:txBody>
          <a:bodyPr lIns="0" tIns="0" rIns="0" bIns="0"/>
          <a:lstStyle/>
          <a:p>
            <a:endParaRPr/>
          </a:p>
        </p:txBody>
      </p:sp>
      <p:grpSp>
        <p:nvGrpSpPr>
          <p:cNvPr id="1233" name="Group"/>
          <p:cNvGrpSpPr/>
          <p:nvPr/>
        </p:nvGrpSpPr>
        <p:grpSpPr>
          <a:xfrm>
            <a:off x="6000750" y="4876800"/>
            <a:ext cx="4610100" cy="266700"/>
            <a:chOff x="0" y="0"/>
            <a:chExt cx="4610100" cy="266700"/>
          </a:xfrm>
        </p:grpSpPr>
        <p:sp>
          <p:nvSpPr>
            <p:cNvPr id="1231" name="Rectangle"/>
            <p:cNvSpPr/>
            <p:nvPr/>
          </p:nvSpPr>
          <p:spPr>
            <a:xfrm>
              <a:off x="0" y="0"/>
              <a:ext cx="46101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232" name="Balanced metrics matter"/>
            <p:cNvSpPr txBox="1"/>
            <p:nvPr/>
          </p:nvSpPr>
          <p:spPr>
            <a:xfrm>
              <a:off x="0" y="0"/>
              <a:ext cx="46101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Balanced metrics matter</a:t>
              </a:r>
            </a:p>
          </p:txBody>
        </p:sp>
      </p:grpSp>
      <p:grpSp>
        <p:nvGrpSpPr>
          <p:cNvPr id="1236" name="Group"/>
          <p:cNvGrpSpPr/>
          <p:nvPr/>
        </p:nvGrpSpPr>
        <p:grpSpPr>
          <a:xfrm>
            <a:off x="6000750" y="5229225"/>
            <a:ext cx="4610100" cy="533400"/>
            <a:chOff x="0" y="0"/>
            <a:chExt cx="4610100" cy="533400"/>
          </a:xfrm>
        </p:grpSpPr>
        <p:sp>
          <p:nvSpPr>
            <p:cNvPr id="1234" name="Rectangle"/>
            <p:cNvSpPr/>
            <p:nvPr/>
          </p:nvSpPr>
          <p:spPr>
            <a:xfrm>
              <a:off x="0" y="0"/>
              <a:ext cx="4610100" cy="5334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235" name="Balanced Accuracy and Macro F1 are included because the segments are not exactly identical in behavior. These metrics reduce the risk of picking a model that performs well only on the easiest or largest categories."/>
            <p:cNvSpPr txBox="1"/>
            <p:nvPr/>
          </p:nvSpPr>
          <p:spPr>
            <a:xfrm>
              <a:off x="0" y="0"/>
              <a:ext cx="4610100" cy="4953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Balanced Accuracy and Macro F1 are included because the segments are not exactly identical in behavior. These metrics reduce the risk of picking a model that performs well only on the easiest or largest categories.</a:t>
              </a:r>
            </a:p>
          </p:txBody>
        </p:sp>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239"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242" name="Group"/>
          <p:cNvGrpSpPr/>
          <p:nvPr/>
        </p:nvGrpSpPr>
        <p:grpSpPr>
          <a:xfrm>
            <a:off x="533400" y="323850"/>
            <a:ext cx="4953000" cy="228600"/>
            <a:chOff x="0" y="0"/>
            <a:chExt cx="4953000" cy="228600"/>
          </a:xfrm>
        </p:grpSpPr>
        <p:sp>
          <p:nvSpPr>
            <p:cNvPr id="1240"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241"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245" name="Group"/>
          <p:cNvGrpSpPr/>
          <p:nvPr/>
        </p:nvGrpSpPr>
        <p:grpSpPr>
          <a:xfrm>
            <a:off x="533400" y="723900"/>
            <a:ext cx="6667500" cy="609600"/>
            <a:chOff x="0" y="0"/>
            <a:chExt cx="6667500" cy="609600"/>
          </a:xfrm>
        </p:grpSpPr>
        <p:sp>
          <p:nvSpPr>
            <p:cNvPr id="1243"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244" name="Regression Baseline"/>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Regression Baseline</a:t>
              </a:r>
            </a:p>
          </p:txBody>
        </p:sp>
      </p:grpSp>
      <p:grpSp>
        <p:nvGrpSpPr>
          <p:cNvPr id="1248" name="Group"/>
          <p:cNvGrpSpPr/>
          <p:nvPr/>
        </p:nvGrpSpPr>
        <p:grpSpPr>
          <a:xfrm>
            <a:off x="552450" y="1485900"/>
            <a:ext cx="6477000" cy="457200"/>
            <a:chOff x="0" y="0"/>
            <a:chExt cx="6477000" cy="457200"/>
          </a:xfrm>
        </p:grpSpPr>
        <p:sp>
          <p:nvSpPr>
            <p:cNvPr id="1246"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247" name="A Linear Regression model was included as a numeric baseline for predicting loyalty score, not as the main production classifier."/>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A Linear Regression model was included as a numeric baseline for predicting loyalty score, not as the main production classifier.</a:t>
              </a:r>
            </a:p>
          </p:txBody>
        </p:sp>
      </p:grpSp>
      <p:grpSp>
        <p:nvGrpSpPr>
          <p:cNvPr id="1251" name="Group"/>
          <p:cNvGrpSpPr/>
          <p:nvPr/>
        </p:nvGrpSpPr>
        <p:grpSpPr>
          <a:xfrm>
            <a:off x="533400" y="6438900"/>
            <a:ext cx="4953000" cy="228600"/>
            <a:chOff x="0" y="0"/>
            <a:chExt cx="4953000" cy="228600"/>
          </a:xfrm>
        </p:grpSpPr>
        <p:sp>
          <p:nvSpPr>
            <p:cNvPr id="124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250"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254" name="Group"/>
          <p:cNvGrpSpPr/>
          <p:nvPr/>
        </p:nvGrpSpPr>
        <p:grpSpPr>
          <a:xfrm>
            <a:off x="11125200" y="6419850"/>
            <a:ext cx="514350" cy="228600"/>
            <a:chOff x="0" y="0"/>
            <a:chExt cx="514350" cy="228600"/>
          </a:xfrm>
        </p:grpSpPr>
        <p:sp>
          <p:nvSpPr>
            <p:cNvPr id="1252"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253" name="14"/>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14</a:t>
              </a:r>
            </a:p>
          </p:txBody>
        </p:sp>
      </p:grpSp>
      <p:sp>
        <p:nvSpPr>
          <p:cNvPr id="1255" name="Rectangle"/>
          <p:cNvSpPr/>
          <p:nvPr/>
        </p:nvSpPr>
        <p:spPr>
          <a:xfrm>
            <a:off x="685800" y="2209800"/>
            <a:ext cx="1905000" cy="1028700"/>
          </a:xfrm>
          <a:prstGeom prst="rect">
            <a:avLst/>
          </a:prstGeom>
          <a:solidFill>
            <a:srgbClr val="FFFFFF"/>
          </a:solidFill>
          <a:ln>
            <a:solidFill>
              <a:srgbClr val="E4EAE7"/>
            </a:solidFill>
          </a:ln>
        </p:spPr>
        <p:txBody>
          <a:bodyPr lIns="0" tIns="0" rIns="0" bIns="0"/>
          <a:lstStyle/>
          <a:p>
            <a:endParaRPr/>
          </a:p>
        </p:txBody>
      </p:sp>
      <p:sp>
        <p:nvSpPr>
          <p:cNvPr id="1256" name="Rectangle"/>
          <p:cNvSpPr/>
          <p:nvPr/>
        </p:nvSpPr>
        <p:spPr>
          <a:xfrm>
            <a:off x="685800" y="2209800"/>
            <a:ext cx="47625" cy="1028700"/>
          </a:xfrm>
          <a:prstGeom prst="rect">
            <a:avLst/>
          </a:prstGeom>
          <a:solidFill>
            <a:srgbClr val="C94E3C"/>
          </a:solidFill>
          <a:ln w="3175">
            <a:solidFill>
              <a:srgbClr val="000000">
                <a:alpha val="0"/>
              </a:srgbClr>
            </a:solidFill>
          </a:ln>
        </p:spPr>
        <p:txBody>
          <a:bodyPr lIns="0" tIns="0" rIns="0" bIns="0"/>
          <a:lstStyle/>
          <a:p>
            <a:endParaRPr/>
          </a:p>
        </p:txBody>
      </p:sp>
      <p:grpSp>
        <p:nvGrpSpPr>
          <p:cNvPr id="1259" name="Group"/>
          <p:cNvGrpSpPr/>
          <p:nvPr/>
        </p:nvGrpSpPr>
        <p:grpSpPr>
          <a:xfrm>
            <a:off x="857250" y="2343150"/>
            <a:ext cx="1638300" cy="361950"/>
            <a:chOff x="0" y="0"/>
            <a:chExt cx="1638300" cy="361950"/>
          </a:xfrm>
        </p:grpSpPr>
        <p:sp>
          <p:nvSpPr>
            <p:cNvPr id="1257" name="Rectangle"/>
            <p:cNvSpPr/>
            <p:nvPr/>
          </p:nvSpPr>
          <p:spPr>
            <a:xfrm>
              <a:off x="0" y="0"/>
              <a:ext cx="1638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58" name="10.689"/>
            <p:cNvSpPr txBox="1"/>
            <p:nvPr/>
          </p:nvSpPr>
          <p:spPr>
            <a:xfrm>
              <a:off x="0" y="0"/>
              <a:ext cx="1638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10.689</a:t>
              </a:r>
            </a:p>
          </p:txBody>
        </p:sp>
      </p:grpSp>
      <p:grpSp>
        <p:nvGrpSpPr>
          <p:cNvPr id="1262" name="Group"/>
          <p:cNvGrpSpPr/>
          <p:nvPr/>
        </p:nvGrpSpPr>
        <p:grpSpPr>
          <a:xfrm>
            <a:off x="857250" y="2733675"/>
            <a:ext cx="1638300" cy="285750"/>
            <a:chOff x="0" y="0"/>
            <a:chExt cx="1638300" cy="285750"/>
          </a:xfrm>
        </p:grpSpPr>
        <p:sp>
          <p:nvSpPr>
            <p:cNvPr id="1260" name="Rectangle"/>
            <p:cNvSpPr/>
            <p:nvPr/>
          </p:nvSpPr>
          <p:spPr>
            <a:xfrm>
              <a:off x="0" y="0"/>
              <a:ext cx="1638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61" name="RMSE on loyalty score"/>
            <p:cNvSpPr txBox="1"/>
            <p:nvPr/>
          </p:nvSpPr>
          <p:spPr>
            <a:xfrm>
              <a:off x="0" y="0"/>
              <a:ext cx="1638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RMSE on loyalty score</a:t>
              </a:r>
            </a:p>
          </p:txBody>
        </p:sp>
      </p:grpSp>
      <p:sp>
        <p:nvSpPr>
          <p:cNvPr id="1263" name="Rectangle"/>
          <p:cNvSpPr/>
          <p:nvPr/>
        </p:nvSpPr>
        <p:spPr>
          <a:xfrm>
            <a:off x="2857500" y="2209800"/>
            <a:ext cx="1905000" cy="1028700"/>
          </a:xfrm>
          <a:prstGeom prst="rect">
            <a:avLst/>
          </a:prstGeom>
          <a:solidFill>
            <a:srgbClr val="FFFFFF"/>
          </a:solidFill>
          <a:ln>
            <a:solidFill>
              <a:srgbClr val="E4EAE7"/>
            </a:solidFill>
          </a:ln>
        </p:spPr>
        <p:txBody>
          <a:bodyPr lIns="0" tIns="0" rIns="0" bIns="0"/>
          <a:lstStyle/>
          <a:p>
            <a:endParaRPr/>
          </a:p>
        </p:txBody>
      </p:sp>
      <p:sp>
        <p:nvSpPr>
          <p:cNvPr id="1264" name="Rectangle"/>
          <p:cNvSpPr/>
          <p:nvPr/>
        </p:nvSpPr>
        <p:spPr>
          <a:xfrm>
            <a:off x="2857500" y="2209800"/>
            <a:ext cx="47625" cy="1028700"/>
          </a:xfrm>
          <a:prstGeom prst="rect">
            <a:avLst/>
          </a:prstGeom>
          <a:solidFill>
            <a:srgbClr val="0A6B61"/>
          </a:solidFill>
          <a:ln w="3175">
            <a:solidFill>
              <a:srgbClr val="000000">
                <a:alpha val="0"/>
              </a:srgbClr>
            </a:solidFill>
          </a:ln>
        </p:spPr>
        <p:txBody>
          <a:bodyPr lIns="0" tIns="0" rIns="0" bIns="0"/>
          <a:lstStyle/>
          <a:p>
            <a:endParaRPr/>
          </a:p>
        </p:txBody>
      </p:sp>
      <p:grpSp>
        <p:nvGrpSpPr>
          <p:cNvPr id="1267" name="Group"/>
          <p:cNvGrpSpPr/>
          <p:nvPr/>
        </p:nvGrpSpPr>
        <p:grpSpPr>
          <a:xfrm>
            <a:off x="3028950" y="2343150"/>
            <a:ext cx="1638300" cy="361950"/>
            <a:chOff x="0" y="0"/>
            <a:chExt cx="1638300" cy="361950"/>
          </a:xfrm>
        </p:grpSpPr>
        <p:sp>
          <p:nvSpPr>
            <p:cNvPr id="1265" name="Rectangle"/>
            <p:cNvSpPr/>
            <p:nvPr/>
          </p:nvSpPr>
          <p:spPr>
            <a:xfrm>
              <a:off x="0" y="0"/>
              <a:ext cx="16383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266" name="0.581"/>
            <p:cNvSpPr txBox="1"/>
            <p:nvPr/>
          </p:nvSpPr>
          <p:spPr>
            <a:xfrm>
              <a:off x="0" y="0"/>
              <a:ext cx="16383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0.581</a:t>
              </a:r>
            </a:p>
          </p:txBody>
        </p:sp>
      </p:grpSp>
      <p:grpSp>
        <p:nvGrpSpPr>
          <p:cNvPr id="1270" name="Group"/>
          <p:cNvGrpSpPr/>
          <p:nvPr/>
        </p:nvGrpSpPr>
        <p:grpSpPr>
          <a:xfrm>
            <a:off x="3028950" y="2733675"/>
            <a:ext cx="1638300" cy="285750"/>
            <a:chOff x="0" y="0"/>
            <a:chExt cx="1638300" cy="285750"/>
          </a:xfrm>
        </p:grpSpPr>
        <p:sp>
          <p:nvSpPr>
            <p:cNvPr id="1268" name="Rectangle"/>
            <p:cNvSpPr/>
            <p:nvPr/>
          </p:nvSpPr>
          <p:spPr>
            <a:xfrm>
              <a:off x="0" y="0"/>
              <a:ext cx="16383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269" name="R2 score"/>
            <p:cNvSpPr txBox="1"/>
            <p:nvPr/>
          </p:nvSpPr>
          <p:spPr>
            <a:xfrm>
              <a:off x="0" y="0"/>
              <a:ext cx="16383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R2 score</a:t>
              </a:r>
            </a:p>
          </p:txBody>
        </p:sp>
      </p:grpSp>
      <p:sp>
        <p:nvSpPr>
          <p:cNvPr id="1271" name="Rectangle"/>
          <p:cNvSpPr/>
          <p:nvPr/>
        </p:nvSpPr>
        <p:spPr>
          <a:xfrm>
            <a:off x="685800" y="3695700"/>
            <a:ext cx="4095750" cy="1447800"/>
          </a:xfrm>
          <a:prstGeom prst="rect">
            <a:avLst/>
          </a:prstGeom>
          <a:solidFill>
            <a:srgbClr val="FFFFFF"/>
          </a:solidFill>
          <a:ln>
            <a:solidFill>
              <a:srgbClr val="E4EAE7"/>
            </a:solidFill>
          </a:ln>
        </p:spPr>
        <p:txBody>
          <a:bodyPr lIns="0" tIns="0" rIns="0" bIns="0"/>
          <a:lstStyle/>
          <a:p>
            <a:endParaRPr/>
          </a:p>
        </p:txBody>
      </p:sp>
      <p:sp>
        <p:nvSpPr>
          <p:cNvPr id="1272" name="Rectangle"/>
          <p:cNvSpPr/>
          <p:nvPr/>
        </p:nvSpPr>
        <p:spPr>
          <a:xfrm>
            <a:off x="685800" y="3695700"/>
            <a:ext cx="4095750" cy="47625"/>
          </a:xfrm>
          <a:prstGeom prst="rect">
            <a:avLst/>
          </a:prstGeom>
          <a:solidFill>
            <a:srgbClr val="0A6B61"/>
          </a:solidFill>
          <a:ln w="3175">
            <a:solidFill>
              <a:srgbClr val="000000">
                <a:alpha val="0"/>
              </a:srgbClr>
            </a:solidFill>
          </a:ln>
        </p:spPr>
        <p:txBody>
          <a:bodyPr lIns="0" tIns="0" rIns="0" bIns="0"/>
          <a:lstStyle/>
          <a:p>
            <a:endParaRPr/>
          </a:p>
        </p:txBody>
      </p:sp>
      <p:grpSp>
        <p:nvGrpSpPr>
          <p:cNvPr id="1275" name="Group"/>
          <p:cNvGrpSpPr/>
          <p:nvPr/>
        </p:nvGrpSpPr>
        <p:grpSpPr>
          <a:xfrm>
            <a:off x="857250" y="3886200"/>
            <a:ext cx="3752850" cy="266700"/>
            <a:chOff x="0" y="0"/>
            <a:chExt cx="3752850" cy="266700"/>
          </a:xfrm>
        </p:grpSpPr>
        <p:sp>
          <p:nvSpPr>
            <p:cNvPr id="1273" name="Rectangle"/>
            <p:cNvSpPr/>
            <p:nvPr/>
          </p:nvSpPr>
          <p:spPr>
            <a:xfrm>
              <a:off x="0" y="0"/>
              <a:ext cx="375285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274" name="Why use regression at all?"/>
            <p:cNvSpPr txBox="1"/>
            <p:nvPr/>
          </p:nvSpPr>
          <p:spPr>
            <a:xfrm>
              <a:off x="0" y="0"/>
              <a:ext cx="37528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Why use regression at all?</a:t>
              </a:r>
            </a:p>
          </p:txBody>
        </p:sp>
      </p:grpSp>
      <p:grpSp>
        <p:nvGrpSpPr>
          <p:cNvPr id="1278" name="Group"/>
          <p:cNvGrpSpPr/>
          <p:nvPr/>
        </p:nvGrpSpPr>
        <p:grpSpPr>
          <a:xfrm>
            <a:off x="857250" y="4238625"/>
            <a:ext cx="3752850" cy="825500"/>
            <a:chOff x="0" y="0"/>
            <a:chExt cx="3752850" cy="825500"/>
          </a:xfrm>
        </p:grpSpPr>
        <p:sp>
          <p:nvSpPr>
            <p:cNvPr id="1276" name="Rectangle"/>
            <p:cNvSpPr/>
            <p:nvPr/>
          </p:nvSpPr>
          <p:spPr>
            <a:xfrm>
              <a:off x="0" y="0"/>
              <a:ext cx="3752850" cy="781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277" name="Classification predicts the member's loyalty segment. Regression estimates the continuous loyalty score. Keeping both tasks gives the project a fuller analytics view: one model supports segment decisions, and the other checks whether simple numeric predi"/>
            <p:cNvSpPr txBox="1"/>
            <p:nvPr/>
          </p:nvSpPr>
          <p:spPr>
            <a:xfrm>
              <a:off x="0" y="0"/>
              <a:ext cx="3752850" cy="825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a:solidFill>
                    <a:srgbClr val="5E6A70"/>
                  </a:solidFill>
                  <a:latin typeface="Aptos"/>
                  <a:ea typeface="Aptos"/>
                  <a:cs typeface="Aptos"/>
                  <a:sym typeface="Aptos"/>
                </a:defRPr>
              </a:lvl1pPr>
            </a:lstStyle>
            <a:p>
              <a:r>
                <a:t>Classification predicts the member's loyalty segment. Regression estimates the continuous loyalty score. Keeping both tasks gives the project a fuller analytics view: one model supports segment decisions, and the other checks whether simple numeric predictors explain the score.</a:t>
              </a:r>
            </a:p>
          </p:txBody>
        </p:sp>
      </p:grpSp>
      <p:sp>
        <p:nvSpPr>
          <p:cNvPr id="1279" name="Rectangle"/>
          <p:cNvSpPr/>
          <p:nvPr/>
        </p:nvSpPr>
        <p:spPr>
          <a:xfrm>
            <a:off x="5715000" y="2095500"/>
            <a:ext cx="4953000" cy="3543300"/>
          </a:xfrm>
          <a:prstGeom prst="rect">
            <a:avLst/>
          </a:prstGeom>
          <a:solidFill>
            <a:srgbClr val="FFFFFF"/>
          </a:solidFill>
          <a:ln>
            <a:solidFill>
              <a:srgbClr val="E4EAE7"/>
            </a:solidFill>
          </a:ln>
        </p:spPr>
        <p:txBody>
          <a:bodyPr lIns="0" tIns="0" rIns="0" bIns="0"/>
          <a:lstStyle/>
          <a:p>
            <a:endParaRPr/>
          </a:p>
        </p:txBody>
      </p:sp>
      <p:pic>
        <p:nvPicPr>
          <p:cNvPr id="1280" name="image6.png" descr="image6.png"/>
          <p:cNvPicPr>
            <a:picLocks noChangeAspect="1"/>
          </p:cNvPicPr>
          <p:nvPr/>
        </p:nvPicPr>
        <p:blipFill>
          <a:blip r:embed="rId2"/>
          <a:stretch>
            <a:fillRect/>
          </a:stretch>
        </p:blipFill>
        <p:spPr>
          <a:xfrm>
            <a:off x="5791200" y="2303145"/>
            <a:ext cx="4800600" cy="2880361"/>
          </a:xfrm>
          <a:prstGeom prst="rect">
            <a:avLst/>
          </a:prstGeom>
          <a:ln w="12700">
            <a:miter lim="400000"/>
          </a:ln>
        </p:spPr>
      </p:pic>
      <p:grpSp>
        <p:nvGrpSpPr>
          <p:cNvPr id="1283" name="Group"/>
          <p:cNvGrpSpPr/>
          <p:nvPr/>
        </p:nvGrpSpPr>
        <p:grpSpPr>
          <a:xfrm>
            <a:off x="5829300" y="5362575"/>
            <a:ext cx="4724400" cy="171450"/>
            <a:chOff x="0" y="0"/>
            <a:chExt cx="4724400" cy="171450"/>
          </a:xfrm>
        </p:grpSpPr>
        <p:sp>
          <p:nvSpPr>
            <p:cNvPr id="1281" name="Rectangle"/>
            <p:cNvSpPr/>
            <p:nvPr/>
          </p:nvSpPr>
          <p:spPr>
            <a:xfrm>
              <a:off x="0" y="0"/>
              <a:ext cx="472440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1282" name="Figure 7. Membership duration compared with points"/>
            <p:cNvSpPr txBox="1"/>
            <p:nvPr/>
          </p:nvSpPr>
          <p:spPr>
            <a:xfrm>
              <a:off x="0" y="0"/>
              <a:ext cx="47244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7. Membership duration compared with points</a:t>
              </a:r>
            </a:p>
          </p:txBody>
        </p:sp>
      </p:grpSp>
      <p:grpSp>
        <p:nvGrpSpPr>
          <p:cNvPr id="1286" name="Group"/>
          <p:cNvGrpSpPr/>
          <p:nvPr/>
        </p:nvGrpSpPr>
        <p:grpSpPr>
          <a:xfrm>
            <a:off x="5753100" y="5810250"/>
            <a:ext cx="4953000" cy="457200"/>
            <a:chOff x="0" y="0"/>
            <a:chExt cx="4953000" cy="457200"/>
          </a:xfrm>
        </p:grpSpPr>
        <p:sp>
          <p:nvSpPr>
            <p:cNvPr id="1284" name="Rectangle"/>
            <p:cNvSpPr/>
            <p:nvPr/>
          </p:nvSpPr>
          <p:spPr>
            <a:xfrm>
              <a:off x="0" y="0"/>
              <a:ext cx="4953000" cy="3238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285" name="The R2 result shows that a linear model explains part of loyalty behavior, but the classification task needs tree-based models to capture more complex differences between customers."/>
            <p:cNvSpPr txBox="1"/>
            <p:nvPr/>
          </p:nvSpPr>
          <p:spPr>
            <a:xfrm>
              <a:off x="0" y="0"/>
              <a:ext cx="4953000" cy="457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The R2 result shows that a linear model explains part of loyalty behavior, but the classification task needs tree-based models to capture more complex differences between customers.</a:t>
              </a:r>
            </a:p>
          </p:txBody>
        </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289"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292" name="Group"/>
          <p:cNvGrpSpPr/>
          <p:nvPr/>
        </p:nvGrpSpPr>
        <p:grpSpPr>
          <a:xfrm>
            <a:off x="533400" y="323850"/>
            <a:ext cx="4953000" cy="228600"/>
            <a:chOff x="0" y="0"/>
            <a:chExt cx="4953000" cy="228600"/>
          </a:xfrm>
        </p:grpSpPr>
        <p:sp>
          <p:nvSpPr>
            <p:cNvPr id="1290"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291"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295" name="Group"/>
          <p:cNvGrpSpPr/>
          <p:nvPr/>
        </p:nvGrpSpPr>
        <p:grpSpPr>
          <a:xfrm>
            <a:off x="533400" y="723900"/>
            <a:ext cx="6667500" cy="609600"/>
            <a:chOff x="0" y="0"/>
            <a:chExt cx="6667500" cy="609600"/>
          </a:xfrm>
        </p:grpSpPr>
        <p:sp>
          <p:nvSpPr>
            <p:cNvPr id="1293"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294" name="Data Cleaning and Validati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Data Cleaning and Validation</a:t>
              </a:r>
            </a:p>
          </p:txBody>
        </p:sp>
      </p:grpSp>
      <p:grpSp>
        <p:nvGrpSpPr>
          <p:cNvPr id="1298" name="Group"/>
          <p:cNvGrpSpPr/>
          <p:nvPr/>
        </p:nvGrpSpPr>
        <p:grpSpPr>
          <a:xfrm>
            <a:off x="552450" y="1485900"/>
            <a:ext cx="6477000" cy="457200"/>
            <a:chOff x="0" y="0"/>
            <a:chExt cx="6477000" cy="457200"/>
          </a:xfrm>
        </p:grpSpPr>
        <p:sp>
          <p:nvSpPr>
            <p:cNvPr id="1296"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297" name="The project checks the dataset before modeling so the ranking is based on consistent customer record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project checks the dataset before modeling so the ranking is based on consistent customer records.</a:t>
              </a:r>
            </a:p>
          </p:txBody>
        </p:sp>
      </p:grpSp>
      <p:grpSp>
        <p:nvGrpSpPr>
          <p:cNvPr id="1301" name="Group"/>
          <p:cNvGrpSpPr/>
          <p:nvPr/>
        </p:nvGrpSpPr>
        <p:grpSpPr>
          <a:xfrm>
            <a:off x="533400" y="6438900"/>
            <a:ext cx="4953000" cy="228600"/>
            <a:chOff x="0" y="0"/>
            <a:chExt cx="4953000" cy="228600"/>
          </a:xfrm>
        </p:grpSpPr>
        <p:sp>
          <p:nvSpPr>
            <p:cNvPr id="129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300"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304" name="Group"/>
          <p:cNvGrpSpPr/>
          <p:nvPr/>
        </p:nvGrpSpPr>
        <p:grpSpPr>
          <a:xfrm>
            <a:off x="11125200" y="6419850"/>
            <a:ext cx="514350" cy="228600"/>
            <a:chOff x="0" y="0"/>
            <a:chExt cx="514350" cy="228600"/>
          </a:xfrm>
        </p:grpSpPr>
        <p:sp>
          <p:nvSpPr>
            <p:cNvPr id="1302"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303" name="15"/>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15</a:t>
              </a:r>
            </a:p>
          </p:txBody>
        </p:sp>
      </p:grpSp>
      <p:sp>
        <p:nvSpPr>
          <p:cNvPr id="1305" name="Square"/>
          <p:cNvSpPr/>
          <p:nvPr/>
        </p:nvSpPr>
        <p:spPr>
          <a:xfrm>
            <a:off x="742950" y="2143125"/>
            <a:ext cx="400050" cy="400050"/>
          </a:xfrm>
          <a:prstGeom prst="rect">
            <a:avLst/>
          </a:prstGeom>
          <a:solidFill>
            <a:srgbClr val="0A6B61"/>
          </a:solidFill>
          <a:ln w="3175">
            <a:solidFill>
              <a:srgbClr val="000000">
                <a:alpha val="0"/>
              </a:srgbClr>
            </a:solidFill>
          </a:ln>
        </p:spPr>
        <p:txBody>
          <a:bodyPr lIns="0" tIns="0" rIns="0" bIns="0"/>
          <a:lstStyle/>
          <a:p>
            <a:endParaRPr/>
          </a:p>
        </p:txBody>
      </p:sp>
      <p:grpSp>
        <p:nvGrpSpPr>
          <p:cNvPr id="1308" name="Group"/>
          <p:cNvGrpSpPr/>
          <p:nvPr/>
        </p:nvGrpSpPr>
        <p:grpSpPr>
          <a:xfrm>
            <a:off x="742950" y="2238375"/>
            <a:ext cx="400050" cy="190500"/>
            <a:chOff x="0" y="0"/>
            <a:chExt cx="400050" cy="190500"/>
          </a:xfrm>
        </p:grpSpPr>
        <p:sp>
          <p:nvSpPr>
            <p:cNvPr id="1306" name="Rectangle"/>
            <p:cNvSpPr/>
            <p:nvPr/>
          </p:nvSpPr>
          <p:spPr>
            <a:xfrm>
              <a:off x="0" y="0"/>
              <a:ext cx="4000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FFFFFF"/>
                  </a:solidFill>
                  <a:latin typeface="Aptos"/>
                  <a:ea typeface="Aptos"/>
                  <a:cs typeface="Aptos"/>
                  <a:sym typeface="Aptos"/>
                </a:defRPr>
              </a:pPr>
              <a:endParaRPr/>
            </a:p>
          </p:txBody>
        </p:sp>
        <p:sp>
          <p:nvSpPr>
            <p:cNvPr id="1307" name="1"/>
            <p:cNvSpPr txBox="1"/>
            <p:nvPr/>
          </p:nvSpPr>
          <p:spPr>
            <a:xfrm>
              <a:off x="0" y="0"/>
              <a:ext cx="40005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FFFFFF"/>
                  </a:solidFill>
                  <a:latin typeface="Aptos"/>
                  <a:ea typeface="Aptos"/>
                  <a:cs typeface="Aptos"/>
                  <a:sym typeface="Aptos"/>
                </a:defRPr>
              </a:lvl1pPr>
            </a:lstStyle>
            <a:p>
              <a:r>
                <a:t>1</a:t>
              </a:r>
            </a:p>
          </p:txBody>
        </p:sp>
      </p:grpSp>
      <p:grpSp>
        <p:nvGrpSpPr>
          <p:cNvPr id="1311" name="Group"/>
          <p:cNvGrpSpPr/>
          <p:nvPr/>
        </p:nvGrpSpPr>
        <p:grpSpPr>
          <a:xfrm>
            <a:off x="1428750" y="2124075"/>
            <a:ext cx="2286000" cy="228600"/>
            <a:chOff x="0" y="0"/>
            <a:chExt cx="2286000" cy="228600"/>
          </a:xfrm>
        </p:grpSpPr>
        <p:sp>
          <p:nvSpPr>
            <p:cNvPr id="1309" name="Rectangle"/>
            <p:cNvSpPr/>
            <p:nvPr/>
          </p:nvSpPr>
          <p:spPr>
            <a:xfrm>
              <a:off x="0" y="0"/>
              <a:ext cx="2286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310" name="Column validation"/>
            <p:cNvSpPr txBox="1"/>
            <p:nvPr/>
          </p:nvSpPr>
          <p:spPr>
            <a:xfrm>
              <a:off x="0" y="0"/>
              <a:ext cx="22860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Column validation</a:t>
              </a:r>
            </a:p>
          </p:txBody>
        </p:sp>
      </p:grpSp>
      <p:grpSp>
        <p:nvGrpSpPr>
          <p:cNvPr id="1314" name="Group"/>
          <p:cNvGrpSpPr/>
          <p:nvPr/>
        </p:nvGrpSpPr>
        <p:grpSpPr>
          <a:xfrm>
            <a:off x="4095750" y="2143125"/>
            <a:ext cx="5905500" cy="400050"/>
            <a:chOff x="0" y="0"/>
            <a:chExt cx="5905500" cy="400050"/>
          </a:xfrm>
        </p:grpSpPr>
        <p:sp>
          <p:nvSpPr>
            <p:cNvPr id="1312" name="Rectangle"/>
            <p:cNvSpPr/>
            <p:nvPr/>
          </p:nvSpPr>
          <p:spPr>
            <a:xfrm>
              <a:off x="0" y="0"/>
              <a:ext cx="5905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313" name="Customer_Name, Username, Points, Birthday, and Member_Since are required."/>
            <p:cNvSpPr txBox="1"/>
            <p:nvPr/>
          </p:nvSpPr>
          <p:spPr>
            <a:xfrm>
              <a:off x="0" y="0"/>
              <a:ext cx="5905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Customer_Name, Username, Points, Birthday, and Member_Since are required.</a:t>
              </a:r>
            </a:p>
          </p:txBody>
        </p:sp>
      </p:grpSp>
      <p:sp>
        <p:nvSpPr>
          <p:cNvPr id="1315" name="Square"/>
          <p:cNvSpPr/>
          <p:nvPr/>
        </p:nvSpPr>
        <p:spPr>
          <a:xfrm>
            <a:off x="742950" y="2809875"/>
            <a:ext cx="400050" cy="400050"/>
          </a:xfrm>
          <a:prstGeom prst="rect">
            <a:avLst/>
          </a:prstGeom>
          <a:solidFill>
            <a:srgbClr val="0A6B61"/>
          </a:solidFill>
          <a:ln w="3175">
            <a:solidFill>
              <a:srgbClr val="000000">
                <a:alpha val="0"/>
              </a:srgbClr>
            </a:solidFill>
          </a:ln>
        </p:spPr>
        <p:txBody>
          <a:bodyPr lIns="0" tIns="0" rIns="0" bIns="0"/>
          <a:lstStyle/>
          <a:p>
            <a:endParaRPr/>
          </a:p>
        </p:txBody>
      </p:sp>
      <p:grpSp>
        <p:nvGrpSpPr>
          <p:cNvPr id="1318" name="Group"/>
          <p:cNvGrpSpPr/>
          <p:nvPr/>
        </p:nvGrpSpPr>
        <p:grpSpPr>
          <a:xfrm>
            <a:off x="742950" y="2905125"/>
            <a:ext cx="400050" cy="190500"/>
            <a:chOff x="0" y="0"/>
            <a:chExt cx="400050" cy="190500"/>
          </a:xfrm>
        </p:grpSpPr>
        <p:sp>
          <p:nvSpPr>
            <p:cNvPr id="1316" name="Rectangle"/>
            <p:cNvSpPr/>
            <p:nvPr/>
          </p:nvSpPr>
          <p:spPr>
            <a:xfrm>
              <a:off x="0" y="0"/>
              <a:ext cx="4000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FFFFFF"/>
                  </a:solidFill>
                  <a:latin typeface="Aptos"/>
                  <a:ea typeface="Aptos"/>
                  <a:cs typeface="Aptos"/>
                  <a:sym typeface="Aptos"/>
                </a:defRPr>
              </a:pPr>
              <a:endParaRPr/>
            </a:p>
          </p:txBody>
        </p:sp>
        <p:sp>
          <p:nvSpPr>
            <p:cNvPr id="1317" name="2"/>
            <p:cNvSpPr txBox="1"/>
            <p:nvPr/>
          </p:nvSpPr>
          <p:spPr>
            <a:xfrm>
              <a:off x="0" y="0"/>
              <a:ext cx="40005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FFFFFF"/>
                  </a:solidFill>
                  <a:latin typeface="Aptos"/>
                  <a:ea typeface="Aptos"/>
                  <a:cs typeface="Aptos"/>
                  <a:sym typeface="Aptos"/>
                </a:defRPr>
              </a:lvl1pPr>
            </a:lstStyle>
            <a:p>
              <a:r>
                <a:t>2</a:t>
              </a:r>
            </a:p>
          </p:txBody>
        </p:sp>
      </p:grpSp>
      <p:grpSp>
        <p:nvGrpSpPr>
          <p:cNvPr id="1321" name="Group"/>
          <p:cNvGrpSpPr/>
          <p:nvPr/>
        </p:nvGrpSpPr>
        <p:grpSpPr>
          <a:xfrm>
            <a:off x="1428750" y="2790825"/>
            <a:ext cx="2286000" cy="228600"/>
            <a:chOff x="0" y="0"/>
            <a:chExt cx="2286000" cy="228600"/>
          </a:xfrm>
        </p:grpSpPr>
        <p:sp>
          <p:nvSpPr>
            <p:cNvPr id="1319" name="Rectangle"/>
            <p:cNvSpPr/>
            <p:nvPr/>
          </p:nvSpPr>
          <p:spPr>
            <a:xfrm>
              <a:off x="0" y="0"/>
              <a:ext cx="2286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320" name="Text cleanup"/>
            <p:cNvSpPr txBox="1"/>
            <p:nvPr/>
          </p:nvSpPr>
          <p:spPr>
            <a:xfrm>
              <a:off x="0" y="0"/>
              <a:ext cx="22860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Text cleanup</a:t>
              </a:r>
            </a:p>
          </p:txBody>
        </p:sp>
      </p:grpSp>
      <p:grpSp>
        <p:nvGrpSpPr>
          <p:cNvPr id="1324" name="Group"/>
          <p:cNvGrpSpPr/>
          <p:nvPr/>
        </p:nvGrpSpPr>
        <p:grpSpPr>
          <a:xfrm>
            <a:off x="4095750" y="2809875"/>
            <a:ext cx="5905500" cy="400050"/>
            <a:chOff x="0" y="0"/>
            <a:chExt cx="5905500" cy="400050"/>
          </a:xfrm>
        </p:grpSpPr>
        <p:sp>
          <p:nvSpPr>
            <p:cNvPr id="1322" name="Rectangle"/>
            <p:cNvSpPr/>
            <p:nvPr/>
          </p:nvSpPr>
          <p:spPr>
            <a:xfrm>
              <a:off x="0" y="0"/>
              <a:ext cx="5905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323" name="Names and usernames are stripped so duplicates are not hidden by spacing."/>
            <p:cNvSpPr txBox="1"/>
            <p:nvPr/>
          </p:nvSpPr>
          <p:spPr>
            <a:xfrm>
              <a:off x="0" y="0"/>
              <a:ext cx="5905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Names and usernames are stripped so duplicates are not hidden by spacing.</a:t>
              </a:r>
            </a:p>
          </p:txBody>
        </p:sp>
      </p:grpSp>
      <p:sp>
        <p:nvSpPr>
          <p:cNvPr id="1325" name="Square"/>
          <p:cNvSpPr/>
          <p:nvPr/>
        </p:nvSpPr>
        <p:spPr>
          <a:xfrm>
            <a:off x="742950" y="3476625"/>
            <a:ext cx="400050" cy="400050"/>
          </a:xfrm>
          <a:prstGeom prst="rect">
            <a:avLst/>
          </a:prstGeom>
          <a:solidFill>
            <a:srgbClr val="0A6B61"/>
          </a:solidFill>
          <a:ln w="3175">
            <a:solidFill>
              <a:srgbClr val="000000">
                <a:alpha val="0"/>
              </a:srgbClr>
            </a:solidFill>
          </a:ln>
        </p:spPr>
        <p:txBody>
          <a:bodyPr lIns="0" tIns="0" rIns="0" bIns="0"/>
          <a:lstStyle/>
          <a:p>
            <a:endParaRPr/>
          </a:p>
        </p:txBody>
      </p:sp>
      <p:grpSp>
        <p:nvGrpSpPr>
          <p:cNvPr id="1328" name="Group"/>
          <p:cNvGrpSpPr/>
          <p:nvPr/>
        </p:nvGrpSpPr>
        <p:grpSpPr>
          <a:xfrm>
            <a:off x="742950" y="3571875"/>
            <a:ext cx="400050" cy="190500"/>
            <a:chOff x="0" y="0"/>
            <a:chExt cx="400050" cy="190500"/>
          </a:xfrm>
        </p:grpSpPr>
        <p:sp>
          <p:nvSpPr>
            <p:cNvPr id="1326" name="Rectangle"/>
            <p:cNvSpPr/>
            <p:nvPr/>
          </p:nvSpPr>
          <p:spPr>
            <a:xfrm>
              <a:off x="0" y="0"/>
              <a:ext cx="4000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FFFFFF"/>
                  </a:solidFill>
                  <a:latin typeface="Aptos"/>
                  <a:ea typeface="Aptos"/>
                  <a:cs typeface="Aptos"/>
                  <a:sym typeface="Aptos"/>
                </a:defRPr>
              </a:pPr>
              <a:endParaRPr/>
            </a:p>
          </p:txBody>
        </p:sp>
        <p:sp>
          <p:nvSpPr>
            <p:cNvPr id="1327" name="3"/>
            <p:cNvSpPr txBox="1"/>
            <p:nvPr/>
          </p:nvSpPr>
          <p:spPr>
            <a:xfrm>
              <a:off x="0" y="0"/>
              <a:ext cx="40005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FFFFFF"/>
                  </a:solidFill>
                  <a:latin typeface="Aptos"/>
                  <a:ea typeface="Aptos"/>
                  <a:cs typeface="Aptos"/>
                  <a:sym typeface="Aptos"/>
                </a:defRPr>
              </a:lvl1pPr>
            </a:lstStyle>
            <a:p>
              <a:r>
                <a:t>3</a:t>
              </a:r>
            </a:p>
          </p:txBody>
        </p:sp>
      </p:grpSp>
      <p:grpSp>
        <p:nvGrpSpPr>
          <p:cNvPr id="1331" name="Group"/>
          <p:cNvGrpSpPr/>
          <p:nvPr/>
        </p:nvGrpSpPr>
        <p:grpSpPr>
          <a:xfrm>
            <a:off x="1428750" y="3457575"/>
            <a:ext cx="2286000" cy="228600"/>
            <a:chOff x="0" y="0"/>
            <a:chExt cx="2286000" cy="228600"/>
          </a:xfrm>
        </p:grpSpPr>
        <p:sp>
          <p:nvSpPr>
            <p:cNvPr id="1329" name="Rectangle"/>
            <p:cNvSpPr/>
            <p:nvPr/>
          </p:nvSpPr>
          <p:spPr>
            <a:xfrm>
              <a:off x="0" y="0"/>
              <a:ext cx="2286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330" name="Numeric points"/>
            <p:cNvSpPr txBox="1"/>
            <p:nvPr/>
          </p:nvSpPr>
          <p:spPr>
            <a:xfrm>
              <a:off x="0" y="0"/>
              <a:ext cx="22860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Numeric points</a:t>
              </a:r>
            </a:p>
          </p:txBody>
        </p:sp>
      </p:grpSp>
      <p:grpSp>
        <p:nvGrpSpPr>
          <p:cNvPr id="1334" name="Group"/>
          <p:cNvGrpSpPr/>
          <p:nvPr/>
        </p:nvGrpSpPr>
        <p:grpSpPr>
          <a:xfrm>
            <a:off x="4095750" y="3476625"/>
            <a:ext cx="5905500" cy="400050"/>
            <a:chOff x="0" y="0"/>
            <a:chExt cx="5905500" cy="400050"/>
          </a:xfrm>
        </p:grpSpPr>
        <p:sp>
          <p:nvSpPr>
            <p:cNvPr id="1332" name="Rectangle"/>
            <p:cNvSpPr/>
            <p:nvPr/>
          </p:nvSpPr>
          <p:spPr>
            <a:xfrm>
              <a:off x="0" y="0"/>
              <a:ext cx="5905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333" name="Points are converted to numeric values and invalid negative entries are handled."/>
            <p:cNvSpPr txBox="1"/>
            <p:nvPr/>
          </p:nvSpPr>
          <p:spPr>
            <a:xfrm>
              <a:off x="0" y="0"/>
              <a:ext cx="5905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Points are converted to numeric values and invalid negative entries are handled.</a:t>
              </a:r>
            </a:p>
          </p:txBody>
        </p:sp>
      </p:grpSp>
      <p:sp>
        <p:nvSpPr>
          <p:cNvPr id="1335" name="Square"/>
          <p:cNvSpPr/>
          <p:nvPr/>
        </p:nvSpPr>
        <p:spPr>
          <a:xfrm>
            <a:off x="742950" y="4143375"/>
            <a:ext cx="400050" cy="400050"/>
          </a:xfrm>
          <a:prstGeom prst="rect">
            <a:avLst/>
          </a:prstGeom>
          <a:solidFill>
            <a:srgbClr val="0A6B61"/>
          </a:solidFill>
          <a:ln w="3175">
            <a:solidFill>
              <a:srgbClr val="000000">
                <a:alpha val="0"/>
              </a:srgbClr>
            </a:solidFill>
          </a:ln>
        </p:spPr>
        <p:txBody>
          <a:bodyPr lIns="0" tIns="0" rIns="0" bIns="0"/>
          <a:lstStyle/>
          <a:p>
            <a:endParaRPr/>
          </a:p>
        </p:txBody>
      </p:sp>
      <p:grpSp>
        <p:nvGrpSpPr>
          <p:cNvPr id="1338" name="Group"/>
          <p:cNvGrpSpPr/>
          <p:nvPr/>
        </p:nvGrpSpPr>
        <p:grpSpPr>
          <a:xfrm>
            <a:off x="742950" y="4238625"/>
            <a:ext cx="400050" cy="190500"/>
            <a:chOff x="0" y="0"/>
            <a:chExt cx="400050" cy="190500"/>
          </a:xfrm>
        </p:grpSpPr>
        <p:sp>
          <p:nvSpPr>
            <p:cNvPr id="1336" name="Rectangle"/>
            <p:cNvSpPr/>
            <p:nvPr/>
          </p:nvSpPr>
          <p:spPr>
            <a:xfrm>
              <a:off x="0" y="0"/>
              <a:ext cx="4000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100" b="1">
                  <a:solidFill>
                    <a:srgbClr val="FFFFFF"/>
                  </a:solidFill>
                  <a:latin typeface="Aptos"/>
                  <a:ea typeface="Aptos"/>
                  <a:cs typeface="Aptos"/>
                  <a:sym typeface="Aptos"/>
                </a:defRPr>
              </a:pPr>
              <a:endParaRPr/>
            </a:p>
          </p:txBody>
        </p:sp>
        <p:sp>
          <p:nvSpPr>
            <p:cNvPr id="1337" name="4"/>
            <p:cNvSpPr txBox="1"/>
            <p:nvPr/>
          </p:nvSpPr>
          <p:spPr>
            <a:xfrm>
              <a:off x="0" y="0"/>
              <a:ext cx="40005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100" b="1">
                  <a:solidFill>
                    <a:srgbClr val="FFFFFF"/>
                  </a:solidFill>
                  <a:latin typeface="Aptos"/>
                  <a:ea typeface="Aptos"/>
                  <a:cs typeface="Aptos"/>
                  <a:sym typeface="Aptos"/>
                </a:defRPr>
              </a:lvl1pPr>
            </a:lstStyle>
            <a:p>
              <a:r>
                <a:t>4</a:t>
              </a:r>
            </a:p>
          </p:txBody>
        </p:sp>
      </p:grpSp>
      <p:grpSp>
        <p:nvGrpSpPr>
          <p:cNvPr id="1341" name="Group"/>
          <p:cNvGrpSpPr/>
          <p:nvPr/>
        </p:nvGrpSpPr>
        <p:grpSpPr>
          <a:xfrm>
            <a:off x="1428749" y="4122737"/>
            <a:ext cx="2286001" cy="228601"/>
            <a:chOff x="0" y="0"/>
            <a:chExt cx="2286000" cy="228600"/>
          </a:xfrm>
        </p:grpSpPr>
        <p:sp>
          <p:nvSpPr>
            <p:cNvPr id="1339" name="Rectangle"/>
            <p:cNvSpPr/>
            <p:nvPr/>
          </p:nvSpPr>
          <p:spPr>
            <a:xfrm>
              <a:off x="0" y="0"/>
              <a:ext cx="2286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340" name="Duplicate removal"/>
            <p:cNvSpPr txBox="1"/>
            <p:nvPr/>
          </p:nvSpPr>
          <p:spPr>
            <a:xfrm>
              <a:off x="0" y="0"/>
              <a:ext cx="22860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Duplicate removal</a:t>
              </a:r>
            </a:p>
          </p:txBody>
        </p:sp>
      </p:grpSp>
      <p:grpSp>
        <p:nvGrpSpPr>
          <p:cNvPr id="1344" name="Group"/>
          <p:cNvGrpSpPr/>
          <p:nvPr/>
        </p:nvGrpSpPr>
        <p:grpSpPr>
          <a:xfrm>
            <a:off x="4095750" y="4141787"/>
            <a:ext cx="5905501" cy="400051"/>
            <a:chOff x="0" y="0"/>
            <a:chExt cx="5905500" cy="400050"/>
          </a:xfrm>
        </p:grpSpPr>
        <p:sp>
          <p:nvSpPr>
            <p:cNvPr id="1342" name="Rectangle"/>
            <p:cNvSpPr/>
            <p:nvPr/>
          </p:nvSpPr>
          <p:spPr>
            <a:xfrm>
              <a:off x="0" y="0"/>
              <a:ext cx="5905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343" name="Repeated records are removed before feature engineering and modeling."/>
            <p:cNvSpPr txBox="1"/>
            <p:nvPr/>
          </p:nvSpPr>
          <p:spPr>
            <a:xfrm>
              <a:off x="0" y="0"/>
              <a:ext cx="5905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Repeated records are removed before feature engineering and modeling.</a:t>
              </a:r>
            </a:p>
          </p:txBody>
        </p:sp>
      </p:grpSp>
      <p:sp>
        <p:nvSpPr>
          <p:cNvPr id="1345" name="Rectangle"/>
          <p:cNvSpPr/>
          <p:nvPr/>
        </p:nvSpPr>
        <p:spPr>
          <a:xfrm>
            <a:off x="8096250" y="5467350"/>
            <a:ext cx="1676400" cy="857250"/>
          </a:xfrm>
          <a:prstGeom prst="rect">
            <a:avLst/>
          </a:prstGeom>
          <a:solidFill>
            <a:srgbClr val="FFFFFF"/>
          </a:solidFill>
          <a:ln>
            <a:solidFill>
              <a:srgbClr val="E4EAE7"/>
            </a:solidFill>
          </a:ln>
        </p:spPr>
        <p:txBody>
          <a:bodyPr lIns="0" tIns="0" rIns="0" bIns="0"/>
          <a:lstStyle/>
          <a:p>
            <a:endParaRPr/>
          </a:p>
        </p:txBody>
      </p:sp>
      <p:sp>
        <p:nvSpPr>
          <p:cNvPr id="1346" name="Rectangle"/>
          <p:cNvSpPr/>
          <p:nvPr/>
        </p:nvSpPr>
        <p:spPr>
          <a:xfrm>
            <a:off x="8096250" y="5467350"/>
            <a:ext cx="47625" cy="857250"/>
          </a:xfrm>
          <a:prstGeom prst="rect">
            <a:avLst/>
          </a:prstGeom>
          <a:solidFill>
            <a:srgbClr val="3C9D72"/>
          </a:solidFill>
          <a:ln w="3175">
            <a:solidFill>
              <a:srgbClr val="000000">
                <a:alpha val="0"/>
              </a:srgbClr>
            </a:solidFill>
          </a:ln>
        </p:spPr>
        <p:txBody>
          <a:bodyPr lIns="0" tIns="0" rIns="0" bIns="0"/>
          <a:lstStyle/>
          <a:p>
            <a:endParaRPr/>
          </a:p>
        </p:txBody>
      </p:sp>
      <p:grpSp>
        <p:nvGrpSpPr>
          <p:cNvPr id="1349" name="Group"/>
          <p:cNvGrpSpPr/>
          <p:nvPr/>
        </p:nvGrpSpPr>
        <p:grpSpPr>
          <a:xfrm>
            <a:off x="8267700" y="5600700"/>
            <a:ext cx="1409700" cy="361950"/>
            <a:chOff x="0" y="0"/>
            <a:chExt cx="1409700" cy="361950"/>
          </a:xfrm>
        </p:grpSpPr>
        <p:sp>
          <p:nvSpPr>
            <p:cNvPr id="1347" name="Rectangle"/>
            <p:cNvSpPr/>
            <p:nvPr/>
          </p:nvSpPr>
          <p:spPr>
            <a:xfrm>
              <a:off x="0" y="0"/>
              <a:ext cx="14097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348" name="0"/>
            <p:cNvSpPr txBox="1"/>
            <p:nvPr/>
          </p:nvSpPr>
          <p:spPr>
            <a:xfrm>
              <a:off x="0" y="0"/>
              <a:ext cx="14097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0</a:t>
              </a:r>
            </a:p>
          </p:txBody>
        </p:sp>
      </p:grpSp>
      <p:grpSp>
        <p:nvGrpSpPr>
          <p:cNvPr id="1352" name="Group"/>
          <p:cNvGrpSpPr/>
          <p:nvPr/>
        </p:nvGrpSpPr>
        <p:grpSpPr>
          <a:xfrm>
            <a:off x="8267700" y="5991225"/>
            <a:ext cx="1409700" cy="285750"/>
            <a:chOff x="0" y="0"/>
            <a:chExt cx="1409700" cy="285750"/>
          </a:xfrm>
        </p:grpSpPr>
        <p:sp>
          <p:nvSpPr>
            <p:cNvPr id="1350" name="Rectangle"/>
            <p:cNvSpPr/>
            <p:nvPr/>
          </p:nvSpPr>
          <p:spPr>
            <a:xfrm>
              <a:off x="0" y="0"/>
              <a:ext cx="14097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351" name="duplicate rows in final run"/>
            <p:cNvSpPr txBox="1"/>
            <p:nvPr/>
          </p:nvSpPr>
          <p:spPr>
            <a:xfrm>
              <a:off x="0" y="0"/>
              <a:ext cx="14097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duplicate rows in final run</a:t>
              </a:r>
            </a:p>
          </p:txBody>
        </p:sp>
      </p:grpSp>
      <p:sp>
        <p:nvSpPr>
          <p:cNvPr id="1353" name="Rectangle"/>
          <p:cNvSpPr/>
          <p:nvPr/>
        </p:nvSpPr>
        <p:spPr>
          <a:xfrm>
            <a:off x="9925050" y="5467350"/>
            <a:ext cx="1676400" cy="857250"/>
          </a:xfrm>
          <a:prstGeom prst="rect">
            <a:avLst/>
          </a:prstGeom>
          <a:solidFill>
            <a:srgbClr val="FFFFFF"/>
          </a:solidFill>
          <a:ln>
            <a:solidFill>
              <a:srgbClr val="E4EAE7"/>
            </a:solidFill>
          </a:ln>
        </p:spPr>
        <p:txBody>
          <a:bodyPr lIns="0" tIns="0" rIns="0" bIns="0"/>
          <a:lstStyle/>
          <a:p>
            <a:endParaRPr/>
          </a:p>
        </p:txBody>
      </p:sp>
      <p:sp>
        <p:nvSpPr>
          <p:cNvPr id="1354" name="Rectangle"/>
          <p:cNvSpPr/>
          <p:nvPr/>
        </p:nvSpPr>
        <p:spPr>
          <a:xfrm>
            <a:off x="9925050" y="5467350"/>
            <a:ext cx="47625" cy="857250"/>
          </a:xfrm>
          <a:prstGeom prst="rect">
            <a:avLst/>
          </a:prstGeom>
          <a:solidFill>
            <a:srgbClr val="0A6B61"/>
          </a:solidFill>
          <a:ln w="3175">
            <a:solidFill>
              <a:srgbClr val="000000">
                <a:alpha val="0"/>
              </a:srgbClr>
            </a:solidFill>
          </a:ln>
        </p:spPr>
        <p:txBody>
          <a:bodyPr lIns="0" tIns="0" rIns="0" bIns="0"/>
          <a:lstStyle/>
          <a:p>
            <a:endParaRPr/>
          </a:p>
        </p:txBody>
      </p:sp>
      <p:grpSp>
        <p:nvGrpSpPr>
          <p:cNvPr id="1357" name="Group"/>
          <p:cNvGrpSpPr/>
          <p:nvPr/>
        </p:nvGrpSpPr>
        <p:grpSpPr>
          <a:xfrm>
            <a:off x="10096500" y="5600700"/>
            <a:ext cx="1409700" cy="361950"/>
            <a:chOff x="0" y="0"/>
            <a:chExt cx="1409700" cy="361950"/>
          </a:xfrm>
        </p:grpSpPr>
        <p:sp>
          <p:nvSpPr>
            <p:cNvPr id="1355" name="Rectangle"/>
            <p:cNvSpPr/>
            <p:nvPr/>
          </p:nvSpPr>
          <p:spPr>
            <a:xfrm>
              <a:off x="0" y="0"/>
              <a:ext cx="140970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100" b="1">
                  <a:solidFill>
                    <a:srgbClr val="10242C"/>
                  </a:solidFill>
                  <a:latin typeface="Aptos Display"/>
                  <a:ea typeface="Aptos Display"/>
                  <a:cs typeface="Aptos Display"/>
                  <a:sym typeface="Aptos Display"/>
                </a:defRPr>
              </a:pPr>
              <a:endParaRPr/>
            </a:p>
          </p:txBody>
        </p:sp>
        <p:sp>
          <p:nvSpPr>
            <p:cNvPr id="1356" name="446"/>
            <p:cNvSpPr txBox="1"/>
            <p:nvPr/>
          </p:nvSpPr>
          <p:spPr>
            <a:xfrm>
              <a:off x="0" y="0"/>
              <a:ext cx="140970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100" b="1">
                  <a:solidFill>
                    <a:srgbClr val="10242C"/>
                  </a:solidFill>
                  <a:latin typeface="Aptos Display"/>
                  <a:ea typeface="Aptos Display"/>
                  <a:cs typeface="Aptos Display"/>
                  <a:sym typeface="Aptos Display"/>
                </a:defRPr>
              </a:lvl1pPr>
            </a:lstStyle>
            <a:p>
              <a:r>
                <a:t>446</a:t>
              </a:r>
            </a:p>
          </p:txBody>
        </p:sp>
      </p:grpSp>
      <p:grpSp>
        <p:nvGrpSpPr>
          <p:cNvPr id="1360" name="Group"/>
          <p:cNvGrpSpPr/>
          <p:nvPr/>
        </p:nvGrpSpPr>
        <p:grpSpPr>
          <a:xfrm>
            <a:off x="10096500" y="5991225"/>
            <a:ext cx="1409700" cy="285750"/>
            <a:chOff x="0" y="0"/>
            <a:chExt cx="1409700" cy="285750"/>
          </a:xfrm>
        </p:grpSpPr>
        <p:sp>
          <p:nvSpPr>
            <p:cNvPr id="1358" name="Rectangle"/>
            <p:cNvSpPr/>
            <p:nvPr/>
          </p:nvSpPr>
          <p:spPr>
            <a:xfrm>
              <a:off x="0" y="0"/>
              <a:ext cx="1409700" cy="2857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a:solidFill>
                    <a:srgbClr val="5E6A70"/>
                  </a:solidFill>
                  <a:latin typeface="Aptos"/>
                  <a:ea typeface="Aptos"/>
                  <a:cs typeface="Aptos"/>
                  <a:sym typeface="Aptos"/>
                </a:defRPr>
              </a:pPr>
              <a:endParaRPr/>
            </a:p>
          </p:txBody>
        </p:sp>
        <p:sp>
          <p:nvSpPr>
            <p:cNvPr id="1359" name="records modeled"/>
            <p:cNvSpPr txBox="1"/>
            <p:nvPr/>
          </p:nvSpPr>
          <p:spPr>
            <a:xfrm>
              <a:off x="0" y="0"/>
              <a:ext cx="14097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a:solidFill>
                    <a:srgbClr val="5E6A70"/>
                  </a:solidFill>
                  <a:latin typeface="Aptos"/>
                  <a:ea typeface="Aptos"/>
                  <a:cs typeface="Aptos"/>
                  <a:sym typeface="Aptos"/>
                </a:defRPr>
              </a:lvl1pPr>
            </a:lstStyle>
            <a:p>
              <a:r>
                <a:t>records modeled</a:t>
              </a:r>
            </a:p>
          </p:txBody>
        </p:sp>
      </p:gr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363"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366" name="Group"/>
          <p:cNvGrpSpPr/>
          <p:nvPr/>
        </p:nvGrpSpPr>
        <p:grpSpPr>
          <a:xfrm>
            <a:off x="533400" y="323850"/>
            <a:ext cx="4953000" cy="228600"/>
            <a:chOff x="0" y="0"/>
            <a:chExt cx="4953000" cy="228600"/>
          </a:xfrm>
        </p:grpSpPr>
        <p:sp>
          <p:nvSpPr>
            <p:cNvPr id="136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365"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369" name="Group"/>
          <p:cNvGrpSpPr/>
          <p:nvPr/>
        </p:nvGrpSpPr>
        <p:grpSpPr>
          <a:xfrm>
            <a:off x="533400" y="723900"/>
            <a:ext cx="6667500" cy="609600"/>
            <a:chOff x="0" y="0"/>
            <a:chExt cx="6667500" cy="609600"/>
          </a:xfrm>
        </p:grpSpPr>
        <p:sp>
          <p:nvSpPr>
            <p:cNvPr id="1367"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368" name="Feature Engineering Detail"/>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Feature Engineering Detail</a:t>
              </a:r>
            </a:p>
          </p:txBody>
        </p:sp>
      </p:grpSp>
      <p:grpSp>
        <p:nvGrpSpPr>
          <p:cNvPr id="1372" name="Group"/>
          <p:cNvGrpSpPr/>
          <p:nvPr/>
        </p:nvGrpSpPr>
        <p:grpSpPr>
          <a:xfrm>
            <a:off x="552450" y="1485900"/>
            <a:ext cx="6477000" cy="457200"/>
            <a:chOff x="0" y="0"/>
            <a:chExt cx="6477000" cy="457200"/>
          </a:xfrm>
        </p:grpSpPr>
        <p:sp>
          <p:nvSpPr>
            <p:cNvPr id="1370"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371" name="The code creates behavioral features that make the model more informative than using points alone."/>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code creates behavioral features that make the model more informative than using points alone.</a:t>
              </a:r>
            </a:p>
          </p:txBody>
        </p:sp>
      </p:grpSp>
      <p:grpSp>
        <p:nvGrpSpPr>
          <p:cNvPr id="1375" name="Group"/>
          <p:cNvGrpSpPr/>
          <p:nvPr/>
        </p:nvGrpSpPr>
        <p:grpSpPr>
          <a:xfrm>
            <a:off x="533400" y="6438900"/>
            <a:ext cx="4953000" cy="228600"/>
            <a:chOff x="0" y="0"/>
            <a:chExt cx="4953000" cy="228600"/>
          </a:xfrm>
        </p:grpSpPr>
        <p:sp>
          <p:nvSpPr>
            <p:cNvPr id="137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374"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378" name="Group"/>
          <p:cNvGrpSpPr/>
          <p:nvPr/>
        </p:nvGrpSpPr>
        <p:grpSpPr>
          <a:xfrm>
            <a:off x="11125200" y="6419850"/>
            <a:ext cx="514350" cy="228600"/>
            <a:chOff x="0" y="0"/>
            <a:chExt cx="514350" cy="228600"/>
          </a:xfrm>
        </p:grpSpPr>
        <p:sp>
          <p:nvSpPr>
            <p:cNvPr id="1376"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377" name="16"/>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16</a:t>
              </a:r>
            </a:p>
          </p:txBody>
        </p:sp>
      </p:grpSp>
      <p:sp>
        <p:nvSpPr>
          <p:cNvPr id="1379" name="Rectangle"/>
          <p:cNvSpPr/>
          <p:nvPr/>
        </p:nvSpPr>
        <p:spPr>
          <a:xfrm>
            <a:off x="781050" y="2209800"/>
            <a:ext cx="4381500" cy="781050"/>
          </a:xfrm>
          <a:prstGeom prst="rect">
            <a:avLst/>
          </a:prstGeom>
          <a:solidFill>
            <a:srgbClr val="FFFFFF"/>
          </a:solidFill>
          <a:ln>
            <a:solidFill>
              <a:srgbClr val="E4EAE7"/>
            </a:solidFill>
          </a:ln>
        </p:spPr>
        <p:txBody>
          <a:bodyPr lIns="0" tIns="0" rIns="0" bIns="0"/>
          <a:lstStyle/>
          <a:p>
            <a:endParaRPr/>
          </a:p>
        </p:txBody>
      </p:sp>
      <p:sp>
        <p:nvSpPr>
          <p:cNvPr id="1380" name="Rectangle"/>
          <p:cNvSpPr/>
          <p:nvPr/>
        </p:nvSpPr>
        <p:spPr>
          <a:xfrm>
            <a:off x="781050" y="2209800"/>
            <a:ext cx="66675" cy="781050"/>
          </a:xfrm>
          <a:prstGeom prst="rect">
            <a:avLst/>
          </a:prstGeom>
          <a:solidFill>
            <a:srgbClr val="0A6B61"/>
          </a:solidFill>
          <a:ln w="3175">
            <a:solidFill>
              <a:srgbClr val="000000">
                <a:alpha val="0"/>
              </a:srgbClr>
            </a:solidFill>
          </a:ln>
        </p:spPr>
        <p:txBody>
          <a:bodyPr lIns="0" tIns="0" rIns="0" bIns="0"/>
          <a:lstStyle/>
          <a:p>
            <a:endParaRPr/>
          </a:p>
        </p:txBody>
      </p:sp>
      <p:grpSp>
        <p:nvGrpSpPr>
          <p:cNvPr id="1383" name="Group"/>
          <p:cNvGrpSpPr/>
          <p:nvPr/>
        </p:nvGrpSpPr>
        <p:grpSpPr>
          <a:xfrm>
            <a:off x="1009650" y="2371725"/>
            <a:ext cx="3905250" cy="228600"/>
            <a:chOff x="0" y="0"/>
            <a:chExt cx="3905250" cy="228600"/>
          </a:xfrm>
        </p:grpSpPr>
        <p:sp>
          <p:nvSpPr>
            <p:cNvPr id="1381"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382" name="Membership Days"/>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Membership Days</a:t>
              </a:r>
            </a:p>
          </p:txBody>
        </p:sp>
      </p:grpSp>
      <p:grpSp>
        <p:nvGrpSpPr>
          <p:cNvPr id="1386" name="Group"/>
          <p:cNvGrpSpPr/>
          <p:nvPr/>
        </p:nvGrpSpPr>
        <p:grpSpPr>
          <a:xfrm>
            <a:off x="1009650" y="2667000"/>
            <a:ext cx="3905250" cy="228600"/>
            <a:chOff x="0" y="0"/>
            <a:chExt cx="3905250" cy="228600"/>
          </a:xfrm>
        </p:grpSpPr>
        <p:sp>
          <p:nvSpPr>
            <p:cNvPr id="1384"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385" name="How long the member has been enrolled."/>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How long the member has been enrolled.</a:t>
              </a:r>
            </a:p>
          </p:txBody>
        </p:sp>
      </p:grpSp>
      <p:sp>
        <p:nvSpPr>
          <p:cNvPr id="1387" name="Rectangle"/>
          <p:cNvSpPr/>
          <p:nvPr/>
        </p:nvSpPr>
        <p:spPr>
          <a:xfrm>
            <a:off x="5924550" y="2209800"/>
            <a:ext cx="4381500" cy="781050"/>
          </a:xfrm>
          <a:prstGeom prst="rect">
            <a:avLst/>
          </a:prstGeom>
          <a:solidFill>
            <a:srgbClr val="FFFFFF"/>
          </a:solidFill>
          <a:ln>
            <a:solidFill>
              <a:srgbClr val="E4EAE7"/>
            </a:solidFill>
          </a:ln>
        </p:spPr>
        <p:txBody>
          <a:bodyPr lIns="0" tIns="0" rIns="0" bIns="0"/>
          <a:lstStyle/>
          <a:p>
            <a:endParaRPr/>
          </a:p>
        </p:txBody>
      </p:sp>
      <p:sp>
        <p:nvSpPr>
          <p:cNvPr id="1388" name="Rectangle"/>
          <p:cNvSpPr/>
          <p:nvPr/>
        </p:nvSpPr>
        <p:spPr>
          <a:xfrm>
            <a:off x="5924550" y="2209800"/>
            <a:ext cx="66675" cy="781050"/>
          </a:xfrm>
          <a:prstGeom prst="rect">
            <a:avLst/>
          </a:prstGeom>
          <a:solidFill>
            <a:srgbClr val="3C9D72"/>
          </a:solidFill>
          <a:ln w="3175">
            <a:solidFill>
              <a:srgbClr val="000000">
                <a:alpha val="0"/>
              </a:srgbClr>
            </a:solidFill>
          </a:ln>
        </p:spPr>
        <p:txBody>
          <a:bodyPr lIns="0" tIns="0" rIns="0" bIns="0"/>
          <a:lstStyle/>
          <a:p>
            <a:endParaRPr/>
          </a:p>
        </p:txBody>
      </p:sp>
      <p:grpSp>
        <p:nvGrpSpPr>
          <p:cNvPr id="1391" name="Group"/>
          <p:cNvGrpSpPr/>
          <p:nvPr/>
        </p:nvGrpSpPr>
        <p:grpSpPr>
          <a:xfrm>
            <a:off x="6153150" y="2371725"/>
            <a:ext cx="3905250" cy="228600"/>
            <a:chOff x="0" y="0"/>
            <a:chExt cx="3905250" cy="228600"/>
          </a:xfrm>
        </p:grpSpPr>
        <p:sp>
          <p:nvSpPr>
            <p:cNvPr id="1389"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390" name="Age"/>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Age</a:t>
              </a:r>
            </a:p>
          </p:txBody>
        </p:sp>
      </p:grpSp>
      <p:grpSp>
        <p:nvGrpSpPr>
          <p:cNvPr id="1394" name="Group"/>
          <p:cNvGrpSpPr/>
          <p:nvPr/>
        </p:nvGrpSpPr>
        <p:grpSpPr>
          <a:xfrm>
            <a:off x="6153150" y="2667000"/>
            <a:ext cx="3905250" cy="228600"/>
            <a:chOff x="0" y="0"/>
            <a:chExt cx="3905250" cy="228600"/>
          </a:xfrm>
        </p:grpSpPr>
        <p:sp>
          <p:nvSpPr>
            <p:cNvPr id="1392"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393" name="Customer age derived from birthday."/>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Customer age derived from birthday.</a:t>
              </a:r>
            </a:p>
          </p:txBody>
        </p:sp>
      </p:grpSp>
      <p:sp>
        <p:nvSpPr>
          <p:cNvPr id="1395" name="Rectangle"/>
          <p:cNvSpPr/>
          <p:nvPr/>
        </p:nvSpPr>
        <p:spPr>
          <a:xfrm>
            <a:off x="781050" y="3276600"/>
            <a:ext cx="4381500" cy="781050"/>
          </a:xfrm>
          <a:prstGeom prst="rect">
            <a:avLst/>
          </a:prstGeom>
          <a:solidFill>
            <a:srgbClr val="FFFFFF"/>
          </a:solidFill>
          <a:ln>
            <a:solidFill>
              <a:srgbClr val="E4EAE7"/>
            </a:solidFill>
          </a:ln>
        </p:spPr>
        <p:txBody>
          <a:bodyPr lIns="0" tIns="0" rIns="0" bIns="0"/>
          <a:lstStyle/>
          <a:p>
            <a:endParaRPr/>
          </a:p>
        </p:txBody>
      </p:sp>
      <p:sp>
        <p:nvSpPr>
          <p:cNvPr id="1396" name="Rectangle"/>
          <p:cNvSpPr/>
          <p:nvPr/>
        </p:nvSpPr>
        <p:spPr>
          <a:xfrm>
            <a:off x="781050" y="3276600"/>
            <a:ext cx="66675" cy="781050"/>
          </a:xfrm>
          <a:prstGeom prst="rect">
            <a:avLst/>
          </a:prstGeom>
          <a:solidFill>
            <a:srgbClr val="2C6FB2"/>
          </a:solidFill>
          <a:ln w="3175">
            <a:solidFill>
              <a:srgbClr val="000000">
                <a:alpha val="0"/>
              </a:srgbClr>
            </a:solidFill>
          </a:ln>
        </p:spPr>
        <p:txBody>
          <a:bodyPr lIns="0" tIns="0" rIns="0" bIns="0"/>
          <a:lstStyle/>
          <a:p>
            <a:endParaRPr/>
          </a:p>
        </p:txBody>
      </p:sp>
      <p:grpSp>
        <p:nvGrpSpPr>
          <p:cNvPr id="1399" name="Group"/>
          <p:cNvGrpSpPr/>
          <p:nvPr/>
        </p:nvGrpSpPr>
        <p:grpSpPr>
          <a:xfrm>
            <a:off x="1009650" y="3438525"/>
            <a:ext cx="3905250" cy="228600"/>
            <a:chOff x="0" y="0"/>
            <a:chExt cx="3905250" cy="228600"/>
          </a:xfrm>
        </p:grpSpPr>
        <p:sp>
          <p:nvSpPr>
            <p:cNvPr id="1397"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398" name="Log Points"/>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Log Points</a:t>
              </a:r>
            </a:p>
          </p:txBody>
        </p:sp>
      </p:grpSp>
      <p:grpSp>
        <p:nvGrpSpPr>
          <p:cNvPr id="1402" name="Group"/>
          <p:cNvGrpSpPr/>
          <p:nvPr/>
        </p:nvGrpSpPr>
        <p:grpSpPr>
          <a:xfrm>
            <a:off x="1009650" y="3733800"/>
            <a:ext cx="3905250" cy="228600"/>
            <a:chOff x="0" y="0"/>
            <a:chExt cx="3905250" cy="228600"/>
          </a:xfrm>
        </p:grpSpPr>
        <p:sp>
          <p:nvSpPr>
            <p:cNvPr id="1400"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401" name="Compresses extreme point values while keeping rank order."/>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Compresses extreme point values while keeping rank order.</a:t>
              </a:r>
            </a:p>
          </p:txBody>
        </p:sp>
      </p:grpSp>
      <p:sp>
        <p:nvSpPr>
          <p:cNvPr id="1403" name="Rectangle"/>
          <p:cNvSpPr/>
          <p:nvPr/>
        </p:nvSpPr>
        <p:spPr>
          <a:xfrm>
            <a:off x="5924550" y="3276600"/>
            <a:ext cx="4381500" cy="781050"/>
          </a:xfrm>
          <a:prstGeom prst="rect">
            <a:avLst/>
          </a:prstGeom>
          <a:solidFill>
            <a:srgbClr val="FFFFFF"/>
          </a:solidFill>
          <a:ln>
            <a:solidFill>
              <a:srgbClr val="E4EAE7"/>
            </a:solidFill>
          </a:ln>
        </p:spPr>
        <p:txBody>
          <a:bodyPr lIns="0" tIns="0" rIns="0" bIns="0"/>
          <a:lstStyle/>
          <a:p>
            <a:endParaRPr/>
          </a:p>
        </p:txBody>
      </p:sp>
      <p:sp>
        <p:nvSpPr>
          <p:cNvPr id="1404" name="Rectangle"/>
          <p:cNvSpPr/>
          <p:nvPr/>
        </p:nvSpPr>
        <p:spPr>
          <a:xfrm>
            <a:off x="5924550" y="3276600"/>
            <a:ext cx="66675" cy="781050"/>
          </a:xfrm>
          <a:prstGeom prst="rect">
            <a:avLst/>
          </a:prstGeom>
          <a:solidFill>
            <a:srgbClr val="D99A16"/>
          </a:solidFill>
          <a:ln w="3175">
            <a:solidFill>
              <a:srgbClr val="000000">
                <a:alpha val="0"/>
              </a:srgbClr>
            </a:solidFill>
          </a:ln>
        </p:spPr>
        <p:txBody>
          <a:bodyPr lIns="0" tIns="0" rIns="0" bIns="0"/>
          <a:lstStyle/>
          <a:p>
            <a:endParaRPr/>
          </a:p>
        </p:txBody>
      </p:sp>
      <p:grpSp>
        <p:nvGrpSpPr>
          <p:cNvPr id="1407" name="Group"/>
          <p:cNvGrpSpPr/>
          <p:nvPr/>
        </p:nvGrpSpPr>
        <p:grpSpPr>
          <a:xfrm>
            <a:off x="6153150" y="3438525"/>
            <a:ext cx="3905250" cy="228600"/>
            <a:chOff x="0" y="0"/>
            <a:chExt cx="3905250" cy="228600"/>
          </a:xfrm>
        </p:grpSpPr>
        <p:sp>
          <p:nvSpPr>
            <p:cNvPr id="1405"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406" name="Percentile Rank"/>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Percentile Rank</a:t>
              </a:r>
            </a:p>
          </p:txBody>
        </p:sp>
      </p:grpSp>
      <p:grpSp>
        <p:nvGrpSpPr>
          <p:cNvPr id="1410" name="Group"/>
          <p:cNvGrpSpPr/>
          <p:nvPr/>
        </p:nvGrpSpPr>
        <p:grpSpPr>
          <a:xfrm>
            <a:off x="6153150" y="3733800"/>
            <a:ext cx="3905250" cy="228600"/>
            <a:chOff x="0" y="0"/>
            <a:chExt cx="3905250" cy="228600"/>
          </a:xfrm>
        </p:grpSpPr>
        <p:sp>
          <p:nvSpPr>
            <p:cNvPr id="1408"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409" name="Shows where a customer sits compared with the full dataset."/>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Shows where a customer sits compared with the full dataset.</a:t>
              </a:r>
            </a:p>
          </p:txBody>
        </p:sp>
      </p:grpSp>
      <p:sp>
        <p:nvSpPr>
          <p:cNvPr id="1411" name="Rectangle"/>
          <p:cNvSpPr/>
          <p:nvPr/>
        </p:nvSpPr>
        <p:spPr>
          <a:xfrm>
            <a:off x="781050" y="4343400"/>
            <a:ext cx="4381500" cy="781050"/>
          </a:xfrm>
          <a:prstGeom prst="rect">
            <a:avLst/>
          </a:prstGeom>
          <a:solidFill>
            <a:srgbClr val="FFFFFF"/>
          </a:solidFill>
          <a:ln>
            <a:solidFill>
              <a:srgbClr val="E4EAE7"/>
            </a:solidFill>
          </a:ln>
        </p:spPr>
        <p:txBody>
          <a:bodyPr lIns="0" tIns="0" rIns="0" bIns="0"/>
          <a:lstStyle/>
          <a:p>
            <a:endParaRPr/>
          </a:p>
        </p:txBody>
      </p:sp>
      <p:sp>
        <p:nvSpPr>
          <p:cNvPr id="1412" name="Rectangle"/>
          <p:cNvSpPr/>
          <p:nvPr/>
        </p:nvSpPr>
        <p:spPr>
          <a:xfrm>
            <a:off x="781050" y="4343400"/>
            <a:ext cx="66675" cy="781050"/>
          </a:xfrm>
          <a:prstGeom prst="rect">
            <a:avLst/>
          </a:prstGeom>
          <a:solidFill>
            <a:srgbClr val="C94E3C"/>
          </a:solidFill>
          <a:ln w="3175">
            <a:solidFill>
              <a:srgbClr val="000000">
                <a:alpha val="0"/>
              </a:srgbClr>
            </a:solidFill>
          </a:ln>
        </p:spPr>
        <p:txBody>
          <a:bodyPr lIns="0" tIns="0" rIns="0" bIns="0"/>
          <a:lstStyle/>
          <a:p>
            <a:endParaRPr/>
          </a:p>
        </p:txBody>
      </p:sp>
      <p:grpSp>
        <p:nvGrpSpPr>
          <p:cNvPr id="1415" name="Group"/>
          <p:cNvGrpSpPr/>
          <p:nvPr/>
        </p:nvGrpSpPr>
        <p:grpSpPr>
          <a:xfrm>
            <a:off x="1009650" y="4505325"/>
            <a:ext cx="3905250" cy="228600"/>
            <a:chOff x="0" y="0"/>
            <a:chExt cx="3905250" cy="228600"/>
          </a:xfrm>
        </p:grpSpPr>
        <p:sp>
          <p:nvSpPr>
            <p:cNvPr id="1413"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414" name="Points per Day"/>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Points per Day</a:t>
              </a:r>
            </a:p>
          </p:txBody>
        </p:sp>
      </p:grpSp>
      <p:grpSp>
        <p:nvGrpSpPr>
          <p:cNvPr id="1418" name="Group"/>
          <p:cNvGrpSpPr/>
          <p:nvPr/>
        </p:nvGrpSpPr>
        <p:grpSpPr>
          <a:xfrm>
            <a:off x="1009650" y="4800600"/>
            <a:ext cx="3905250" cy="228600"/>
            <a:chOff x="0" y="0"/>
            <a:chExt cx="3905250" cy="228600"/>
          </a:xfrm>
        </p:grpSpPr>
        <p:sp>
          <p:nvSpPr>
            <p:cNvPr id="1416"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417" name="Measures activity speed over the membership period."/>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Measures activity speed over the membership period.</a:t>
              </a:r>
            </a:p>
          </p:txBody>
        </p:sp>
      </p:grpSp>
      <p:sp>
        <p:nvSpPr>
          <p:cNvPr id="1419" name="Rectangle"/>
          <p:cNvSpPr/>
          <p:nvPr/>
        </p:nvSpPr>
        <p:spPr>
          <a:xfrm>
            <a:off x="5924550" y="4343400"/>
            <a:ext cx="4381500" cy="781050"/>
          </a:xfrm>
          <a:prstGeom prst="rect">
            <a:avLst/>
          </a:prstGeom>
          <a:solidFill>
            <a:srgbClr val="FFFFFF"/>
          </a:solidFill>
          <a:ln>
            <a:solidFill>
              <a:srgbClr val="E4EAE7"/>
            </a:solidFill>
          </a:ln>
        </p:spPr>
        <p:txBody>
          <a:bodyPr lIns="0" tIns="0" rIns="0" bIns="0"/>
          <a:lstStyle/>
          <a:p>
            <a:endParaRPr/>
          </a:p>
        </p:txBody>
      </p:sp>
      <p:sp>
        <p:nvSpPr>
          <p:cNvPr id="1420" name="Rectangle"/>
          <p:cNvSpPr/>
          <p:nvPr/>
        </p:nvSpPr>
        <p:spPr>
          <a:xfrm>
            <a:off x="5924550" y="4343400"/>
            <a:ext cx="66675" cy="781050"/>
          </a:xfrm>
          <a:prstGeom prst="rect">
            <a:avLst/>
          </a:prstGeom>
          <a:solidFill>
            <a:srgbClr val="6E4CA1"/>
          </a:solidFill>
          <a:ln w="3175">
            <a:solidFill>
              <a:srgbClr val="000000">
                <a:alpha val="0"/>
              </a:srgbClr>
            </a:solidFill>
          </a:ln>
        </p:spPr>
        <p:txBody>
          <a:bodyPr lIns="0" tIns="0" rIns="0" bIns="0"/>
          <a:lstStyle/>
          <a:p>
            <a:endParaRPr/>
          </a:p>
        </p:txBody>
      </p:sp>
      <p:grpSp>
        <p:nvGrpSpPr>
          <p:cNvPr id="1423" name="Group"/>
          <p:cNvGrpSpPr/>
          <p:nvPr/>
        </p:nvGrpSpPr>
        <p:grpSpPr>
          <a:xfrm>
            <a:off x="6153150" y="4505325"/>
            <a:ext cx="3905250" cy="228600"/>
            <a:chOff x="0" y="0"/>
            <a:chExt cx="3905250" cy="228600"/>
          </a:xfrm>
        </p:grpSpPr>
        <p:sp>
          <p:nvSpPr>
            <p:cNvPr id="1421"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422" name="Points per Month"/>
            <p:cNvSpPr txBox="1"/>
            <p:nvPr/>
          </p:nvSpPr>
          <p:spPr>
            <a:xfrm>
              <a:off x="0" y="0"/>
              <a:ext cx="39052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Points per Month</a:t>
              </a:r>
            </a:p>
          </p:txBody>
        </p:sp>
      </p:grpSp>
      <p:grpSp>
        <p:nvGrpSpPr>
          <p:cNvPr id="1426" name="Group"/>
          <p:cNvGrpSpPr/>
          <p:nvPr/>
        </p:nvGrpSpPr>
        <p:grpSpPr>
          <a:xfrm>
            <a:off x="6153150" y="4800600"/>
            <a:ext cx="3905250" cy="228600"/>
            <a:chOff x="0" y="0"/>
            <a:chExt cx="3905250" cy="228600"/>
          </a:xfrm>
        </p:grpSpPr>
        <p:sp>
          <p:nvSpPr>
            <p:cNvPr id="1424" name="Rectangle"/>
            <p:cNvSpPr/>
            <p:nvPr/>
          </p:nvSpPr>
          <p:spPr>
            <a:xfrm>
              <a:off x="0" y="0"/>
              <a:ext cx="39052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425" name="A more readable monthly velocity feature."/>
            <p:cNvSpPr txBox="1"/>
            <p:nvPr/>
          </p:nvSpPr>
          <p:spPr>
            <a:xfrm>
              <a:off x="0" y="0"/>
              <a:ext cx="39052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A more readable monthly velocity feature.</a:t>
              </a:r>
            </a:p>
          </p:txBody>
        </p:sp>
      </p:grpSp>
      <p:grpSp>
        <p:nvGrpSpPr>
          <p:cNvPr id="1429" name="Group"/>
          <p:cNvGrpSpPr/>
          <p:nvPr/>
        </p:nvGrpSpPr>
        <p:grpSpPr>
          <a:xfrm>
            <a:off x="838200" y="5695950"/>
            <a:ext cx="9906000" cy="342900"/>
            <a:chOff x="0" y="0"/>
            <a:chExt cx="9906000" cy="342900"/>
          </a:xfrm>
        </p:grpSpPr>
        <p:sp>
          <p:nvSpPr>
            <p:cNvPr id="1427" name="Rectangle"/>
            <p:cNvSpPr/>
            <p:nvPr/>
          </p:nvSpPr>
          <p:spPr>
            <a:xfrm>
              <a:off x="0" y="0"/>
              <a:ext cx="990600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a:solidFill>
                    <a:srgbClr val="10242C"/>
                  </a:solidFill>
                  <a:latin typeface="Aptos"/>
                  <a:ea typeface="Aptos"/>
                  <a:cs typeface="Aptos"/>
                  <a:sym typeface="Aptos"/>
                </a:defRPr>
              </a:pPr>
              <a:endParaRPr/>
            </a:p>
          </p:txBody>
        </p:sp>
        <p:sp>
          <p:nvSpPr>
            <p:cNvPr id="1428" name="Feature engineering is the bridge between a raw loyalty file and a model that can recognize different forms of customer value."/>
            <p:cNvSpPr txBox="1"/>
            <p:nvPr/>
          </p:nvSpPr>
          <p:spPr>
            <a:xfrm>
              <a:off x="0" y="0"/>
              <a:ext cx="99060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a:solidFill>
                    <a:srgbClr val="10242C"/>
                  </a:solidFill>
                  <a:latin typeface="Aptos"/>
                  <a:ea typeface="Aptos"/>
                  <a:cs typeface="Aptos"/>
                  <a:sym typeface="Aptos"/>
                </a:defRPr>
              </a:lvl1pPr>
            </a:lstStyle>
            <a:p>
              <a:r>
                <a:t>Feature engineering is the bridge between a raw loyalty file and a model that can recognize different forms of customer value.</a:t>
              </a:r>
            </a:p>
          </p:txBody>
        </p:sp>
      </p:gr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432"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435" name="Group"/>
          <p:cNvGrpSpPr/>
          <p:nvPr/>
        </p:nvGrpSpPr>
        <p:grpSpPr>
          <a:xfrm>
            <a:off x="533400" y="323850"/>
            <a:ext cx="4953000" cy="228600"/>
            <a:chOff x="0" y="0"/>
            <a:chExt cx="4953000" cy="228600"/>
          </a:xfrm>
        </p:grpSpPr>
        <p:sp>
          <p:nvSpPr>
            <p:cNvPr id="143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434"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438" name="Group"/>
          <p:cNvGrpSpPr/>
          <p:nvPr/>
        </p:nvGrpSpPr>
        <p:grpSpPr>
          <a:xfrm>
            <a:off x="533400" y="723900"/>
            <a:ext cx="6667500" cy="609600"/>
            <a:chOff x="0" y="0"/>
            <a:chExt cx="6667500" cy="609600"/>
          </a:xfrm>
        </p:grpSpPr>
        <p:sp>
          <p:nvSpPr>
            <p:cNvPr id="1436"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437" name="Ranking Formula Detail"/>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Ranking Formula Detail</a:t>
              </a:r>
            </a:p>
          </p:txBody>
        </p:sp>
      </p:grpSp>
      <p:grpSp>
        <p:nvGrpSpPr>
          <p:cNvPr id="1441" name="Group"/>
          <p:cNvGrpSpPr/>
          <p:nvPr/>
        </p:nvGrpSpPr>
        <p:grpSpPr>
          <a:xfrm>
            <a:off x="552450" y="1485900"/>
            <a:ext cx="6477000" cy="457200"/>
            <a:chOff x="0" y="0"/>
            <a:chExt cx="6477000" cy="457200"/>
          </a:xfrm>
        </p:grpSpPr>
        <p:sp>
          <p:nvSpPr>
            <p:cNvPr id="1439"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440" name="The score is designed to reward both total value and engagement speed while keeping the ranking explainable."/>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score is designed to reward both total value and engagement speed while keeping the ranking explainable.</a:t>
              </a:r>
            </a:p>
          </p:txBody>
        </p:sp>
      </p:grpSp>
      <p:grpSp>
        <p:nvGrpSpPr>
          <p:cNvPr id="1444" name="Group"/>
          <p:cNvGrpSpPr/>
          <p:nvPr/>
        </p:nvGrpSpPr>
        <p:grpSpPr>
          <a:xfrm>
            <a:off x="533400" y="6438900"/>
            <a:ext cx="4953000" cy="228600"/>
            <a:chOff x="0" y="0"/>
            <a:chExt cx="4953000" cy="228600"/>
          </a:xfrm>
        </p:grpSpPr>
        <p:sp>
          <p:nvSpPr>
            <p:cNvPr id="144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44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447" name="Group"/>
          <p:cNvGrpSpPr/>
          <p:nvPr/>
        </p:nvGrpSpPr>
        <p:grpSpPr>
          <a:xfrm>
            <a:off x="11125200" y="6419850"/>
            <a:ext cx="514350" cy="228600"/>
            <a:chOff x="0" y="0"/>
            <a:chExt cx="514350" cy="228600"/>
          </a:xfrm>
        </p:grpSpPr>
        <p:sp>
          <p:nvSpPr>
            <p:cNvPr id="144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446" name="17"/>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17</a:t>
              </a:r>
            </a:p>
          </p:txBody>
        </p:sp>
      </p:grpSp>
      <p:grpSp>
        <p:nvGrpSpPr>
          <p:cNvPr id="1450" name="Group"/>
          <p:cNvGrpSpPr/>
          <p:nvPr/>
        </p:nvGrpSpPr>
        <p:grpSpPr>
          <a:xfrm>
            <a:off x="838200" y="2152650"/>
            <a:ext cx="1714500" cy="228600"/>
            <a:chOff x="0" y="0"/>
            <a:chExt cx="1714500" cy="228600"/>
          </a:xfrm>
        </p:grpSpPr>
        <p:sp>
          <p:nvSpPr>
            <p:cNvPr id="1448"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449" name="Points"/>
            <p:cNvSpPr txBox="1"/>
            <p:nvPr/>
          </p:nvSpPr>
          <p:spPr>
            <a:xfrm>
              <a:off x="0" y="0"/>
              <a:ext cx="17145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Points</a:t>
              </a:r>
            </a:p>
          </p:txBody>
        </p:sp>
      </p:grpSp>
      <p:sp>
        <p:nvSpPr>
          <p:cNvPr id="1451" name="Rectangle"/>
          <p:cNvSpPr/>
          <p:nvPr/>
        </p:nvSpPr>
        <p:spPr>
          <a:xfrm>
            <a:off x="2857500" y="2219325"/>
            <a:ext cx="5334000" cy="171450"/>
          </a:xfrm>
          <a:prstGeom prst="rect">
            <a:avLst/>
          </a:prstGeom>
          <a:solidFill>
            <a:srgbClr val="E8EEEB"/>
          </a:solidFill>
          <a:ln w="3175">
            <a:solidFill>
              <a:srgbClr val="000000">
                <a:alpha val="0"/>
              </a:srgbClr>
            </a:solidFill>
          </a:ln>
        </p:spPr>
        <p:txBody>
          <a:bodyPr lIns="0" tIns="0" rIns="0" bIns="0"/>
          <a:lstStyle/>
          <a:p>
            <a:endParaRPr/>
          </a:p>
        </p:txBody>
      </p:sp>
      <p:sp>
        <p:nvSpPr>
          <p:cNvPr id="1452" name="Rectangle"/>
          <p:cNvSpPr/>
          <p:nvPr/>
        </p:nvSpPr>
        <p:spPr>
          <a:xfrm>
            <a:off x="2857500" y="2219325"/>
            <a:ext cx="5334000" cy="171450"/>
          </a:xfrm>
          <a:prstGeom prst="rect">
            <a:avLst/>
          </a:prstGeom>
          <a:solidFill>
            <a:srgbClr val="0A6B61"/>
          </a:solidFill>
          <a:ln w="3175">
            <a:solidFill>
              <a:srgbClr val="000000">
                <a:alpha val="0"/>
              </a:srgbClr>
            </a:solidFill>
          </a:ln>
        </p:spPr>
        <p:txBody>
          <a:bodyPr lIns="0" tIns="0" rIns="0" bIns="0"/>
          <a:lstStyle/>
          <a:p>
            <a:endParaRPr/>
          </a:p>
        </p:txBody>
      </p:sp>
      <p:grpSp>
        <p:nvGrpSpPr>
          <p:cNvPr id="1455" name="Group"/>
          <p:cNvGrpSpPr/>
          <p:nvPr/>
        </p:nvGrpSpPr>
        <p:grpSpPr>
          <a:xfrm>
            <a:off x="8420100" y="2162175"/>
            <a:ext cx="666750" cy="228600"/>
            <a:chOff x="0" y="0"/>
            <a:chExt cx="666750" cy="228600"/>
          </a:xfrm>
        </p:grpSpPr>
        <p:sp>
          <p:nvSpPr>
            <p:cNvPr id="1453" name="Rectangle"/>
            <p:cNvSpPr/>
            <p:nvPr/>
          </p:nvSpPr>
          <p:spPr>
            <a:xfrm>
              <a:off x="0" y="0"/>
              <a:ext cx="666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1200" b="1">
                  <a:solidFill>
                    <a:srgbClr val="0A6B61"/>
                  </a:solidFill>
                  <a:latin typeface="Aptos"/>
                  <a:ea typeface="Aptos"/>
                  <a:cs typeface="Aptos"/>
                  <a:sym typeface="Aptos"/>
                </a:defRPr>
              </a:pPr>
              <a:endParaRPr/>
            </a:p>
          </p:txBody>
        </p:sp>
        <p:sp>
          <p:nvSpPr>
            <p:cNvPr id="1454" name="35%"/>
            <p:cNvSpPr txBox="1"/>
            <p:nvPr/>
          </p:nvSpPr>
          <p:spPr>
            <a:xfrm>
              <a:off x="0" y="0"/>
              <a:ext cx="666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1200" b="1">
                  <a:solidFill>
                    <a:srgbClr val="0A6B61"/>
                  </a:solidFill>
                  <a:latin typeface="Aptos"/>
                  <a:ea typeface="Aptos"/>
                  <a:cs typeface="Aptos"/>
                  <a:sym typeface="Aptos"/>
                </a:defRPr>
              </a:lvl1pPr>
            </a:lstStyle>
            <a:p>
              <a:r>
                <a:t>35%</a:t>
              </a:r>
            </a:p>
          </p:txBody>
        </p:sp>
      </p:grpSp>
      <p:grpSp>
        <p:nvGrpSpPr>
          <p:cNvPr id="1458" name="Group"/>
          <p:cNvGrpSpPr/>
          <p:nvPr/>
        </p:nvGrpSpPr>
        <p:grpSpPr>
          <a:xfrm>
            <a:off x="838200" y="2819400"/>
            <a:ext cx="1714500" cy="228600"/>
            <a:chOff x="0" y="0"/>
            <a:chExt cx="1714500" cy="228600"/>
          </a:xfrm>
        </p:grpSpPr>
        <p:sp>
          <p:nvSpPr>
            <p:cNvPr id="1456"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457" name="Log Points"/>
            <p:cNvSpPr txBox="1"/>
            <p:nvPr/>
          </p:nvSpPr>
          <p:spPr>
            <a:xfrm>
              <a:off x="0" y="0"/>
              <a:ext cx="17145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Log Points</a:t>
              </a:r>
            </a:p>
          </p:txBody>
        </p:sp>
      </p:grpSp>
      <p:sp>
        <p:nvSpPr>
          <p:cNvPr id="1459" name="Rectangle"/>
          <p:cNvSpPr/>
          <p:nvPr/>
        </p:nvSpPr>
        <p:spPr>
          <a:xfrm>
            <a:off x="2857500" y="2886075"/>
            <a:ext cx="5334000" cy="171450"/>
          </a:xfrm>
          <a:prstGeom prst="rect">
            <a:avLst/>
          </a:prstGeom>
          <a:solidFill>
            <a:srgbClr val="E8EEEB"/>
          </a:solidFill>
          <a:ln w="3175">
            <a:solidFill>
              <a:srgbClr val="000000">
                <a:alpha val="0"/>
              </a:srgbClr>
            </a:solidFill>
          </a:ln>
        </p:spPr>
        <p:txBody>
          <a:bodyPr lIns="0" tIns="0" rIns="0" bIns="0"/>
          <a:lstStyle/>
          <a:p>
            <a:endParaRPr/>
          </a:p>
        </p:txBody>
      </p:sp>
      <p:sp>
        <p:nvSpPr>
          <p:cNvPr id="1460" name="Rectangle"/>
          <p:cNvSpPr/>
          <p:nvPr/>
        </p:nvSpPr>
        <p:spPr>
          <a:xfrm>
            <a:off x="2857500" y="2886075"/>
            <a:ext cx="3048000" cy="171450"/>
          </a:xfrm>
          <a:prstGeom prst="rect">
            <a:avLst/>
          </a:prstGeom>
          <a:solidFill>
            <a:srgbClr val="3C9D72"/>
          </a:solidFill>
          <a:ln w="3175">
            <a:solidFill>
              <a:srgbClr val="000000">
                <a:alpha val="0"/>
              </a:srgbClr>
            </a:solidFill>
          </a:ln>
        </p:spPr>
        <p:txBody>
          <a:bodyPr lIns="0" tIns="0" rIns="0" bIns="0"/>
          <a:lstStyle/>
          <a:p>
            <a:endParaRPr/>
          </a:p>
        </p:txBody>
      </p:sp>
      <p:grpSp>
        <p:nvGrpSpPr>
          <p:cNvPr id="1463" name="Group"/>
          <p:cNvGrpSpPr/>
          <p:nvPr/>
        </p:nvGrpSpPr>
        <p:grpSpPr>
          <a:xfrm>
            <a:off x="8420100" y="2828925"/>
            <a:ext cx="666750" cy="228600"/>
            <a:chOff x="0" y="0"/>
            <a:chExt cx="666750" cy="228600"/>
          </a:xfrm>
        </p:grpSpPr>
        <p:sp>
          <p:nvSpPr>
            <p:cNvPr id="1461" name="Rectangle"/>
            <p:cNvSpPr/>
            <p:nvPr/>
          </p:nvSpPr>
          <p:spPr>
            <a:xfrm>
              <a:off x="0" y="0"/>
              <a:ext cx="666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1200" b="1">
                  <a:solidFill>
                    <a:srgbClr val="3C9D72"/>
                  </a:solidFill>
                  <a:latin typeface="Aptos"/>
                  <a:ea typeface="Aptos"/>
                  <a:cs typeface="Aptos"/>
                  <a:sym typeface="Aptos"/>
                </a:defRPr>
              </a:pPr>
              <a:endParaRPr/>
            </a:p>
          </p:txBody>
        </p:sp>
        <p:sp>
          <p:nvSpPr>
            <p:cNvPr id="1462" name="20%"/>
            <p:cNvSpPr txBox="1"/>
            <p:nvPr/>
          </p:nvSpPr>
          <p:spPr>
            <a:xfrm>
              <a:off x="0" y="0"/>
              <a:ext cx="666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1200" b="1">
                  <a:solidFill>
                    <a:srgbClr val="3C9D72"/>
                  </a:solidFill>
                  <a:latin typeface="Aptos"/>
                  <a:ea typeface="Aptos"/>
                  <a:cs typeface="Aptos"/>
                  <a:sym typeface="Aptos"/>
                </a:defRPr>
              </a:lvl1pPr>
            </a:lstStyle>
            <a:p>
              <a:r>
                <a:t>20%</a:t>
              </a:r>
            </a:p>
          </p:txBody>
        </p:sp>
      </p:grpSp>
      <p:grpSp>
        <p:nvGrpSpPr>
          <p:cNvPr id="1466" name="Group"/>
          <p:cNvGrpSpPr/>
          <p:nvPr/>
        </p:nvGrpSpPr>
        <p:grpSpPr>
          <a:xfrm>
            <a:off x="838200" y="3486150"/>
            <a:ext cx="1714500" cy="228600"/>
            <a:chOff x="0" y="0"/>
            <a:chExt cx="1714500" cy="228600"/>
          </a:xfrm>
        </p:grpSpPr>
        <p:sp>
          <p:nvSpPr>
            <p:cNvPr id="1464"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465" name="Percentile"/>
            <p:cNvSpPr txBox="1"/>
            <p:nvPr/>
          </p:nvSpPr>
          <p:spPr>
            <a:xfrm>
              <a:off x="0" y="0"/>
              <a:ext cx="17145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Percentile</a:t>
              </a:r>
            </a:p>
          </p:txBody>
        </p:sp>
      </p:grpSp>
      <p:sp>
        <p:nvSpPr>
          <p:cNvPr id="1467" name="Rectangle"/>
          <p:cNvSpPr/>
          <p:nvPr/>
        </p:nvSpPr>
        <p:spPr>
          <a:xfrm>
            <a:off x="2857500" y="3552825"/>
            <a:ext cx="5334000" cy="171450"/>
          </a:xfrm>
          <a:prstGeom prst="rect">
            <a:avLst/>
          </a:prstGeom>
          <a:solidFill>
            <a:srgbClr val="E8EEEB"/>
          </a:solidFill>
          <a:ln w="3175">
            <a:solidFill>
              <a:srgbClr val="000000">
                <a:alpha val="0"/>
              </a:srgbClr>
            </a:solidFill>
          </a:ln>
        </p:spPr>
        <p:txBody>
          <a:bodyPr lIns="0" tIns="0" rIns="0" bIns="0"/>
          <a:lstStyle/>
          <a:p>
            <a:endParaRPr/>
          </a:p>
        </p:txBody>
      </p:sp>
      <p:sp>
        <p:nvSpPr>
          <p:cNvPr id="1468" name="Rectangle"/>
          <p:cNvSpPr/>
          <p:nvPr/>
        </p:nvSpPr>
        <p:spPr>
          <a:xfrm>
            <a:off x="2857500" y="3552825"/>
            <a:ext cx="3048000" cy="171450"/>
          </a:xfrm>
          <a:prstGeom prst="rect">
            <a:avLst/>
          </a:prstGeom>
          <a:solidFill>
            <a:srgbClr val="2C6FB2"/>
          </a:solidFill>
          <a:ln w="3175">
            <a:solidFill>
              <a:srgbClr val="000000">
                <a:alpha val="0"/>
              </a:srgbClr>
            </a:solidFill>
          </a:ln>
        </p:spPr>
        <p:txBody>
          <a:bodyPr lIns="0" tIns="0" rIns="0" bIns="0"/>
          <a:lstStyle/>
          <a:p>
            <a:endParaRPr/>
          </a:p>
        </p:txBody>
      </p:sp>
      <p:grpSp>
        <p:nvGrpSpPr>
          <p:cNvPr id="1471" name="Group"/>
          <p:cNvGrpSpPr/>
          <p:nvPr/>
        </p:nvGrpSpPr>
        <p:grpSpPr>
          <a:xfrm>
            <a:off x="8420100" y="3495675"/>
            <a:ext cx="666750" cy="228600"/>
            <a:chOff x="0" y="0"/>
            <a:chExt cx="666750" cy="228600"/>
          </a:xfrm>
        </p:grpSpPr>
        <p:sp>
          <p:nvSpPr>
            <p:cNvPr id="1469" name="Rectangle"/>
            <p:cNvSpPr/>
            <p:nvPr/>
          </p:nvSpPr>
          <p:spPr>
            <a:xfrm>
              <a:off x="0" y="0"/>
              <a:ext cx="666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1200" b="1">
                  <a:solidFill>
                    <a:srgbClr val="2C6FB2"/>
                  </a:solidFill>
                  <a:latin typeface="Aptos"/>
                  <a:ea typeface="Aptos"/>
                  <a:cs typeface="Aptos"/>
                  <a:sym typeface="Aptos"/>
                </a:defRPr>
              </a:pPr>
              <a:endParaRPr/>
            </a:p>
          </p:txBody>
        </p:sp>
        <p:sp>
          <p:nvSpPr>
            <p:cNvPr id="1470" name="20%"/>
            <p:cNvSpPr txBox="1"/>
            <p:nvPr/>
          </p:nvSpPr>
          <p:spPr>
            <a:xfrm>
              <a:off x="0" y="0"/>
              <a:ext cx="666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1200" b="1">
                  <a:solidFill>
                    <a:srgbClr val="2C6FB2"/>
                  </a:solidFill>
                  <a:latin typeface="Aptos"/>
                  <a:ea typeface="Aptos"/>
                  <a:cs typeface="Aptos"/>
                  <a:sym typeface="Aptos"/>
                </a:defRPr>
              </a:lvl1pPr>
            </a:lstStyle>
            <a:p>
              <a:r>
                <a:t>20%</a:t>
              </a:r>
            </a:p>
          </p:txBody>
        </p:sp>
      </p:grpSp>
      <p:grpSp>
        <p:nvGrpSpPr>
          <p:cNvPr id="1474" name="Group"/>
          <p:cNvGrpSpPr/>
          <p:nvPr/>
        </p:nvGrpSpPr>
        <p:grpSpPr>
          <a:xfrm>
            <a:off x="838200" y="4152900"/>
            <a:ext cx="1714500" cy="228600"/>
            <a:chOff x="0" y="0"/>
            <a:chExt cx="1714500" cy="228600"/>
          </a:xfrm>
        </p:grpSpPr>
        <p:sp>
          <p:nvSpPr>
            <p:cNvPr id="1472"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473" name="Points / Day"/>
            <p:cNvSpPr txBox="1"/>
            <p:nvPr/>
          </p:nvSpPr>
          <p:spPr>
            <a:xfrm>
              <a:off x="0" y="0"/>
              <a:ext cx="17145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Points / Day</a:t>
              </a:r>
            </a:p>
          </p:txBody>
        </p:sp>
      </p:grpSp>
      <p:sp>
        <p:nvSpPr>
          <p:cNvPr id="1475" name="Rectangle"/>
          <p:cNvSpPr/>
          <p:nvPr/>
        </p:nvSpPr>
        <p:spPr>
          <a:xfrm>
            <a:off x="2857500" y="4219575"/>
            <a:ext cx="5334000" cy="171450"/>
          </a:xfrm>
          <a:prstGeom prst="rect">
            <a:avLst/>
          </a:prstGeom>
          <a:solidFill>
            <a:srgbClr val="E8EEEB"/>
          </a:solidFill>
          <a:ln w="3175">
            <a:solidFill>
              <a:srgbClr val="000000">
                <a:alpha val="0"/>
              </a:srgbClr>
            </a:solidFill>
          </a:ln>
        </p:spPr>
        <p:txBody>
          <a:bodyPr lIns="0" tIns="0" rIns="0" bIns="0"/>
          <a:lstStyle/>
          <a:p>
            <a:endParaRPr/>
          </a:p>
        </p:txBody>
      </p:sp>
      <p:sp>
        <p:nvSpPr>
          <p:cNvPr id="1476" name="Rectangle"/>
          <p:cNvSpPr/>
          <p:nvPr/>
        </p:nvSpPr>
        <p:spPr>
          <a:xfrm>
            <a:off x="2857500" y="4219575"/>
            <a:ext cx="2286000" cy="171450"/>
          </a:xfrm>
          <a:prstGeom prst="rect">
            <a:avLst/>
          </a:prstGeom>
          <a:solidFill>
            <a:srgbClr val="D99A16"/>
          </a:solidFill>
          <a:ln w="3175">
            <a:solidFill>
              <a:srgbClr val="000000">
                <a:alpha val="0"/>
              </a:srgbClr>
            </a:solidFill>
          </a:ln>
        </p:spPr>
        <p:txBody>
          <a:bodyPr lIns="0" tIns="0" rIns="0" bIns="0"/>
          <a:lstStyle/>
          <a:p>
            <a:endParaRPr/>
          </a:p>
        </p:txBody>
      </p:sp>
      <p:grpSp>
        <p:nvGrpSpPr>
          <p:cNvPr id="1479" name="Group"/>
          <p:cNvGrpSpPr/>
          <p:nvPr/>
        </p:nvGrpSpPr>
        <p:grpSpPr>
          <a:xfrm>
            <a:off x="8420100" y="4162425"/>
            <a:ext cx="666750" cy="228600"/>
            <a:chOff x="0" y="0"/>
            <a:chExt cx="666750" cy="228600"/>
          </a:xfrm>
        </p:grpSpPr>
        <p:sp>
          <p:nvSpPr>
            <p:cNvPr id="1477" name="Rectangle"/>
            <p:cNvSpPr/>
            <p:nvPr/>
          </p:nvSpPr>
          <p:spPr>
            <a:xfrm>
              <a:off x="0" y="0"/>
              <a:ext cx="666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1200" b="1">
                  <a:solidFill>
                    <a:srgbClr val="D99A16"/>
                  </a:solidFill>
                  <a:latin typeface="Aptos"/>
                  <a:ea typeface="Aptos"/>
                  <a:cs typeface="Aptos"/>
                  <a:sym typeface="Aptos"/>
                </a:defRPr>
              </a:pPr>
              <a:endParaRPr/>
            </a:p>
          </p:txBody>
        </p:sp>
        <p:sp>
          <p:nvSpPr>
            <p:cNvPr id="1478" name="15%"/>
            <p:cNvSpPr txBox="1"/>
            <p:nvPr/>
          </p:nvSpPr>
          <p:spPr>
            <a:xfrm>
              <a:off x="0" y="0"/>
              <a:ext cx="666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1200" b="1">
                  <a:solidFill>
                    <a:srgbClr val="D99A16"/>
                  </a:solidFill>
                  <a:latin typeface="Aptos"/>
                  <a:ea typeface="Aptos"/>
                  <a:cs typeface="Aptos"/>
                  <a:sym typeface="Aptos"/>
                </a:defRPr>
              </a:lvl1pPr>
            </a:lstStyle>
            <a:p>
              <a:r>
                <a:t>15%</a:t>
              </a:r>
            </a:p>
          </p:txBody>
        </p:sp>
      </p:grpSp>
      <p:grpSp>
        <p:nvGrpSpPr>
          <p:cNvPr id="1482" name="Group"/>
          <p:cNvGrpSpPr/>
          <p:nvPr/>
        </p:nvGrpSpPr>
        <p:grpSpPr>
          <a:xfrm>
            <a:off x="838200" y="4819650"/>
            <a:ext cx="1714500" cy="228600"/>
            <a:chOff x="0" y="0"/>
            <a:chExt cx="1714500" cy="228600"/>
          </a:xfrm>
        </p:grpSpPr>
        <p:sp>
          <p:nvSpPr>
            <p:cNvPr id="1480"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b="1">
                  <a:solidFill>
                    <a:srgbClr val="10242C"/>
                  </a:solidFill>
                  <a:latin typeface="Aptos Display"/>
                  <a:ea typeface="Aptos Display"/>
                  <a:cs typeface="Aptos Display"/>
                  <a:sym typeface="Aptos Display"/>
                </a:defRPr>
              </a:pPr>
              <a:endParaRPr/>
            </a:p>
          </p:txBody>
        </p:sp>
        <p:sp>
          <p:nvSpPr>
            <p:cNvPr id="1481" name="Membership Days"/>
            <p:cNvSpPr txBox="1"/>
            <p:nvPr/>
          </p:nvSpPr>
          <p:spPr>
            <a:xfrm>
              <a:off x="0" y="0"/>
              <a:ext cx="17145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b="1">
                  <a:solidFill>
                    <a:srgbClr val="10242C"/>
                  </a:solidFill>
                  <a:latin typeface="Aptos Display"/>
                  <a:ea typeface="Aptos Display"/>
                  <a:cs typeface="Aptos Display"/>
                  <a:sym typeface="Aptos Display"/>
                </a:defRPr>
              </a:lvl1pPr>
            </a:lstStyle>
            <a:p>
              <a:r>
                <a:t>Membership Days</a:t>
              </a:r>
            </a:p>
          </p:txBody>
        </p:sp>
      </p:grpSp>
      <p:sp>
        <p:nvSpPr>
          <p:cNvPr id="1483" name="Rectangle"/>
          <p:cNvSpPr/>
          <p:nvPr/>
        </p:nvSpPr>
        <p:spPr>
          <a:xfrm>
            <a:off x="2857500" y="4886325"/>
            <a:ext cx="5334000" cy="171450"/>
          </a:xfrm>
          <a:prstGeom prst="rect">
            <a:avLst/>
          </a:prstGeom>
          <a:solidFill>
            <a:srgbClr val="E8EEEB"/>
          </a:solidFill>
          <a:ln w="3175">
            <a:solidFill>
              <a:srgbClr val="000000">
                <a:alpha val="0"/>
              </a:srgbClr>
            </a:solidFill>
          </a:ln>
        </p:spPr>
        <p:txBody>
          <a:bodyPr lIns="0" tIns="0" rIns="0" bIns="0"/>
          <a:lstStyle/>
          <a:p>
            <a:endParaRPr/>
          </a:p>
        </p:txBody>
      </p:sp>
      <p:sp>
        <p:nvSpPr>
          <p:cNvPr id="1484" name="Rectangle"/>
          <p:cNvSpPr/>
          <p:nvPr/>
        </p:nvSpPr>
        <p:spPr>
          <a:xfrm>
            <a:off x="2857500" y="4886325"/>
            <a:ext cx="1524000" cy="171450"/>
          </a:xfrm>
          <a:prstGeom prst="rect">
            <a:avLst/>
          </a:prstGeom>
          <a:solidFill>
            <a:srgbClr val="C94E3C"/>
          </a:solidFill>
          <a:ln w="3175">
            <a:solidFill>
              <a:srgbClr val="000000">
                <a:alpha val="0"/>
              </a:srgbClr>
            </a:solidFill>
          </a:ln>
        </p:spPr>
        <p:txBody>
          <a:bodyPr lIns="0" tIns="0" rIns="0" bIns="0"/>
          <a:lstStyle/>
          <a:p>
            <a:endParaRPr/>
          </a:p>
        </p:txBody>
      </p:sp>
      <p:grpSp>
        <p:nvGrpSpPr>
          <p:cNvPr id="1487" name="Group"/>
          <p:cNvGrpSpPr/>
          <p:nvPr/>
        </p:nvGrpSpPr>
        <p:grpSpPr>
          <a:xfrm>
            <a:off x="8420100" y="4829175"/>
            <a:ext cx="666750" cy="228600"/>
            <a:chOff x="0" y="0"/>
            <a:chExt cx="666750" cy="228600"/>
          </a:xfrm>
        </p:grpSpPr>
        <p:sp>
          <p:nvSpPr>
            <p:cNvPr id="1485" name="Rectangle"/>
            <p:cNvSpPr/>
            <p:nvPr/>
          </p:nvSpPr>
          <p:spPr>
            <a:xfrm>
              <a:off x="0" y="0"/>
              <a:ext cx="666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1200" b="1">
                  <a:solidFill>
                    <a:srgbClr val="C94E3C"/>
                  </a:solidFill>
                  <a:latin typeface="Aptos"/>
                  <a:ea typeface="Aptos"/>
                  <a:cs typeface="Aptos"/>
                  <a:sym typeface="Aptos"/>
                </a:defRPr>
              </a:pPr>
              <a:endParaRPr/>
            </a:p>
          </p:txBody>
        </p:sp>
        <p:sp>
          <p:nvSpPr>
            <p:cNvPr id="1486" name="10%"/>
            <p:cNvSpPr txBox="1"/>
            <p:nvPr/>
          </p:nvSpPr>
          <p:spPr>
            <a:xfrm>
              <a:off x="0" y="0"/>
              <a:ext cx="666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1200" b="1">
                  <a:solidFill>
                    <a:srgbClr val="C94E3C"/>
                  </a:solidFill>
                  <a:latin typeface="Aptos"/>
                  <a:ea typeface="Aptos"/>
                  <a:cs typeface="Aptos"/>
                  <a:sym typeface="Aptos"/>
                </a:defRPr>
              </a:lvl1pPr>
            </a:lstStyle>
            <a:p>
              <a:r>
                <a:t>10%</a:t>
              </a:r>
            </a:p>
          </p:txBody>
        </p:sp>
      </p:grpSp>
      <p:sp>
        <p:nvSpPr>
          <p:cNvPr id="1488" name="Rectangle"/>
          <p:cNvSpPr/>
          <p:nvPr/>
        </p:nvSpPr>
        <p:spPr>
          <a:xfrm>
            <a:off x="838200" y="5657850"/>
            <a:ext cx="94297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491" name="Group"/>
          <p:cNvGrpSpPr/>
          <p:nvPr/>
        </p:nvGrpSpPr>
        <p:grpSpPr>
          <a:xfrm>
            <a:off x="838200" y="5848350"/>
            <a:ext cx="1809750" cy="228600"/>
            <a:chOff x="0" y="0"/>
            <a:chExt cx="1809750" cy="228600"/>
          </a:xfrm>
        </p:grpSpPr>
        <p:sp>
          <p:nvSpPr>
            <p:cNvPr id="1489"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1490" name="Final ranking"/>
            <p:cNvSpPr txBox="1"/>
            <p:nvPr/>
          </p:nvSpPr>
          <p:spPr>
            <a:xfrm>
              <a:off x="0" y="0"/>
              <a:ext cx="1809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Final ranking</a:t>
              </a:r>
            </a:p>
          </p:txBody>
        </p:sp>
      </p:grpSp>
      <p:grpSp>
        <p:nvGrpSpPr>
          <p:cNvPr id="1494" name="Group"/>
          <p:cNvGrpSpPr/>
          <p:nvPr/>
        </p:nvGrpSpPr>
        <p:grpSpPr>
          <a:xfrm>
            <a:off x="2743200" y="5829300"/>
            <a:ext cx="7524750" cy="304800"/>
            <a:chOff x="0" y="0"/>
            <a:chExt cx="7524750" cy="304800"/>
          </a:xfrm>
        </p:grpSpPr>
        <p:sp>
          <p:nvSpPr>
            <p:cNvPr id="1492" name="Rectangle"/>
            <p:cNvSpPr/>
            <p:nvPr/>
          </p:nvSpPr>
          <p:spPr>
            <a:xfrm>
              <a:off x="0" y="0"/>
              <a:ext cx="7524750" cy="3048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493" name="After the score is calculated, customers are sorted from highest to lowest score and assigned Loyalty_Rank values starting from 1."/>
            <p:cNvSpPr txBox="1"/>
            <p:nvPr/>
          </p:nvSpPr>
          <p:spPr>
            <a:xfrm>
              <a:off x="0" y="0"/>
              <a:ext cx="752475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After the score is calculated, customers are sorted from highest to lowest score and assigned Loyalty_Rank values starting from 1.</a:t>
              </a:r>
            </a:p>
          </p:txBody>
        </p:sp>
      </p:gr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497"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500" name="Group"/>
          <p:cNvGrpSpPr/>
          <p:nvPr/>
        </p:nvGrpSpPr>
        <p:grpSpPr>
          <a:xfrm>
            <a:off x="533400" y="323850"/>
            <a:ext cx="4953000" cy="228600"/>
            <a:chOff x="0" y="0"/>
            <a:chExt cx="4953000" cy="228600"/>
          </a:xfrm>
        </p:grpSpPr>
        <p:sp>
          <p:nvSpPr>
            <p:cNvPr id="149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499"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503" name="Group"/>
          <p:cNvGrpSpPr/>
          <p:nvPr/>
        </p:nvGrpSpPr>
        <p:grpSpPr>
          <a:xfrm>
            <a:off x="533400" y="723900"/>
            <a:ext cx="6667500" cy="609600"/>
            <a:chOff x="0" y="0"/>
            <a:chExt cx="6667500" cy="609600"/>
          </a:xfrm>
        </p:grpSpPr>
        <p:sp>
          <p:nvSpPr>
            <p:cNvPr id="1501"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502" name="Classification Experiment Desig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Classification Experiment Design</a:t>
              </a:r>
            </a:p>
          </p:txBody>
        </p:sp>
      </p:grpSp>
      <p:grpSp>
        <p:nvGrpSpPr>
          <p:cNvPr id="1506" name="Group"/>
          <p:cNvGrpSpPr/>
          <p:nvPr/>
        </p:nvGrpSpPr>
        <p:grpSpPr>
          <a:xfrm>
            <a:off x="552450" y="1485900"/>
            <a:ext cx="6477000" cy="457200"/>
            <a:chOff x="0" y="0"/>
            <a:chExt cx="6477000" cy="457200"/>
          </a:xfrm>
        </p:grpSpPr>
        <p:sp>
          <p:nvSpPr>
            <p:cNvPr id="1504"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505" name="The classification task predicts loyalty segment using the engineered customer features."/>
            <p:cNvSpPr txBox="1"/>
            <p:nvPr/>
          </p:nvSpPr>
          <p:spPr>
            <a:xfrm>
              <a:off x="0" y="0"/>
              <a:ext cx="647700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classification task predicts loyalty segment using the engineered customer features.</a:t>
              </a:r>
            </a:p>
          </p:txBody>
        </p:sp>
      </p:grpSp>
      <p:grpSp>
        <p:nvGrpSpPr>
          <p:cNvPr id="1509" name="Group"/>
          <p:cNvGrpSpPr/>
          <p:nvPr/>
        </p:nvGrpSpPr>
        <p:grpSpPr>
          <a:xfrm>
            <a:off x="533400" y="6438900"/>
            <a:ext cx="4953000" cy="228600"/>
            <a:chOff x="0" y="0"/>
            <a:chExt cx="4953000" cy="228600"/>
          </a:xfrm>
        </p:grpSpPr>
        <p:sp>
          <p:nvSpPr>
            <p:cNvPr id="1507"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508"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512" name="Group"/>
          <p:cNvGrpSpPr/>
          <p:nvPr/>
        </p:nvGrpSpPr>
        <p:grpSpPr>
          <a:xfrm>
            <a:off x="11125200" y="6419850"/>
            <a:ext cx="514350" cy="228600"/>
            <a:chOff x="0" y="0"/>
            <a:chExt cx="514350" cy="228600"/>
          </a:xfrm>
        </p:grpSpPr>
        <p:sp>
          <p:nvSpPr>
            <p:cNvPr id="1510"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511" name="18"/>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18</a:t>
              </a:r>
            </a:p>
          </p:txBody>
        </p:sp>
      </p:grpSp>
      <p:sp>
        <p:nvSpPr>
          <p:cNvPr id="1513" name="Rectangle"/>
          <p:cNvSpPr/>
          <p:nvPr/>
        </p:nvSpPr>
        <p:spPr>
          <a:xfrm>
            <a:off x="838200" y="2266950"/>
            <a:ext cx="2762250" cy="2476500"/>
          </a:xfrm>
          <a:prstGeom prst="rect">
            <a:avLst/>
          </a:prstGeom>
          <a:solidFill>
            <a:srgbClr val="FFFFFF"/>
          </a:solidFill>
          <a:ln>
            <a:solidFill>
              <a:srgbClr val="E4EAE7"/>
            </a:solidFill>
          </a:ln>
        </p:spPr>
        <p:txBody>
          <a:bodyPr lIns="0" tIns="0" rIns="0" bIns="0"/>
          <a:lstStyle/>
          <a:p>
            <a:endParaRPr/>
          </a:p>
        </p:txBody>
      </p:sp>
      <p:sp>
        <p:nvSpPr>
          <p:cNvPr id="1514" name="Rectangle"/>
          <p:cNvSpPr/>
          <p:nvPr/>
        </p:nvSpPr>
        <p:spPr>
          <a:xfrm>
            <a:off x="838200" y="2266950"/>
            <a:ext cx="2762250" cy="66675"/>
          </a:xfrm>
          <a:prstGeom prst="rect">
            <a:avLst/>
          </a:prstGeom>
          <a:solidFill>
            <a:srgbClr val="2C6FB2"/>
          </a:solidFill>
          <a:ln w="3175">
            <a:solidFill>
              <a:srgbClr val="000000">
                <a:alpha val="0"/>
              </a:srgbClr>
            </a:solidFill>
          </a:ln>
        </p:spPr>
        <p:txBody>
          <a:bodyPr lIns="0" tIns="0" rIns="0" bIns="0"/>
          <a:lstStyle/>
          <a:p>
            <a:endParaRPr/>
          </a:p>
        </p:txBody>
      </p:sp>
      <p:grpSp>
        <p:nvGrpSpPr>
          <p:cNvPr id="1517" name="Group"/>
          <p:cNvGrpSpPr/>
          <p:nvPr/>
        </p:nvGrpSpPr>
        <p:grpSpPr>
          <a:xfrm>
            <a:off x="1066800" y="2628900"/>
            <a:ext cx="2286000" cy="279400"/>
            <a:chOff x="0" y="0"/>
            <a:chExt cx="2286000" cy="279400"/>
          </a:xfrm>
        </p:grpSpPr>
        <p:sp>
          <p:nvSpPr>
            <p:cNvPr id="1515" name="Rectangle"/>
            <p:cNvSpPr/>
            <p:nvPr/>
          </p:nvSpPr>
          <p:spPr>
            <a:xfrm>
              <a:off x="0" y="0"/>
              <a:ext cx="2286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516" name="Features"/>
            <p:cNvSpPr txBox="1"/>
            <p:nvPr/>
          </p:nvSpPr>
          <p:spPr>
            <a:xfrm>
              <a:off x="0" y="0"/>
              <a:ext cx="22860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Features</a:t>
              </a:r>
            </a:p>
          </p:txBody>
        </p:sp>
      </p:grpSp>
      <p:grpSp>
        <p:nvGrpSpPr>
          <p:cNvPr id="1520" name="Group"/>
          <p:cNvGrpSpPr/>
          <p:nvPr/>
        </p:nvGrpSpPr>
        <p:grpSpPr>
          <a:xfrm>
            <a:off x="1066800" y="3124200"/>
            <a:ext cx="2286000" cy="1219200"/>
            <a:chOff x="0" y="0"/>
            <a:chExt cx="2286000" cy="1219200"/>
          </a:xfrm>
        </p:grpSpPr>
        <p:sp>
          <p:nvSpPr>
            <p:cNvPr id="1518" name="Rectangle"/>
            <p:cNvSpPr/>
            <p:nvPr/>
          </p:nvSpPr>
          <p:spPr>
            <a:xfrm>
              <a:off x="0" y="0"/>
              <a:ext cx="2286000" cy="1219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19" name="Membership_Days…"/>
            <p:cNvSpPr txBox="1"/>
            <p:nvPr/>
          </p:nvSpPr>
          <p:spPr>
            <a:xfrm>
              <a:off x="0" y="0"/>
              <a:ext cx="2286000" cy="1066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200">
                  <a:solidFill>
                    <a:srgbClr val="5E6A70"/>
                  </a:solidFill>
                  <a:latin typeface="Aptos"/>
                  <a:ea typeface="Aptos"/>
                  <a:cs typeface="Aptos"/>
                  <a:sym typeface="Aptos"/>
                </a:defRPr>
              </a:pPr>
              <a:r>
                <a:t>Membership_Days</a:t>
              </a:r>
            </a:p>
            <a:p>
              <a:pPr>
                <a:defRPr sz="1200">
                  <a:solidFill>
                    <a:srgbClr val="5E6A70"/>
                  </a:solidFill>
                  <a:latin typeface="Aptos"/>
                  <a:ea typeface="Aptos"/>
                  <a:cs typeface="Aptos"/>
                  <a:sym typeface="Aptos"/>
                </a:defRPr>
              </a:pPr>
              <a:r>
                <a:t>Age</a:t>
              </a:r>
            </a:p>
            <a:p>
              <a:pPr>
                <a:defRPr sz="1200">
                  <a:solidFill>
                    <a:srgbClr val="5E6A70"/>
                  </a:solidFill>
                  <a:latin typeface="Aptos"/>
                  <a:ea typeface="Aptos"/>
                  <a:cs typeface="Aptos"/>
                  <a:sym typeface="Aptos"/>
                </a:defRPr>
              </a:pPr>
              <a:r>
                <a:t>Log_Points</a:t>
              </a:r>
            </a:p>
            <a:p>
              <a:pPr>
                <a:defRPr sz="1200">
                  <a:solidFill>
                    <a:srgbClr val="5E6A70"/>
                  </a:solidFill>
                  <a:latin typeface="Aptos"/>
                  <a:ea typeface="Aptos"/>
                  <a:cs typeface="Aptos"/>
                  <a:sym typeface="Aptos"/>
                </a:defRPr>
              </a:pPr>
              <a:r>
                <a:t>Percentile_Rank</a:t>
              </a:r>
            </a:p>
            <a:p>
              <a:pPr>
                <a:defRPr sz="1200">
                  <a:solidFill>
                    <a:srgbClr val="5E6A70"/>
                  </a:solidFill>
                  <a:latin typeface="Aptos"/>
                  <a:ea typeface="Aptos"/>
                  <a:cs typeface="Aptos"/>
                  <a:sym typeface="Aptos"/>
                </a:defRPr>
              </a:pPr>
              <a:r>
                <a:t>Points_Per_Day</a:t>
              </a:r>
            </a:p>
            <a:p>
              <a:pPr>
                <a:defRPr sz="1200">
                  <a:solidFill>
                    <a:srgbClr val="5E6A70"/>
                  </a:solidFill>
                  <a:latin typeface="Aptos"/>
                  <a:ea typeface="Aptos"/>
                  <a:cs typeface="Aptos"/>
                  <a:sym typeface="Aptos"/>
                </a:defRPr>
              </a:pPr>
              <a:r>
                <a:t>Points_Per_Month</a:t>
              </a:r>
            </a:p>
          </p:txBody>
        </p:sp>
      </p:grpSp>
      <p:sp>
        <p:nvSpPr>
          <p:cNvPr id="1521" name="Rectangle"/>
          <p:cNvSpPr/>
          <p:nvPr/>
        </p:nvSpPr>
        <p:spPr>
          <a:xfrm>
            <a:off x="4267200" y="2266950"/>
            <a:ext cx="2762250" cy="2476500"/>
          </a:xfrm>
          <a:prstGeom prst="rect">
            <a:avLst/>
          </a:prstGeom>
          <a:solidFill>
            <a:srgbClr val="FFFFFF"/>
          </a:solidFill>
          <a:ln>
            <a:solidFill>
              <a:srgbClr val="E4EAE7"/>
            </a:solidFill>
          </a:ln>
        </p:spPr>
        <p:txBody>
          <a:bodyPr lIns="0" tIns="0" rIns="0" bIns="0"/>
          <a:lstStyle/>
          <a:p>
            <a:endParaRPr/>
          </a:p>
        </p:txBody>
      </p:sp>
      <p:sp>
        <p:nvSpPr>
          <p:cNvPr id="1522" name="Rectangle"/>
          <p:cNvSpPr/>
          <p:nvPr/>
        </p:nvSpPr>
        <p:spPr>
          <a:xfrm>
            <a:off x="4267200" y="2266950"/>
            <a:ext cx="2762250" cy="66675"/>
          </a:xfrm>
          <a:prstGeom prst="rect">
            <a:avLst/>
          </a:prstGeom>
          <a:solidFill>
            <a:srgbClr val="0A6B61"/>
          </a:solidFill>
          <a:ln w="3175">
            <a:solidFill>
              <a:srgbClr val="000000">
                <a:alpha val="0"/>
              </a:srgbClr>
            </a:solidFill>
          </a:ln>
        </p:spPr>
        <p:txBody>
          <a:bodyPr lIns="0" tIns="0" rIns="0" bIns="0"/>
          <a:lstStyle/>
          <a:p>
            <a:endParaRPr/>
          </a:p>
        </p:txBody>
      </p:sp>
      <p:grpSp>
        <p:nvGrpSpPr>
          <p:cNvPr id="1525" name="Group"/>
          <p:cNvGrpSpPr/>
          <p:nvPr/>
        </p:nvGrpSpPr>
        <p:grpSpPr>
          <a:xfrm>
            <a:off x="4495800" y="2628900"/>
            <a:ext cx="2286000" cy="279400"/>
            <a:chOff x="0" y="0"/>
            <a:chExt cx="2286000" cy="279400"/>
          </a:xfrm>
        </p:grpSpPr>
        <p:sp>
          <p:nvSpPr>
            <p:cNvPr id="1523" name="Rectangle"/>
            <p:cNvSpPr/>
            <p:nvPr/>
          </p:nvSpPr>
          <p:spPr>
            <a:xfrm>
              <a:off x="0" y="0"/>
              <a:ext cx="2286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524" name="Models"/>
            <p:cNvSpPr txBox="1"/>
            <p:nvPr/>
          </p:nvSpPr>
          <p:spPr>
            <a:xfrm>
              <a:off x="0" y="0"/>
              <a:ext cx="22860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Models</a:t>
              </a:r>
            </a:p>
          </p:txBody>
        </p:sp>
      </p:grpSp>
      <p:grpSp>
        <p:nvGrpSpPr>
          <p:cNvPr id="1528" name="Group"/>
          <p:cNvGrpSpPr/>
          <p:nvPr/>
        </p:nvGrpSpPr>
        <p:grpSpPr>
          <a:xfrm>
            <a:off x="4495800" y="3124200"/>
            <a:ext cx="2286000" cy="1219200"/>
            <a:chOff x="0" y="0"/>
            <a:chExt cx="2286000" cy="1219200"/>
          </a:xfrm>
        </p:grpSpPr>
        <p:sp>
          <p:nvSpPr>
            <p:cNvPr id="1526" name="Rectangle"/>
            <p:cNvSpPr/>
            <p:nvPr/>
          </p:nvSpPr>
          <p:spPr>
            <a:xfrm>
              <a:off x="0" y="0"/>
              <a:ext cx="2286000" cy="1219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27" name="Decision Tree…"/>
            <p:cNvSpPr txBox="1"/>
            <p:nvPr/>
          </p:nvSpPr>
          <p:spPr>
            <a:xfrm>
              <a:off x="0" y="0"/>
              <a:ext cx="2286000" cy="533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200">
                  <a:solidFill>
                    <a:srgbClr val="5E6A70"/>
                  </a:solidFill>
                  <a:latin typeface="Aptos"/>
                  <a:ea typeface="Aptos"/>
                  <a:cs typeface="Aptos"/>
                  <a:sym typeface="Aptos"/>
                </a:defRPr>
              </a:pPr>
              <a:r>
                <a:t>Decision Tree</a:t>
              </a:r>
            </a:p>
            <a:p>
              <a:pPr>
                <a:defRPr sz="1200">
                  <a:solidFill>
                    <a:srgbClr val="5E6A70"/>
                  </a:solidFill>
                  <a:latin typeface="Aptos"/>
                  <a:ea typeface="Aptos"/>
                  <a:cs typeface="Aptos"/>
                  <a:sym typeface="Aptos"/>
                </a:defRPr>
              </a:pPr>
              <a:r>
                <a:t>Random Forest</a:t>
              </a:r>
            </a:p>
            <a:p>
              <a:pPr>
                <a:defRPr sz="1200">
                  <a:solidFill>
                    <a:srgbClr val="5E6A70"/>
                  </a:solidFill>
                  <a:latin typeface="Aptos"/>
                  <a:ea typeface="Aptos"/>
                  <a:cs typeface="Aptos"/>
                  <a:sym typeface="Aptos"/>
                </a:defRPr>
              </a:pPr>
              <a:r>
                <a:t>Gradient Boosting</a:t>
              </a:r>
            </a:p>
          </p:txBody>
        </p:sp>
      </p:grpSp>
      <p:sp>
        <p:nvSpPr>
          <p:cNvPr id="1529" name="Rectangle"/>
          <p:cNvSpPr/>
          <p:nvPr/>
        </p:nvSpPr>
        <p:spPr>
          <a:xfrm>
            <a:off x="7696200" y="2266950"/>
            <a:ext cx="2762250" cy="2476500"/>
          </a:xfrm>
          <a:prstGeom prst="rect">
            <a:avLst/>
          </a:prstGeom>
          <a:solidFill>
            <a:srgbClr val="FFFFFF"/>
          </a:solidFill>
          <a:ln>
            <a:solidFill>
              <a:srgbClr val="E4EAE7"/>
            </a:solidFill>
          </a:ln>
        </p:spPr>
        <p:txBody>
          <a:bodyPr lIns="0" tIns="0" rIns="0" bIns="0"/>
          <a:lstStyle/>
          <a:p>
            <a:endParaRPr/>
          </a:p>
        </p:txBody>
      </p:sp>
      <p:sp>
        <p:nvSpPr>
          <p:cNvPr id="1530" name="Rectangle"/>
          <p:cNvSpPr/>
          <p:nvPr/>
        </p:nvSpPr>
        <p:spPr>
          <a:xfrm>
            <a:off x="7696200" y="2266950"/>
            <a:ext cx="2762250" cy="66675"/>
          </a:xfrm>
          <a:prstGeom prst="rect">
            <a:avLst/>
          </a:prstGeom>
          <a:solidFill>
            <a:srgbClr val="D99A16"/>
          </a:solidFill>
          <a:ln w="3175">
            <a:solidFill>
              <a:srgbClr val="000000">
                <a:alpha val="0"/>
              </a:srgbClr>
            </a:solidFill>
          </a:ln>
        </p:spPr>
        <p:txBody>
          <a:bodyPr lIns="0" tIns="0" rIns="0" bIns="0"/>
          <a:lstStyle/>
          <a:p>
            <a:endParaRPr/>
          </a:p>
        </p:txBody>
      </p:sp>
      <p:grpSp>
        <p:nvGrpSpPr>
          <p:cNvPr id="1533" name="Group"/>
          <p:cNvGrpSpPr/>
          <p:nvPr/>
        </p:nvGrpSpPr>
        <p:grpSpPr>
          <a:xfrm>
            <a:off x="7924800" y="2628900"/>
            <a:ext cx="2286000" cy="279400"/>
            <a:chOff x="0" y="0"/>
            <a:chExt cx="2286000" cy="279400"/>
          </a:xfrm>
        </p:grpSpPr>
        <p:sp>
          <p:nvSpPr>
            <p:cNvPr id="1531" name="Rectangle"/>
            <p:cNvSpPr/>
            <p:nvPr/>
          </p:nvSpPr>
          <p:spPr>
            <a:xfrm>
              <a:off x="0" y="0"/>
              <a:ext cx="2286000" cy="266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532" name="Target"/>
            <p:cNvSpPr txBox="1"/>
            <p:nvPr/>
          </p:nvSpPr>
          <p:spPr>
            <a:xfrm>
              <a:off x="0" y="0"/>
              <a:ext cx="228600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Target</a:t>
              </a:r>
            </a:p>
          </p:txBody>
        </p:sp>
      </p:grpSp>
      <p:grpSp>
        <p:nvGrpSpPr>
          <p:cNvPr id="1536" name="Group"/>
          <p:cNvGrpSpPr/>
          <p:nvPr/>
        </p:nvGrpSpPr>
        <p:grpSpPr>
          <a:xfrm>
            <a:off x="7924800" y="3124200"/>
            <a:ext cx="2286000" cy="1219200"/>
            <a:chOff x="0" y="0"/>
            <a:chExt cx="2286000" cy="1219200"/>
          </a:xfrm>
        </p:grpSpPr>
        <p:sp>
          <p:nvSpPr>
            <p:cNvPr id="1534" name="Rectangle"/>
            <p:cNvSpPr/>
            <p:nvPr/>
          </p:nvSpPr>
          <p:spPr>
            <a:xfrm>
              <a:off x="0" y="0"/>
              <a:ext cx="2286000" cy="1219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35" name="Customer_Segment…"/>
            <p:cNvSpPr txBox="1"/>
            <p:nvPr/>
          </p:nvSpPr>
          <p:spPr>
            <a:xfrm>
              <a:off x="0" y="0"/>
              <a:ext cx="2286000" cy="355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200">
                  <a:solidFill>
                    <a:srgbClr val="5E6A70"/>
                  </a:solidFill>
                  <a:latin typeface="Aptos"/>
                  <a:ea typeface="Aptos"/>
                  <a:cs typeface="Aptos"/>
                  <a:sym typeface="Aptos"/>
                </a:defRPr>
              </a:pPr>
              <a:r>
                <a:t>Customer_Segment</a:t>
              </a:r>
            </a:p>
            <a:p>
              <a:pPr>
                <a:defRPr sz="1200">
                  <a:solidFill>
                    <a:srgbClr val="5E6A70"/>
                  </a:solidFill>
                  <a:latin typeface="Aptos"/>
                  <a:ea typeface="Aptos"/>
                  <a:cs typeface="Aptos"/>
                  <a:sym typeface="Aptos"/>
                </a:defRPr>
              </a:pPr>
              <a:r>
                <a:t>based on loyalty score thresholds</a:t>
              </a:r>
            </a:p>
          </p:txBody>
        </p:sp>
      </p:grpSp>
      <p:grpSp>
        <p:nvGrpSpPr>
          <p:cNvPr id="1539" name="Group"/>
          <p:cNvGrpSpPr/>
          <p:nvPr/>
        </p:nvGrpSpPr>
        <p:grpSpPr>
          <a:xfrm>
            <a:off x="933450" y="5257800"/>
            <a:ext cx="9620250" cy="514350"/>
            <a:chOff x="0" y="0"/>
            <a:chExt cx="9620250" cy="514350"/>
          </a:xfrm>
        </p:grpSpPr>
        <p:sp>
          <p:nvSpPr>
            <p:cNvPr id="1537" name="Rectangle"/>
            <p:cNvSpPr/>
            <p:nvPr/>
          </p:nvSpPr>
          <p:spPr>
            <a:xfrm>
              <a:off x="0" y="0"/>
              <a:ext cx="9620250" cy="5143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a:solidFill>
                    <a:srgbClr val="10242C"/>
                  </a:solidFill>
                  <a:latin typeface="Aptos"/>
                  <a:ea typeface="Aptos"/>
                  <a:cs typeface="Aptos"/>
                  <a:sym typeface="Aptos"/>
                </a:defRPr>
              </a:pPr>
              <a:endParaRPr/>
            </a:p>
          </p:txBody>
        </p:sp>
        <p:sp>
          <p:nvSpPr>
            <p:cNvPr id="1538" name="The models are compared on the same data split and metrics. This makes the winner meaningful because it is based on controlled evaluation rather than a single isolated score."/>
            <p:cNvSpPr txBox="1"/>
            <p:nvPr/>
          </p:nvSpPr>
          <p:spPr>
            <a:xfrm>
              <a:off x="0" y="0"/>
              <a:ext cx="962025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a:solidFill>
                    <a:srgbClr val="10242C"/>
                  </a:solidFill>
                  <a:latin typeface="Aptos"/>
                  <a:ea typeface="Aptos"/>
                  <a:cs typeface="Aptos"/>
                  <a:sym typeface="Aptos"/>
                </a:defRPr>
              </a:lvl1pPr>
            </a:lstStyle>
            <a:p>
              <a:r>
                <a:t>The models are compared on the same data split and metrics. This makes the winner meaningful because it is based on controlled evaluation rather than a single isolated score.</a:t>
              </a:r>
            </a:p>
          </p:txBody>
        </p:sp>
      </p:gr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1"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542"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545" name="Group"/>
          <p:cNvGrpSpPr/>
          <p:nvPr/>
        </p:nvGrpSpPr>
        <p:grpSpPr>
          <a:xfrm>
            <a:off x="533400" y="323850"/>
            <a:ext cx="4953000" cy="228600"/>
            <a:chOff x="0" y="0"/>
            <a:chExt cx="4953000" cy="228600"/>
          </a:xfrm>
        </p:grpSpPr>
        <p:sp>
          <p:nvSpPr>
            <p:cNvPr id="154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544"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548" name="Group"/>
          <p:cNvGrpSpPr/>
          <p:nvPr/>
        </p:nvGrpSpPr>
        <p:grpSpPr>
          <a:xfrm>
            <a:off x="533400" y="723900"/>
            <a:ext cx="6667500" cy="609600"/>
            <a:chOff x="0" y="0"/>
            <a:chExt cx="6667500" cy="609600"/>
          </a:xfrm>
        </p:grpSpPr>
        <p:sp>
          <p:nvSpPr>
            <p:cNvPr id="1546"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547" name="How the Metrics Are Read"/>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How the Metrics Are Read</a:t>
              </a:r>
            </a:p>
          </p:txBody>
        </p:sp>
      </p:grpSp>
      <p:grpSp>
        <p:nvGrpSpPr>
          <p:cNvPr id="1551" name="Group"/>
          <p:cNvGrpSpPr/>
          <p:nvPr/>
        </p:nvGrpSpPr>
        <p:grpSpPr>
          <a:xfrm>
            <a:off x="552450" y="1485900"/>
            <a:ext cx="6477000" cy="457200"/>
            <a:chOff x="0" y="0"/>
            <a:chExt cx="6477000" cy="457200"/>
          </a:xfrm>
        </p:grpSpPr>
        <p:sp>
          <p:nvSpPr>
            <p:cNvPr id="1549"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550" name="The evaluation uses several metrics because each one answers a different question about prediction quality."/>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evaluation uses several metrics because each one answers a different question about prediction quality.</a:t>
              </a:r>
            </a:p>
          </p:txBody>
        </p:sp>
      </p:grpSp>
      <p:grpSp>
        <p:nvGrpSpPr>
          <p:cNvPr id="1554" name="Group"/>
          <p:cNvGrpSpPr/>
          <p:nvPr/>
        </p:nvGrpSpPr>
        <p:grpSpPr>
          <a:xfrm>
            <a:off x="533400" y="6438900"/>
            <a:ext cx="4953000" cy="228600"/>
            <a:chOff x="0" y="0"/>
            <a:chExt cx="4953000" cy="228600"/>
          </a:xfrm>
        </p:grpSpPr>
        <p:sp>
          <p:nvSpPr>
            <p:cNvPr id="155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55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557" name="Group"/>
          <p:cNvGrpSpPr/>
          <p:nvPr/>
        </p:nvGrpSpPr>
        <p:grpSpPr>
          <a:xfrm>
            <a:off x="11125200" y="6419850"/>
            <a:ext cx="514350" cy="228600"/>
            <a:chOff x="0" y="0"/>
            <a:chExt cx="514350" cy="228600"/>
          </a:xfrm>
        </p:grpSpPr>
        <p:sp>
          <p:nvSpPr>
            <p:cNvPr id="155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556" name="19"/>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19</a:t>
              </a:r>
            </a:p>
          </p:txBody>
        </p:sp>
      </p:grpSp>
      <p:grpSp>
        <p:nvGrpSpPr>
          <p:cNvPr id="1560" name="Group"/>
          <p:cNvGrpSpPr/>
          <p:nvPr/>
        </p:nvGrpSpPr>
        <p:grpSpPr>
          <a:xfrm>
            <a:off x="762000" y="2143125"/>
            <a:ext cx="2095500" cy="247650"/>
            <a:chOff x="0" y="0"/>
            <a:chExt cx="2095500" cy="247650"/>
          </a:xfrm>
        </p:grpSpPr>
        <p:sp>
          <p:nvSpPr>
            <p:cNvPr id="1558"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559" name="Accuracy"/>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Accuracy</a:t>
              </a:r>
            </a:p>
          </p:txBody>
        </p:sp>
      </p:grpSp>
      <p:grpSp>
        <p:nvGrpSpPr>
          <p:cNvPr id="1563" name="Group"/>
          <p:cNvGrpSpPr/>
          <p:nvPr/>
        </p:nvGrpSpPr>
        <p:grpSpPr>
          <a:xfrm>
            <a:off x="762000" y="2486025"/>
            <a:ext cx="4095750" cy="419100"/>
            <a:chOff x="0" y="0"/>
            <a:chExt cx="4095750" cy="419100"/>
          </a:xfrm>
        </p:grpSpPr>
        <p:sp>
          <p:nvSpPr>
            <p:cNvPr id="1561"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62" name="How many total predictions were correct."/>
            <p:cNvSpPr txBox="1"/>
            <p:nvPr/>
          </p:nvSpPr>
          <p:spPr>
            <a:xfrm>
              <a:off x="0" y="0"/>
              <a:ext cx="4095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How many total predictions were correct.</a:t>
              </a:r>
            </a:p>
          </p:txBody>
        </p:sp>
      </p:grpSp>
      <p:grpSp>
        <p:nvGrpSpPr>
          <p:cNvPr id="1566" name="Group"/>
          <p:cNvGrpSpPr/>
          <p:nvPr/>
        </p:nvGrpSpPr>
        <p:grpSpPr>
          <a:xfrm>
            <a:off x="5953125" y="2143125"/>
            <a:ext cx="2095500" cy="247650"/>
            <a:chOff x="0" y="0"/>
            <a:chExt cx="2095500" cy="247650"/>
          </a:xfrm>
        </p:grpSpPr>
        <p:sp>
          <p:nvSpPr>
            <p:cNvPr id="1564"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0A6B61"/>
                  </a:solidFill>
                  <a:latin typeface="Aptos Display"/>
                  <a:ea typeface="Aptos Display"/>
                  <a:cs typeface="Aptos Display"/>
                  <a:sym typeface="Aptos Display"/>
                </a:defRPr>
              </a:pPr>
              <a:endParaRPr/>
            </a:p>
          </p:txBody>
        </p:sp>
        <p:sp>
          <p:nvSpPr>
            <p:cNvPr id="1565" name="Balanced Accuracy"/>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0A6B61"/>
                  </a:solidFill>
                  <a:latin typeface="Aptos Display"/>
                  <a:ea typeface="Aptos Display"/>
                  <a:cs typeface="Aptos Display"/>
                  <a:sym typeface="Aptos Display"/>
                </a:defRPr>
              </a:lvl1pPr>
            </a:lstStyle>
            <a:p>
              <a:r>
                <a:rPr dirty="0">
                  <a:solidFill>
                    <a:schemeClr val="tx1"/>
                  </a:solidFill>
                </a:rPr>
                <a:t>Balanced Accuracy</a:t>
              </a:r>
            </a:p>
          </p:txBody>
        </p:sp>
      </p:grpSp>
      <p:grpSp>
        <p:nvGrpSpPr>
          <p:cNvPr id="1569" name="Group"/>
          <p:cNvGrpSpPr/>
          <p:nvPr/>
        </p:nvGrpSpPr>
        <p:grpSpPr>
          <a:xfrm>
            <a:off x="5953125" y="2486025"/>
            <a:ext cx="4095750" cy="419100"/>
            <a:chOff x="0" y="0"/>
            <a:chExt cx="4095750" cy="419100"/>
          </a:xfrm>
        </p:grpSpPr>
        <p:sp>
          <p:nvSpPr>
            <p:cNvPr id="1567"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68" name="How well the model performs across classes, not only the largest class."/>
            <p:cNvSpPr txBox="1"/>
            <p:nvPr/>
          </p:nvSpPr>
          <p:spPr>
            <a:xfrm>
              <a:off x="0" y="0"/>
              <a:ext cx="4095750" cy="355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How well the model performs across classes, not only the largest class.</a:t>
              </a:r>
            </a:p>
          </p:txBody>
        </p:sp>
      </p:grpSp>
      <p:grpSp>
        <p:nvGrpSpPr>
          <p:cNvPr id="1572" name="Group"/>
          <p:cNvGrpSpPr/>
          <p:nvPr/>
        </p:nvGrpSpPr>
        <p:grpSpPr>
          <a:xfrm>
            <a:off x="762000" y="3238500"/>
            <a:ext cx="2095500" cy="247650"/>
            <a:chOff x="0" y="0"/>
            <a:chExt cx="2095500" cy="247650"/>
          </a:xfrm>
        </p:grpSpPr>
        <p:sp>
          <p:nvSpPr>
            <p:cNvPr id="1570"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571" name="Precision"/>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Precision</a:t>
              </a:r>
            </a:p>
          </p:txBody>
        </p:sp>
      </p:grpSp>
      <p:grpSp>
        <p:nvGrpSpPr>
          <p:cNvPr id="1575" name="Group"/>
          <p:cNvGrpSpPr/>
          <p:nvPr/>
        </p:nvGrpSpPr>
        <p:grpSpPr>
          <a:xfrm>
            <a:off x="762000" y="3581400"/>
            <a:ext cx="4095750" cy="419100"/>
            <a:chOff x="0" y="0"/>
            <a:chExt cx="4095750" cy="419100"/>
          </a:xfrm>
        </p:grpSpPr>
        <p:sp>
          <p:nvSpPr>
            <p:cNvPr id="1573"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74" name="How reliable a predicted segment is when the model chooses it."/>
            <p:cNvSpPr txBox="1"/>
            <p:nvPr/>
          </p:nvSpPr>
          <p:spPr>
            <a:xfrm>
              <a:off x="0" y="0"/>
              <a:ext cx="4095750" cy="355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How reliable a predicted segment is when the model chooses it.</a:t>
              </a:r>
            </a:p>
          </p:txBody>
        </p:sp>
      </p:grpSp>
      <p:grpSp>
        <p:nvGrpSpPr>
          <p:cNvPr id="1578" name="Group"/>
          <p:cNvGrpSpPr/>
          <p:nvPr/>
        </p:nvGrpSpPr>
        <p:grpSpPr>
          <a:xfrm>
            <a:off x="5953125" y="3238500"/>
            <a:ext cx="2095500" cy="247650"/>
            <a:chOff x="0" y="0"/>
            <a:chExt cx="2095500" cy="247650"/>
          </a:xfrm>
        </p:grpSpPr>
        <p:sp>
          <p:nvSpPr>
            <p:cNvPr id="1576"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577" name="Recall"/>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Recall</a:t>
              </a:r>
            </a:p>
          </p:txBody>
        </p:sp>
      </p:grpSp>
      <p:grpSp>
        <p:nvGrpSpPr>
          <p:cNvPr id="1581" name="Group"/>
          <p:cNvGrpSpPr/>
          <p:nvPr/>
        </p:nvGrpSpPr>
        <p:grpSpPr>
          <a:xfrm>
            <a:off x="5953125" y="3581400"/>
            <a:ext cx="4095750" cy="419100"/>
            <a:chOff x="0" y="0"/>
            <a:chExt cx="4095750" cy="419100"/>
          </a:xfrm>
        </p:grpSpPr>
        <p:sp>
          <p:nvSpPr>
            <p:cNvPr id="1579"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80" name="How many true members of a segment the model finds."/>
            <p:cNvSpPr txBox="1"/>
            <p:nvPr/>
          </p:nvSpPr>
          <p:spPr>
            <a:xfrm>
              <a:off x="0" y="0"/>
              <a:ext cx="4095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How many true members of a segment the model finds.</a:t>
              </a:r>
            </a:p>
          </p:txBody>
        </p:sp>
      </p:grpSp>
      <p:grpSp>
        <p:nvGrpSpPr>
          <p:cNvPr id="1584" name="Group"/>
          <p:cNvGrpSpPr/>
          <p:nvPr/>
        </p:nvGrpSpPr>
        <p:grpSpPr>
          <a:xfrm>
            <a:off x="762000" y="4333875"/>
            <a:ext cx="2095500" cy="247650"/>
            <a:chOff x="0" y="0"/>
            <a:chExt cx="2095500" cy="247650"/>
          </a:xfrm>
        </p:grpSpPr>
        <p:sp>
          <p:nvSpPr>
            <p:cNvPr id="1582"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10242C"/>
                  </a:solidFill>
                  <a:latin typeface="Aptos Display"/>
                  <a:ea typeface="Aptos Display"/>
                  <a:cs typeface="Aptos Display"/>
                  <a:sym typeface="Aptos Display"/>
                </a:defRPr>
              </a:pPr>
              <a:endParaRPr/>
            </a:p>
          </p:txBody>
        </p:sp>
        <p:sp>
          <p:nvSpPr>
            <p:cNvPr id="1583" name="F1 Score"/>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10242C"/>
                  </a:solidFill>
                  <a:latin typeface="Aptos Display"/>
                  <a:ea typeface="Aptos Display"/>
                  <a:cs typeface="Aptos Display"/>
                  <a:sym typeface="Aptos Display"/>
                </a:defRPr>
              </a:lvl1pPr>
            </a:lstStyle>
            <a:p>
              <a:r>
                <a:t>F1 Score</a:t>
              </a:r>
            </a:p>
          </p:txBody>
        </p:sp>
      </p:grpSp>
      <p:grpSp>
        <p:nvGrpSpPr>
          <p:cNvPr id="1587" name="Group"/>
          <p:cNvGrpSpPr/>
          <p:nvPr/>
        </p:nvGrpSpPr>
        <p:grpSpPr>
          <a:xfrm>
            <a:off x="762000" y="4676775"/>
            <a:ext cx="4095750" cy="419100"/>
            <a:chOff x="0" y="0"/>
            <a:chExt cx="4095750" cy="419100"/>
          </a:xfrm>
        </p:grpSpPr>
        <p:sp>
          <p:nvSpPr>
            <p:cNvPr id="1585"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86" name="The balance between precision and recall."/>
            <p:cNvSpPr txBox="1"/>
            <p:nvPr/>
          </p:nvSpPr>
          <p:spPr>
            <a:xfrm>
              <a:off x="0" y="0"/>
              <a:ext cx="4095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The balance between precision and recall.</a:t>
              </a:r>
            </a:p>
          </p:txBody>
        </p:sp>
      </p:grpSp>
      <p:grpSp>
        <p:nvGrpSpPr>
          <p:cNvPr id="1590" name="Group"/>
          <p:cNvGrpSpPr/>
          <p:nvPr/>
        </p:nvGrpSpPr>
        <p:grpSpPr>
          <a:xfrm>
            <a:off x="5953125" y="4333875"/>
            <a:ext cx="2095500" cy="247650"/>
            <a:chOff x="0" y="0"/>
            <a:chExt cx="2095500" cy="247650"/>
          </a:xfrm>
        </p:grpSpPr>
        <p:sp>
          <p:nvSpPr>
            <p:cNvPr id="1588" name="Rectangle"/>
            <p:cNvSpPr/>
            <p:nvPr/>
          </p:nvSpPr>
          <p:spPr>
            <a:xfrm>
              <a:off x="0" y="0"/>
              <a:ext cx="209550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500" b="1">
                  <a:solidFill>
                    <a:srgbClr val="0A6B61"/>
                  </a:solidFill>
                  <a:latin typeface="Aptos Display"/>
                  <a:ea typeface="Aptos Display"/>
                  <a:cs typeface="Aptos Display"/>
                  <a:sym typeface="Aptos Display"/>
                </a:defRPr>
              </a:pPr>
              <a:endParaRPr/>
            </a:p>
          </p:txBody>
        </p:sp>
        <p:sp>
          <p:nvSpPr>
            <p:cNvPr id="1589" name="Macro F1"/>
            <p:cNvSpPr txBox="1"/>
            <p:nvPr/>
          </p:nvSpPr>
          <p:spPr>
            <a:xfrm>
              <a:off x="0" y="0"/>
              <a:ext cx="2095500" cy="228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500" b="1">
                  <a:solidFill>
                    <a:srgbClr val="0A6B61"/>
                  </a:solidFill>
                  <a:latin typeface="Aptos Display"/>
                  <a:ea typeface="Aptos Display"/>
                  <a:cs typeface="Aptos Display"/>
                  <a:sym typeface="Aptos Display"/>
                </a:defRPr>
              </a:lvl1pPr>
            </a:lstStyle>
            <a:p>
              <a:r>
                <a:rPr dirty="0">
                  <a:solidFill>
                    <a:schemeClr val="tx1"/>
                  </a:solidFill>
                </a:rPr>
                <a:t>Macro F1</a:t>
              </a:r>
            </a:p>
          </p:txBody>
        </p:sp>
      </p:grpSp>
      <p:grpSp>
        <p:nvGrpSpPr>
          <p:cNvPr id="1593" name="Group"/>
          <p:cNvGrpSpPr/>
          <p:nvPr/>
        </p:nvGrpSpPr>
        <p:grpSpPr>
          <a:xfrm>
            <a:off x="5953125" y="4676775"/>
            <a:ext cx="4095750" cy="419100"/>
            <a:chOff x="0" y="0"/>
            <a:chExt cx="4095750" cy="419100"/>
          </a:xfrm>
        </p:grpSpPr>
        <p:sp>
          <p:nvSpPr>
            <p:cNvPr id="1591" name="Rectangle"/>
            <p:cNvSpPr/>
            <p:nvPr/>
          </p:nvSpPr>
          <p:spPr>
            <a:xfrm>
              <a:off x="0" y="0"/>
              <a:ext cx="4095750" cy="4191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592" name="Average F1 across classes with equal class importance."/>
            <p:cNvSpPr txBox="1"/>
            <p:nvPr/>
          </p:nvSpPr>
          <p:spPr>
            <a:xfrm>
              <a:off x="0" y="0"/>
              <a:ext cx="4095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Average F1 across classes with equal class importance.</a:t>
              </a:r>
            </a:p>
          </p:txBody>
        </p:sp>
      </p:grpSp>
      <p:sp>
        <p:nvSpPr>
          <p:cNvPr id="1594" name="Rectangle"/>
          <p:cNvSpPr/>
          <p:nvPr/>
        </p:nvSpPr>
        <p:spPr>
          <a:xfrm>
            <a:off x="762000" y="5619750"/>
            <a:ext cx="96202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597" name="Group"/>
          <p:cNvGrpSpPr/>
          <p:nvPr/>
        </p:nvGrpSpPr>
        <p:grpSpPr>
          <a:xfrm>
            <a:off x="762000" y="5829300"/>
            <a:ext cx="1809750" cy="228600"/>
            <a:chOff x="0" y="0"/>
            <a:chExt cx="1809750" cy="228600"/>
          </a:xfrm>
        </p:grpSpPr>
        <p:sp>
          <p:nvSpPr>
            <p:cNvPr id="1595" name="Rectangle"/>
            <p:cNvSpPr/>
            <p:nvPr/>
          </p:nvSpPr>
          <p:spPr>
            <a:xfrm>
              <a:off x="0" y="0"/>
              <a:ext cx="1809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1596" name="Metric choice"/>
            <p:cNvSpPr txBox="1"/>
            <p:nvPr/>
          </p:nvSpPr>
          <p:spPr>
            <a:xfrm>
              <a:off x="0" y="0"/>
              <a:ext cx="18097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Metric choice</a:t>
              </a:r>
            </a:p>
          </p:txBody>
        </p:sp>
      </p:grpSp>
      <p:grpSp>
        <p:nvGrpSpPr>
          <p:cNvPr id="1600" name="Group"/>
          <p:cNvGrpSpPr/>
          <p:nvPr/>
        </p:nvGrpSpPr>
        <p:grpSpPr>
          <a:xfrm>
            <a:off x="2667000" y="5810250"/>
            <a:ext cx="7620000" cy="304800"/>
            <a:chOff x="0" y="0"/>
            <a:chExt cx="7620000" cy="304800"/>
          </a:xfrm>
        </p:grpSpPr>
        <p:sp>
          <p:nvSpPr>
            <p:cNvPr id="1598" name="Rectangle"/>
            <p:cNvSpPr/>
            <p:nvPr/>
          </p:nvSpPr>
          <p:spPr>
            <a:xfrm>
              <a:off x="0" y="0"/>
              <a:ext cx="7620000" cy="3048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599" name="Gradient Boosting wins because it performs best across the full metric set, not because of only one number."/>
            <p:cNvSpPr txBox="1"/>
            <p:nvPr/>
          </p:nvSpPr>
          <p:spPr>
            <a:xfrm>
              <a:off x="0" y="0"/>
              <a:ext cx="7620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Gradient Boosting wins because it performs best across the full metric set, not because of only one number.</a:t>
              </a:r>
            </a:p>
          </p:txBody>
        </p:sp>
      </p:gr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2"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603"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606" name="Group"/>
          <p:cNvGrpSpPr/>
          <p:nvPr/>
        </p:nvGrpSpPr>
        <p:grpSpPr>
          <a:xfrm>
            <a:off x="533400" y="323850"/>
            <a:ext cx="4953000" cy="228600"/>
            <a:chOff x="0" y="0"/>
            <a:chExt cx="4953000" cy="228600"/>
          </a:xfrm>
        </p:grpSpPr>
        <p:sp>
          <p:nvSpPr>
            <p:cNvPr id="160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605"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609" name="Group"/>
          <p:cNvGrpSpPr/>
          <p:nvPr/>
        </p:nvGrpSpPr>
        <p:grpSpPr>
          <a:xfrm>
            <a:off x="533400" y="723900"/>
            <a:ext cx="6667500" cy="609600"/>
            <a:chOff x="0" y="0"/>
            <a:chExt cx="6667500" cy="609600"/>
          </a:xfrm>
        </p:grpSpPr>
        <p:sp>
          <p:nvSpPr>
            <p:cNvPr id="1607"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608" name="Generated Outputs"/>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Generated Outputs</a:t>
              </a:r>
            </a:p>
          </p:txBody>
        </p:sp>
      </p:grpSp>
      <p:grpSp>
        <p:nvGrpSpPr>
          <p:cNvPr id="1612" name="Group"/>
          <p:cNvGrpSpPr/>
          <p:nvPr/>
        </p:nvGrpSpPr>
        <p:grpSpPr>
          <a:xfrm>
            <a:off x="552450" y="1485900"/>
            <a:ext cx="6477000" cy="457200"/>
            <a:chOff x="0" y="0"/>
            <a:chExt cx="6477000" cy="457200"/>
          </a:xfrm>
        </p:grpSpPr>
        <p:sp>
          <p:nvSpPr>
            <p:cNvPr id="1610"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611" name="The system creates files that can be reviewed after the script runs, making the analysis reproducible."/>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system creates files that can be reviewed after the script runs, making the analysis reproducible.</a:t>
              </a:r>
            </a:p>
          </p:txBody>
        </p:sp>
      </p:grpSp>
      <p:grpSp>
        <p:nvGrpSpPr>
          <p:cNvPr id="1615" name="Group"/>
          <p:cNvGrpSpPr/>
          <p:nvPr/>
        </p:nvGrpSpPr>
        <p:grpSpPr>
          <a:xfrm>
            <a:off x="533400" y="6438900"/>
            <a:ext cx="4953000" cy="228600"/>
            <a:chOff x="0" y="0"/>
            <a:chExt cx="4953000" cy="228600"/>
          </a:xfrm>
        </p:grpSpPr>
        <p:sp>
          <p:nvSpPr>
            <p:cNvPr id="161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614"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618" name="Group"/>
          <p:cNvGrpSpPr/>
          <p:nvPr/>
        </p:nvGrpSpPr>
        <p:grpSpPr>
          <a:xfrm>
            <a:off x="11125200" y="6419850"/>
            <a:ext cx="514350" cy="228600"/>
            <a:chOff x="0" y="0"/>
            <a:chExt cx="514350" cy="228600"/>
          </a:xfrm>
        </p:grpSpPr>
        <p:sp>
          <p:nvSpPr>
            <p:cNvPr id="1616"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617" name="20"/>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20</a:t>
              </a:r>
            </a:p>
          </p:txBody>
        </p:sp>
      </p:grpSp>
      <p:sp>
        <p:nvSpPr>
          <p:cNvPr id="1619" name="Rectangle"/>
          <p:cNvSpPr/>
          <p:nvPr/>
        </p:nvSpPr>
        <p:spPr>
          <a:xfrm>
            <a:off x="781050" y="2286000"/>
            <a:ext cx="2714625" cy="2762250"/>
          </a:xfrm>
          <a:prstGeom prst="rect">
            <a:avLst/>
          </a:prstGeom>
          <a:solidFill>
            <a:srgbClr val="FFFFFF"/>
          </a:solidFill>
          <a:ln>
            <a:solidFill>
              <a:srgbClr val="E4EAE7"/>
            </a:solidFill>
          </a:ln>
        </p:spPr>
        <p:txBody>
          <a:bodyPr lIns="0" tIns="0" rIns="0" bIns="0"/>
          <a:lstStyle/>
          <a:p>
            <a:endParaRPr/>
          </a:p>
        </p:txBody>
      </p:sp>
      <p:sp>
        <p:nvSpPr>
          <p:cNvPr id="1620" name="Rectangle"/>
          <p:cNvSpPr/>
          <p:nvPr/>
        </p:nvSpPr>
        <p:spPr>
          <a:xfrm>
            <a:off x="781050" y="2286000"/>
            <a:ext cx="2714625" cy="66675"/>
          </a:xfrm>
          <a:prstGeom prst="rect">
            <a:avLst/>
          </a:prstGeom>
          <a:solidFill>
            <a:srgbClr val="0A6B61"/>
          </a:solidFill>
          <a:ln w="3175">
            <a:solidFill>
              <a:srgbClr val="000000">
                <a:alpha val="0"/>
              </a:srgbClr>
            </a:solidFill>
          </a:ln>
        </p:spPr>
        <p:txBody>
          <a:bodyPr lIns="0" tIns="0" rIns="0" bIns="0"/>
          <a:lstStyle/>
          <a:p>
            <a:endParaRPr/>
          </a:p>
        </p:txBody>
      </p:sp>
      <p:grpSp>
        <p:nvGrpSpPr>
          <p:cNvPr id="1623" name="Group"/>
          <p:cNvGrpSpPr/>
          <p:nvPr/>
        </p:nvGrpSpPr>
        <p:grpSpPr>
          <a:xfrm>
            <a:off x="990600" y="2667000"/>
            <a:ext cx="2190750" cy="279400"/>
            <a:chOff x="0" y="0"/>
            <a:chExt cx="2190750" cy="279400"/>
          </a:xfrm>
        </p:grpSpPr>
        <p:sp>
          <p:nvSpPr>
            <p:cNvPr id="1621" name="Rectangle"/>
            <p:cNvSpPr/>
            <p:nvPr/>
          </p:nvSpPr>
          <p:spPr>
            <a:xfrm>
              <a:off x="0" y="0"/>
              <a:ext cx="219075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622" name="Data Outputs"/>
            <p:cNvSpPr txBox="1"/>
            <p:nvPr/>
          </p:nvSpPr>
          <p:spPr>
            <a:xfrm>
              <a:off x="0" y="0"/>
              <a:ext cx="21907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Data Outputs</a:t>
              </a:r>
            </a:p>
          </p:txBody>
        </p:sp>
      </p:grpSp>
      <p:grpSp>
        <p:nvGrpSpPr>
          <p:cNvPr id="1626" name="Group"/>
          <p:cNvGrpSpPr/>
          <p:nvPr/>
        </p:nvGrpSpPr>
        <p:grpSpPr>
          <a:xfrm>
            <a:off x="990600" y="3143250"/>
            <a:ext cx="2190750" cy="1409700"/>
            <a:chOff x="0" y="0"/>
            <a:chExt cx="2190750" cy="1409700"/>
          </a:xfrm>
        </p:grpSpPr>
        <p:sp>
          <p:nvSpPr>
            <p:cNvPr id="1624" name="Rectangle"/>
            <p:cNvSpPr/>
            <p:nvPr/>
          </p:nvSpPr>
          <p:spPr>
            <a:xfrm>
              <a:off x="0" y="0"/>
              <a:ext cx="2190750" cy="1409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625" name="summary_statistics.csv…"/>
            <p:cNvSpPr txBox="1"/>
            <p:nvPr/>
          </p:nvSpPr>
          <p:spPr>
            <a:xfrm>
              <a:off x="0" y="0"/>
              <a:ext cx="2190750" cy="660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100">
                  <a:solidFill>
                    <a:srgbClr val="5E6A70"/>
                  </a:solidFill>
                  <a:latin typeface="Aptos"/>
                  <a:ea typeface="Aptos"/>
                  <a:cs typeface="Aptos"/>
                  <a:sym typeface="Aptos"/>
                </a:defRPr>
              </a:pPr>
              <a:r>
                <a:t>summary_statistics.csv</a:t>
              </a:r>
            </a:p>
            <a:p>
              <a:pPr>
                <a:defRPr sz="1100">
                  <a:solidFill>
                    <a:srgbClr val="5E6A70"/>
                  </a:solidFill>
                  <a:latin typeface="Aptos"/>
                  <a:ea typeface="Aptos"/>
                  <a:cs typeface="Aptos"/>
                  <a:sym typeface="Aptos"/>
                </a:defRPr>
              </a:pPr>
              <a:r>
                <a:t>segment_summary.csv</a:t>
              </a:r>
            </a:p>
            <a:p>
              <a:pPr>
                <a:defRPr sz="1100">
                  <a:solidFill>
                    <a:srgbClr val="5E6A70"/>
                  </a:solidFill>
                  <a:latin typeface="Aptos"/>
                  <a:ea typeface="Aptos"/>
                  <a:cs typeface="Aptos"/>
                  <a:sym typeface="Aptos"/>
                </a:defRPr>
              </a:pPr>
              <a:r>
                <a:t>cluster_profile.csv</a:t>
              </a:r>
            </a:p>
            <a:p>
              <a:pPr>
                <a:defRPr sz="1100">
                  <a:solidFill>
                    <a:srgbClr val="5E6A70"/>
                  </a:solidFill>
                  <a:latin typeface="Aptos"/>
                  <a:ea typeface="Aptos"/>
                  <a:cs typeface="Aptos"/>
                  <a:sym typeface="Aptos"/>
                </a:defRPr>
              </a:pPr>
              <a:r>
                <a:t>segmented_customers.csv</a:t>
              </a:r>
            </a:p>
          </p:txBody>
        </p:sp>
      </p:grpSp>
      <p:sp>
        <p:nvSpPr>
          <p:cNvPr id="1627" name="Rectangle"/>
          <p:cNvSpPr/>
          <p:nvPr/>
        </p:nvSpPr>
        <p:spPr>
          <a:xfrm>
            <a:off x="4162425" y="2286000"/>
            <a:ext cx="2714625" cy="2762250"/>
          </a:xfrm>
          <a:prstGeom prst="rect">
            <a:avLst/>
          </a:prstGeom>
          <a:solidFill>
            <a:srgbClr val="FFFFFF"/>
          </a:solidFill>
          <a:ln>
            <a:solidFill>
              <a:srgbClr val="E4EAE7"/>
            </a:solidFill>
          </a:ln>
        </p:spPr>
        <p:txBody>
          <a:bodyPr lIns="0" tIns="0" rIns="0" bIns="0"/>
          <a:lstStyle/>
          <a:p>
            <a:endParaRPr/>
          </a:p>
        </p:txBody>
      </p:sp>
      <p:sp>
        <p:nvSpPr>
          <p:cNvPr id="1628" name="Rectangle"/>
          <p:cNvSpPr/>
          <p:nvPr/>
        </p:nvSpPr>
        <p:spPr>
          <a:xfrm>
            <a:off x="4162425" y="2286000"/>
            <a:ext cx="2714625" cy="66675"/>
          </a:xfrm>
          <a:prstGeom prst="rect">
            <a:avLst/>
          </a:prstGeom>
          <a:solidFill>
            <a:srgbClr val="2C6FB2"/>
          </a:solidFill>
          <a:ln w="3175">
            <a:solidFill>
              <a:srgbClr val="000000">
                <a:alpha val="0"/>
              </a:srgbClr>
            </a:solidFill>
          </a:ln>
        </p:spPr>
        <p:txBody>
          <a:bodyPr lIns="0" tIns="0" rIns="0" bIns="0"/>
          <a:lstStyle/>
          <a:p>
            <a:endParaRPr/>
          </a:p>
        </p:txBody>
      </p:sp>
      <p:grpSp>
        <p:nvGrpSpPr>
          <p:cNvPr id="1631" name="Group"/>
          <p:cNvGrpSpPr/>
          <p:nvPr/>
        </p:nvGrpSpPr>
        <p:grpSpPr>
          <a:xfrm>
            <a:off x="4371975" y="2667000"/>
            <a:ext cx="2190750" cy="279400"/>
            <a:chOff x="0" y="0"/>
            <a:chExt cx="2190750" cy="279400"/>
          </a:xfrm>
        </p:grpSpPr>
        <p:sp>
          <p:nvSpPr>
            <p:cNvPr id="1629" name="Rectangle"/>
            <p:cNvSpPr/>
            <p:nvPr/>
          </p:nvSpPr>
          <p:spPr>
            <a:xfrm>
              <a:off x="0" y="0"/>
              <a:ext cx="219075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630" name="Model Outputs"/>
            <p:cNvSpPr txBox="1"/>
            <p:nvPr/>
          </p:nvSpPr>
          <p:spPr>
            <a:xfrm>
              <a:off x="0" y="0"/>
              <a:ext cx="21907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Model Outputs</a:t>
              </a:r>
            </a:p>
          </p:txBody>
        </p:sp>
      </p:grpSp>
      <p:grpSp>
        <p:nvGrpSpPr>
          <p:cNvPr id="1634" name="Group"/>
          <p:cNvGrpSpPr/>
          <p:nvPr/>
        </p:nvGrpSpPr>
        <p:grpSpPr>
          <a:xfrm>
            <a:off x="4371975" y="3143250"/>
            <a:ext cx="2190750" cy="1409700"/>
            <a:chOff x="0" y="0"/>
            <a:chExt cx="2190750" cy="1409700"/>
          </a:xfrm>
        </p:grpSpPr>
        <p:sp>
          <p:nvSpPr>
            <p:cNvPr id="1632" name="Rectangle"/>
            <p:cNvSpPr/>
            <p:nvPr/>
          </p:nvSpPr>
          <p:spPr>
            <a:xfrm>
              <a:off x="0" y="0"/>
              <a:ext cx="2190750" cy="1409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633" name="classification_model_comparison.csv…"/>
            <p:cNvSpPr txBox="1"/>
            <p:nvPr/>
          </p:nvSpPr>
          <p:spPr>
            <a:xfrm>
              <a:off x="0" y="0"/>
              <a:ext cx="2190750" cy="825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100">
                  <a:solidFill>
                    <a:srgbClr val="5E6A70"/>
                  </a:solidFill>
                  <a:latin typeface="Aptos"/>
                  <a:ea typeface="Aptos"/>
                  <a:cs typeface="Aptos"/>
                  <a:sym typeface="Aptos"/>
                </a:defRPr>
              </a:pPr>
              <a:r>
                <a:t>classification_model_comparison.csv</a:t>
              </a:r>
            </a:p>
            <a:p>
              <a:pPr>
                <a:defRPr sz="1100">
                  <a:solidFill>
                    <a:srgbClr val="5E6A70"/>
                  </a:solidFill>
                  <a:latin typeface="Aptos"/>
                  <a:ea typeface="Aptos"/>
                  <a:cs typeface="Aptos"/>
                  <a:sym typeface="Aptos"/>
                </a:defRPr>
              </a:pPr>
              <a:r>
                <a:t>gradient_boosting_metrics.csv</a:t>
              </a:r>
            </a:p>
            <a:p>
              <a:pPr>
                <a:defRPr sz="1100">
                  <a:solidFill>
                    <a:srgbClr val="5E6A70"/>
                  </a:solidFill>
                  <a:latin typeface="Aptos"/>
                  <a:ea typeface="Aptos"/>
                  <a:cs typeface="Aptos"/>
                  <a:sym typeface="Aptos"/>
                </a:defRPr>
              </a:pPr>
              <a:r>
                <a:t>linear_regression_metrics.csv</a:t>
              </a:r>
            </a:p>
            <a:p>
              <a:pPr>
                <a:defRPr sz="1100">
                  <a:solidFill>
                    <a:srgbClr val="5E6A70"/>
                  </a:solidFill>
                  <a:latin typeface="Aptos"/>
                  <a:ea typeface="Aptos"/>
                  <a:cs typeface="Aptos"/>
                  <a:sym typeface="Aptos"/>
                </a:defRPr>
              </a:pPr>
              <a:r>
                <a:t>feature importance files</a:t>
              </a:r>
            </a:p>
          </p:txBody>
        </p:sp>
      </p:grpSp>
      <p:sp>
        <p:nvSpPr>
          <p:cNvPr id="1635" name="Rectangle"/>
          <p:cNvSpPr/>
          <p:nvPr/>
        </p:nvSpPr>
        <p:spPr>
          <a:xfrm>
            <a:off x="7543800" y="2286000"/>
            <a:ext cx="2714625" cy="2762250"/>
          </a:xfrm>
          <a:prstGeom prst="rect">
            <a:avLst/>
          </a:prstGeom>
          <a:solidFill>
            <a:srgbClr val="FFFFFF"/>
          </a:solidFill>
          <a:ln>
            <a:solidFill>
              <a:srgbClr val="E4EAE7"/>
            </a:solidFill>
          </a:ln>
        </p:spPr>
        <p:txBody>
          <a:bodyPr lIns="0" tIns="0" rIns="0" bIns="0"/>
          <a:lstStyle/>
          <a:p>
            <a:endParaRPr/>
          </a:p>
        </p:txBody>
      </p:sp>
      <p:sp>
        <p:nvSpPr>
          <p:cNvPr id="1636" name="Rectangle"/>
          <p:cNvSpPr/>
          <p:nvPr/>
        </p:nvSpPr>
        <p:spPr>
          <a:xfrm>
            <a:off x="7543800" y="2286000"/>
            <a:ext cx="2714625" cy="66675"/>
          </a:xfrm>
          <a:prstGeom prst="rect">
            <a:avLst/>
          </a:prstGeom>
          <a:solidFill>
            <a:srgbClr val="D99A16"/>
          </a:solidFill>
          <a:ln w="3175">
            <a:solidFill>
              <a:srgbClr val="000000">
                <a:alpha val="0"/>
              </a:srgbClr>
            </a:solidFill>
          </a:ln>
        </p:spPr>
        <p:txBody>
          <a:bodyPr lIns="0" tIns="0" rIns="0" bIns="0"/>
          <a:lstStyle/>
          <a:p>
            <a:endParaRPr/>
          </a:p>
        </p:txBody>
      </p:sp>
      <p:grpSp>
        <p:nvGrpSpPr>
          <p:cNvPr id="1639" name="Group"/>
          <p:cNvGrpSpPr/>
          <p:nvPr/>
        </p:nvGrpSpPr>
        <p:grpSpPr>
          <a:xfrm>
            <a:off x="7753350" y="2667000"/>
            <a:ext cx="2190750" cy="279400"/>
            <a:chOff x="0" y="0"/>
            <a:chExt cx="2190750" cy="279400"/>
          </a:xfrm>
        </p:grpSpPr>
        <p:sp>
          <p:nvSpPr>
            <p:cNvPr id="1637" name="Rectangle"/>
            <p:cNvSpPr/>
            <p:nvPr/>
          </p:nvSpPr>
          <p:spPr>
            <a:xfrm>
              <a:off x="0" y="0"/>
              <a:ext cx="2190750" cy="2476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10242C"/>
                  </a:solidFill>
                  <a:latin typeface="Aptos Display"/>
                  <a:ea typeface="Aptos Display"/>
                  <a:cs typeface="Aptos Display"/>
                  <a:sym typeface="Aptos Display"/>
                </a:defRPr>
              </a:pPr>
              <a:endParaRPr/>
            </a:p>
          </p:txBody>
        </p:sp>
        <p:sp>
          <p:nvSpPr>
            <p:cNvPr id="1638" name="Charts"/>
            <p:cNvSpPr txBox="1"/>
            <p:nvPr/>
          </p:nvSpPr>
          <p:spPr>
            <a:xfrm>
              <a:off x="0" y="0"/>
              <a:ext cx="21907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10242C"/>
                  </a:solidFill>
                  <a:latin typeface="Aptos Display"/>
                  <a:ea typeface="Aptos Display"/>
                  <a:cs typeface="Aptos Display"/>
                  <a:sym typeface="Aptos Display"/>
                </a:defRPr>
              </a:lvl1pPr>
            </a:lstStyle>
            <a:p>
              <a:r>
                <a:t>Charts</a:t>
              </a:r>
            </a:p>
          </p:txBody>
        </p:sp>
      </p:grpSp>
      <p:grpSp>
        <p:nvGrpSpPr>
          <p:cNvPr id="1642" name="Group"/>
          <p:cNvGrpSpPr/>
          <p:nvPr/>
        </p:nvGrpSpPr>
        <p:grpSpPr>
          <a:xfrm>
            <a:off x="7753350" y="3143250"/>
            <a:ext cx="2190750" cy="1409700"/>
            <a:chOff x="0" y="0"/>
            <a:chExt cx="2190750" cy="1409700"/>
          </a:xfrm>
        </p:grpSpPr>
        <p:sp>
          <p:nvSpPr>
            <p:cNvPr id="1640" name="Rectangle"/>
            <p:cNvSpPr/>
            <p:nvPr/>
          </p:nvSpPr>
          <p:spPr>
            <a:xfrm>
              <a:off x="0" y="0"/>
              <a:ext cx="2190750" cy="14097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a:solidFill>
                    <a:srgbClr val="5E6A70"/>
                  </a:solidFill>
                  <a:latin typeface="Aptos"/>
                  <a:ea typeface="Aptos"/>
                  <a:cs typeface="Aptos"/>
                  <a:sym typeface="Aptos"/>
                </a:defRPr>
              </a:pPr>
              <a:endParaRPr/>
            </a:p>
          </p:txBody>
        </p:sp>
        <p:sp>
          <p:nvSpPr>
            <p:cNvPr id="1641" name="points histogram…"/>
            <p:cNvSpPr txBox="1"/>
            <p:nvPr/>
          </p:nvSpPr>
          <p:spPr>
            <a:xfrm>
              <a:off x="0" y="0"/>
              <a:ext cx="2190750" cy="825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1100">
                  <a:solidFill>
                    <a:srgbClr val="5E6A70"/>
                  </a:solidFill>
                  <a:latin typeface="Aptos"/>
                  <a:ea typeface="Aptos"/>
                  <a:cs typeface="Aptos"/>
                  <a:sym typeface="Aptos"/>
                </a:defRPr>
              </a:pPr>
              <a:r>
                <a:t>points histogram</a:t>
              </a:r>
            </a:p>
            <a:p>
              <a:pPr>
                <a:defRPr sz="1100">
                  <a:solidFill>
                    <a:srgbClr val="5E6A70"/>
                  </a:solidFill>
                  <a:latin typeface="Aptos"/>
                  <a:ea typeface="Aptos"/>
                  <a:cs typeface="Aptos"/>
                  <a:sym typeface="Aptos"/>
                </a:defRPr>
              </a:pPr>
              <a:r>
                <a:t>segment visuals</a:t>
              </a:r>
            </a:p>
            <a:p>
              <a:pPr>
                <a:defRPr sz="1100">
                  <a:solidFill>
                    <a:srgbClr val="5E6A70"/>
                  </a:solidFill>
                  <a:latin typeface="Aptos"/>
                  <a:ea typeface="Aptos"/>
                  <a:cs typeface="Aptos"/>
                  <a:sym typeface="Aptos"/>
                </a:defRPr>
              </a:pPr>
              <a:r>
                <a:t>feature importance</a:t>
              </a:r>
            </a:p>
            <a:p>
              <a:pPr>
                <a:defRPr sz="1100">
                  <a:solidFill>
                    <a:srgbClr val="5E6A70"/>
                  </a:solidFill>
                  <a:latin typeface="Aptos"/>
                  <a:ea typeface="Aptos"/>
                  <a:cs typeface="Aptos"/>
                  <a:sym typeface="Aptos"/>
                </a:defRPr>
              </a:pPr>
              <a:r>
                <a:t>confusion matrices</a:t>
              </a:r>
            </a:p>
            <a:p>
              <a:pPr>
                <a:defRPr sz="1100">
                  <a:solidFill>
                    <a:srgbClr val="5E6A70"/>
                  </a:solidFill>
                  <a:latin typeface="Aptos"/>
                  <a:ea typeface="Aptos"/>
                  <a:cs typeface="Aptos"/>
                  <a:sym typeface="Aptos"/>
                </a:defRPr>
              </a:pPr>
              <a:r>
                <a:t>top loyal customers</a:t>
              </a:r>
            </a:p>
          </p:txBody>
        </p:sp>
      </p:grpSp>
      <p:grpSp>
        <p:nvGrpSpPr>
          <p:cNvPr id="1645" name="Group"/>
          <p:cNvGrpSpPr/>
          <p:nvPr/>
        </p:nvGrpSpPr>
        <p:grpSpPr>
          <a:xfrm>
            <a:off x="819150" y="5562600"/>
            <a:ext cx="9620250" cy="342900"/>
            <a:chOff x="0" y="0"/>
            <a:chExt cx="9620250" cy="342900"/>
          </a:xfrm>
        </p:grpSpPr>
        <p:sp>
          <p:nvSpPr>
            <p:cNvPr id="1643" name="Rectangle"/>
            <p:cNvSpPr/>
            <p:nvPr/>
          </p:nvSpPr>
          <p:spPr>
            <a:xfrm>
              <a:off x="0" y="0"/>
              <a:ext cx="9620250" cy="3429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200">
                  <a:solidFill>
                    <a:srgbClr val="10242C"/>
                  </a:solidFill>
                  <a:latin typeface="Aptos"/>
                  <a:ea typeface="Aptos"/>
                  <a:cs typeface="Aptos"/>
                  <a:sym typeface="Aptos"/>
                </a:defRPr>
              </a:pPr>
              <a:endParaRPr/>
            </a:p>
          </p:txBody>
        </p:sp>
        <p:sp>
          <p:nvSpPr>
            <p:cNvPr id="1644" name="This separation is important: charts support presentation, CSV files support checking, and model outputs support comparison."/>
            <p:cNvSpPr txBox="1"/>
            <p:nvPr/>
          </p:nvSpPr>
          <p:spPr>
            <a:xfrm>
              <a:off x="0" y="0"/>
              <a:ext cx="9620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200">
                  <a:solidFill>
                    <a:srgbClr val="10242C"/>
                  </a:solidFill>
                  <a:latin typeface="Aptos"/>
                  <a:ea typeface="Aptos"/>
                  <a:cs typeface="Aptos"/>
                  <a:sym typeface="Aptos"/>
                </a:defRPr>
              </a:lvl1pPr>
            </a:lstStyle>
            <a:p>
              <a:r>
                <a:t>This separation is important: charts support presentation, CSV files support checking, and model outputs support comparison.</a:t>
              </a:r>
            </a:p>
          </p:txBody>
        </p:sp>
      </p:gr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7"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648"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651" name="Group"/>
          <p:cNvGrpSpPr/>
          <p:nvPr/>
        </p:nvGrpSpPr>
        <p:grpSpPr>
          <a:xfrm>
            <a:off x="533400" y="323850"/>
            <a:ext cx="4953000" cy="228600"/>
            <a:chOff x="0" y="0"/>
            <a:chExt cx="4953000" cy="228600"/>
          </a:xfrm>
        </p:grpSpPr>
        <p:sp>
          <p:nvSpPr>
            <p:cNvPr id="164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650"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654" name="Group"/>
          <p:cNvGrpSpPr/>
          <p:nvPr/>
        </p:nvGrpSpPr>
        <p:grpSpPr>
          <a:xfrm>
            <a:off x="533400" y="723900"/>
            <a:ext cx="6667500" cy="609600"/>
            <a:chOff x="0" y="0"/>
            <a:chExt cx="6667500" cy="609600"/>
          </a:xfrm>
        </p:grpSpPr>
        <p:sp>
          <p:nvSpPr>
            <p:cNvPr id="1652"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653" name="Visual Findings"/>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Visual Findings</a:t>
              </a:r>
            </a:p>
          </p:txBody>
        </p:sp>
      </p:grpSp>
      <p:grpSp>
        <p:nvGrpSpPr>
          <p:cNvPr id="1657" name="Group"/>
          <p:cNvGrpSpPr/>
          <p:nvPr/>
        </p:nvGrpSpPr>
        <p:grpSpPr>
          <a:xfrm>
            <a:off x="552450" y="1485900"/>
            <a:ext cx="6477000" cy="457200"/>
            <a:chOff x="0" y="0"/>
            <a:chExt cx="6477000" cy="457200"/>
          </a:xfrm>
        </p:grpSpPr>
        <p:sp>
          <p:nvSpPr>
            <p:cNvPr id="1655"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656" name="The charts show the same pattern from different angles: loyalty value is concentrated, but there are clear growth group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charts show the same pattern from different angles: loyalty value is concentrated, but there are clear growth groups.</a:t>
              </a:r>
            </a:p>
          </p:txBody>
        </p:sp>
      </p:grpSp>
      <p:grpSp>
        <p:nvGrpSpPr>
          <p:cNvPr id="1660" name="Group"/>
          <p:cNvGrpSpPr/>
          <p:nvPr/>
        </p:nvGrpSpPr>
        <p:grpSpPr>
          <a:xfrm>
            <a:off x="533400" y="6438900"/>
            <a:ext cx="4953000" cy="228600"/>
            <a:chOff x="0" y="0"/>
            <a:chExt cx="4953000" cy="228600"/>
          </a:xfrm>
        </p:grpSpPr>
        <p:sp>
          <p:nvSpPr>
            <p:cNvPr id="165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659"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663" name="Group"/>
          <p:cNvGrpSpPr/>
          <p:nvPr/>
        </p:nvGrpSpPr>
        <p:grpSpPr>
          <a:xfrm>
            <a:off x="11125200" y="6419850"/>
            <a:ext cx="514350" cy="228600"/>
            <a:chOff x="0" y="0"/>
            <a:chExt cx="514350" cy="228600"/>
          </a:xfrm>
        </p:grpSpPr>
        <p:sp>
          <p:nvSpPr>
            <p:cNvPr id="1661"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662" name="21"/>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21</a:t>
              </a:r>
            </a:p>
          </p:txBody>
        </p:sp>
      </p:grpSp>
      <p:sp>
        <p:nvSpPr>
          <p:cNvPr id="1664" name="Rectangle"/>
          <p:cNvSpPr/>
          <p:nvPr/>
        </p:nvSpPr>
        <p:spPr>
          <a:xfrm>
            <a:off x="628650" y="2190750"/>
            <a:ext cx="4762500" cy="2428875"/>
          </a:xfrm>
          <a:prstGeom prst="rect">
            <a:avLst/>
          </a:prstGeom>
          <a:solidFill>
            <a:srgbClr val="FFFFFF"/>
          </a:solidFill>
          <a:ln>
            <a:solidFill>
              <a:srgbClr val="E4EAE7"/>
            </a:solidFill>
          </a:ln>
        </p:spPr>
        <p:txBody>
          <a:bodyPr lIns="0" tIns="0" rIns="0" bIns="0"/>
          <a:lstStyle/>
          <a:p>
            <a:endParaRPr/>
          </a:p>
        </p:txBody>
      </p:sp>
      <p:pic>
        <p:nvPicPr>
          <p:cNvPr id="1665" name="image7.png" descr="image7.png"/>
          <p:cNvPicPr>
            <a:picLocks noChangeAspect="1"/>
          </p:cNvPicPr>
          <p:nvPr/>
        </p:nvPicPr>
        <p:blipFill>
          <a:blip r:embed="rId2"/>
          <a:stretch>
            <a:fillRect/>
          </a:stretch>
        </p:blipFill>
        <p:spPr>
          <a:xfrm>
            <a:off x="981075" y="2266950"/>
            <a:ext cx="4057650" cy="2028825"/>
          </a:xfrm>
          <a:prstGeom prst="rect">
            <a:avLst/>
          </a:prstGeom>
          <a:ln w="12700">
            <a:miter lim="400000"/>
          </a:ln>
        </p:spPr>
      </p:pic>
      <p:grpSp>
        <p:nvGrpSpPr>
          <p:cNvPr id="1668" name="Group"/>
          <p:cNvGrpSpPr/>
          <p:nvPr/>
        </p:nvGrpSpPr>
        <p:grpSpPr>
          <a:xfrm>
            <a:off x="742950" y="4343400"/>
            <a:ext cx="4533900" cy="171450"/>
            <a:chOff x="0" y="0"/>
            <a:chExt cx="4533900" cy="171450"/>
          </a:xfrm>
        </p:grpSpPr>
        <p:sp>
          <p:nvSpPr>
            <p:cNvPr id="1666" name="Rectangle"/>
            <p:cNvSpPr/>
            <p:nvPr/>
          </p:nvSpPr>
          <p:spPr>
            <a:xfrm>
              <a:off x="0" y="0"/>
              <a:ext cx="453390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1667" name="Figure 8. Top 10 loyal customers"/>
            <p:cNvSpPr txBox="1"/>
            <p:nvPr/>
          </p:nvSpPr>
          <p:spPr>
            <a:xfrm>
              <a:off x="0" y="0"/>
              <a:ext cx="45339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8. Top 10 loyal customers</a:t>
              </a:r>
            </a:p>
          </p:txBody>
        </p:sp>
      </p:grpSp>
      <p:sp>
        <p:nvSpPr>
          <p:cNvPr id="1669" name="Rectangle"/>
          <p:cNvSpPr/>
          <p:nvPr/>
        </p:nvSpPr>
        <p:spPr>
          <a:xfrm>
            <a:off x="5962650" y="2190750"/>
            <a:ext cx="3524250" cy="2428875"/>
          </a:xfrm>
          <a:prstGeom prst="rect">
            <a:avLst/>
          </a:prstGeom>
          <a:solidFill>
            <a:srgbClr val="FFFFFF"/>
          </a:solidFill>
          <a:ln>
            <a:solidFill>
              <a:srgbClr val="E4EAE7"/>
            </a:solidFill>
          </a:ln>
        </p:spPr>
        <p:txBody>
          <a:bodyPr lIns="0" tIns="0" rIns="0" bIns="0"/>
          <a:lstStyle/>
          <a:p>
            <a:endParaRPr/>
          </a:p>
        </p:txBody>
      </p:sp>
      <p:pic>
        <p:nvPicPr>
          <p:cNvPr id="1670" name="image8.png" descr="image8.png"/>
          <p:cNvPicPr>
            <a:picLocks noChangeAspect="1"/>
          </p:cNvPicPr>
          <p:nvPr/>
        </p:nvPicPr>
        <p:blipFill>
          <a:blip r:embed="rId3"/>
          <a:stretch>
            <a:fillRect/>
          </a:stretch>
        </p:blipFill>
        <p:spPr>
          <a:xfrm>
            <a:off x="6710363" y="2266950"/>
            <a:ext cx="2028826" cy="2028825"/>
          </a:xfrm>
          <a:prstGeom prst="rect">
            <a:avLst/>
          </a:prstGeom>
          <a:ln w="12700">
            <a:miter lim="400000"/>
          </a:ln>
        </p:spPr>
      </p:pic>
      <p:grpSp>
        <p:nvGrpSpPr>
          <p:cNvPr id="1673" name="Group"/>
          <p:cNvGrpSpPr/>
          <p:nvPr/>
        </p:nvGrpSpPr>
        <p:grpSpPr>
          <a:xfrm>
            <a:off x="6076950" y="4343400"/>
            <a:ext cx="3295650" cy="171450"/>
            <a:chOff x="0" y="0"/>
            <a:chExt cx="3295650" cy="171450"/>
          </a:xfrm>
        </p:grpSpPr>
        <p:sp>
          <p:nvSpPr>
            <p:cNvPr id="1671" name="Rectangle"/>
            <p:cNvSpPr/>
            <p:nvPr/>
          </p:nvSpPr>
          <p:spPr>
            <a:xfrm>
              <a:off x="0" y="0"/>
              <a:ext cx="3295650" cy="1714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700">
                  <a:solidFill>
                    <a:srgbClr val="5E6A70"/>
                  </a:solidFill>
                  <a:latin typeface="Aptos"/>
                  <a:ea typeface="Aptos"/>
                  <a:cs typeface="Aptos"/>
                  <a:sym typeface="Aptos"/>
                </a:defRPr>
              </a:pPr>
              <a:endParaRPr/>
            </a:p>
          </p:txBody>
        </p:sp>
        <p:sp>
          <p:nvSpPr>
            <p:cNvPr id="1672" name="Figure 9. Segment mix"/>
            <p:cNvSpPr txBox="1"/>
            <p:nvPr/>
          </p:nvSpPr>
          <p:spPr>
            <a:xfrm>
              <a:off x="0" y="0"/>
              <a:ext cx="329565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700">
                  <a:solidFill>
                    <a:srgbClr val="5E6A70"/>
                  </a:solidFill>
                  <a:latin typeface="Aptos"/>
                  <a:ea typeface="Aptos"/>
                  <a:cs typeface="Aptos"/>
                  <a:sym typeface="Aptos"/>
                </a:defRPr>
              </a:lvl1pPr>
            </a:lstStyle>
            <a:p>
              <a:r>
                <a:t>Figure 9. Segment mix</a:t>
              </a:r>
            </a:p>
          </p:txBody>
        </p:sp>
      </p:grpSp>
      <p:sp>
        <p:nvSpPr>
          <p:cNvPr id="1674" name="Circle"/>
          <p:cNvSpPr/>
          <p:nvPr/>
        </p:nvSpPr>
        <p:spPr>
          <a:xfrm>
            <a:off x="838200" y="5124450"/>
            <a:ext cx="76200" cy="76200"/>
          </a:xfrm>
          <a:prstGeom prst="ellipse">
            <a:avLst/>
          </a:prstGeom>
          <a:solidFill>
            <a:srgbClr val="0A6B61"/>
          </a:solidFill>
          <a:ln w="3175">
            <a:solidFill>
              <a:srgbClr val="000000">
                <a:alpha val="0"/>
              </a:srgbClr>
            </a:solidFill>
          </a:ln>
        </p:spPr>
        <p:txBody>
          <a:bodyPr lIns="0" tIns="0" rIns="0" bIns="0"/>
          <a:lstStyle/>
          <a:p>
            <a:endParaRPr/>
          </a:p>
        </p:txBody>
      </p:sp>
      <p:grpSp>
        <p:nvGrpSpPr>
          <p:cNvPr id="1677" name="Group"/>
          <p:cNvGrpSpPr/>
          <p:nvPr/>
        </p:nvGrpSpPr>
        <p:grpSpPr>
          <a:xfrm>
            <a:off x="1047750" y="5048250"/>
            <a:ext cx="9239250" cy="361950"/>
            <a:chOff x="0" y="0"/>
            <a:chExt cx="9239250" cy="361950"/>
          </a:xfrm>
        </p:grpSpPr>
        <p:sp>
          <p:nvSpPr>
            <p:cNvPr id="1675" name="Rectangle"/>
            <p:cNvSpPr/>
            <p:nvPr/>
          </p:nvSpPr>
          <p:spPr>
            <a:xfrm>
              <a:off x="0" y="0"/>
              <a:ext cx="92392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10242C"/>
                  </a:solidFill>
                  <a:latin typeface="Aptos"/>
                  <a:ea typeface="Aptos"/>
                  <a:cs typeface="Aptos"/>
                  <a:sym typeface="Aptos"/>
                </a:defRPr>
              </a:pPr>
              <a:endParaRPr/>
            </a:p>
          </p:txBody>
        </p:sp>
        <p:sp>
          <p:nvSpPr>
            <p:cNvPr id="1676" name="Top customers have much higher loyalty scores, so retention should prioritize them first."/>
            <p:cNvSpPr txBox="1"/>
            <p:nvPr/>
          </p:nvSpPr>
          <p:spPr>
            <a:xfrm>
              <a:off x="0" y="0"/>
              <a:ext cx="9239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10242C"/>
                  </a:solidFill>
                  <a:latin typeface="Aptos"/>
                  <a:ea typeface="Aptos"/>
                  <a:cs typeface="Aptos"/>
                  <a:sym typeface="Aptos"/>
                </a:defRPr>
              </a:lvl1pPr>
            </a:lstStyle>
            <a:p>
              <a:r>
                <a:t>Top customers have much higher loyalty scores, so retention should prioritize them first.</a:t>
              </a:r>
            </a:p>
          </p:txBody>
        </p:sp>
      </p:grpSp>
      <p:sp>
        <p:nvSpPr>
          <p:cNvPr id="1678" name="Circle"/>
          <p:cNvSpPr/>
          <p:nvPr/>
        </p:nvSpPr>
        <p:spPr>
          <a:xfrm>
            <a:off x="838200" y="5524500"/>
            <a:ext cx="76200" cy="76200"/>
          </a:xfrm>
          <a:prstGeom prst="ellipse">
            <a:avLst/>
          </a:prstGeom>
          <a:solidFill>
            <a:srgbClr val="0A6B61"/>
          </a:solidFill>
          <a:ln w="3175">
            <a:solidFill>
              <a:srgbClr val="000000">
                <a:alpha val="0"/>
              </a:srgbClr>
            </a:solidFill>
          </a:ln>
        </p:spPr>
        <p:txBody>
          <a:bodyPr lIns="0" tIns="0" rIns="0" bIns="0"/>
          <a:lstStyle/>
          <a:p>
            <a:endParaRPr/>
          </a:p>
        </p:txBody>
      </p:sp>
      <p:grpSp>
        <p:nvGrpSpPr>
          <p:cNvPr id="1681" name="Group"/>
          <p:cNvGrpSpPr/>
          <p:nvPr/>
        </p:nvGrpSpPr>
        <p:grpSpPr>
          <a:xfrm>
            <a:off x="1047750" y="5448300"/>
            <a:ext cx="9239250" cy="361950"/>
            <a:chOff x="0" y="0"/>
            <a:chExt cx="9239250" cy="361950"/>
          </a:xfrm>
        </p:grpSpPr>
        <p:sp>
          <p:nvSpPr>
            <p:cNvPr id="1679" name="Rectangle"/>
            <p:cNvSpPr/>
            <p:nvPr/>
          </p:nvSpPr>
          <p:spPr>
            <a:xfrm>
              <a:off x="0" y="0"/>
              <a:ext cx="92392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10242C"/>
                  </a:solidFill>
                  <a:latin typeface="Aptos"/>
                  <a:ea typeface="Aptos"/>
                  <a:cs typeface="Aptos"/>
                  <a:sym typeface="Aptos"/>
                </a:defRPr>
              </a:pPr>
              <a:endParaRPr/>
            </a:p>
          </p:txBody>
        </p:sp>
        <p:sp>
          <p:nvSpPr>
            <p:cNvPr id="1680" name="The segment mix creates enough members in most groups for meaningful comparison."/>
            <p:cNvSpPr txBox="1"/>
            <p:nvPr/>
          </p:nvSpPr>
          <p:spPr>
            <a:xfrm>
              <a:off x="0" y="0"/>
              <a:ext cx="9239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10242C"/>
                  </a:solidFill>
                  <a:latin typeface="Aptos"/>
                  <a:ea typeface="Aptos"/>
                  <a:cs typeface="Aptos"/>
                  <a:sym typeface="Aptos"/>
                </a:defRPr>
              </a:lvl1pPr>
            </a:lstStyle>
            <a:p>
              <a:r>
                <a:t>The segment mix creates enough members in most groups for meaningful comparison.</a:t>
              </a:r>
            </a:p>
          </p:txBody>
        </p:sp>
      </p:grpSp>
      <p:sp>
        <p:nvSpPr>
          <p:cNvPr id="1682" name="Circle"/>
          <p:cNvSpPr/>
          <p:nvPr/>
        </p:nvSpPr>
        <p:spPr>
          <a:xfrm>
            <a:off x="838200" y="5924550"/>
            <a:ext cx="76200" cy="76200"/>
          </a:xfrm>
          <a:prstGeom prst="ellipse">
            <a:avLst/>
          </a:prstGeom>
          <a:solidFill>
            <a:srgbClr val="0A6B61"/>
          </a:solidFill>
          <a:ln w="3175">
            <a:solidFill>
              <a:srgbClr val="000000">
                <a:alpha val="0"/>
              </a:srgbClr>
            </a:solidFill>
          </a:ln>
        </p:spPr>
        <p:txBody>
          <a:bodyPr lIns="0" tIns="0" rIns="0" bIns="0"/>
          <a:lstStyle/>
          <a:p>
            <a:endParaRPr/>
          </a:p>
        </p:txBody>
      </p:sp>
      <p:grpSp>
        <p:nvGrpSpPr>
          <p:cNvPr id="1685" name="Group"/>
          <p:cNvGrpSpPr/>
          <p:nvPr/>
        </p:nvGrpSpPr>
        <p:grpSpPr>
          <a:xfrm>
            <a:off x="1047750" y="5848350"/>
            <a:ext cx="9239250" cy="361950"/>
            <a:chOff x="0" y="0"/>
            <a:chExt cx="9239250" cy="361950"/>
          </a:xfrm>
        </p:grpSpPr>
        <p:sp>
          <p:nvSpPr>
            <p:cNvPr id="1683" name="Rectangle"/>
            <p:cNvSpPr/>
            <p:nvPr/>
          </p:nvSpPr>
          <p:spPr>
            <a:xfrm>
              <a:off x="0" y="0"/>
              <a:ext cx="9239250" cy="3619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10242C"/>
                  </a:solidFill>
                  <a:latin typeface="Aptos"/>
                  <a:ea typeface="Aptos"/>
                  <a:cs typeface="Aptos"/>
                  <a:sym typeface="Aptos"/>
                </a:defRPr>
              </a:pPr>
              <a:endParaRPr/>
            </a:p>
          </p:txBody>
        </p:sp>
        <p:sp>
          <p:nvSpPr>
            <p:cNvPr id="1684" name="The distribution suggests a classic loyalty pattern: many moderate members and fewer very high-value members."/>
            <p:cNvSpPr txBox="1"/>
            <p:nvPr/>
          </p:nvSpPr>
          <p:spPr>
            <a:xfrm>
              <a:off x="0" y="0"/>
              <a:ext cx="923925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10242C"/>
                  </a:solidFill>
                  <a:latin typeface="Aptos"/>
                  <a:ea typeface="Aptos"/>
                  <a:cs typeface="Aptos"/>
                  <a:sym typeface="Aptos"/>
                </a:defRPr>
              </a:lvl1pPr>
            </a:lstStyle>
            <a:p>
              <a:r>
                <a:t>The distribution suggests a classic loyalty pattern: many moderate members and fewer very high-value members.</a:t>
              </a:r>
            </a:p>
          </p:txBody>
        </p:sp>
      </p:gr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7"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688"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691" name="Group"/>
          <p:cNvGrpSpPr/>
          <p:nvPr/>
        </p:nvGrpSpPr>
        <p:grpSpPr>
          <a:xfrm>
            <a:off x="533400" y="323850"/>
            <a:ext cx="4953000" cy="228600"/>
            <a:chOff x="0" y="0"/>
            <a:chExt cx="4953000" cy="228600"/>
          </a:xfrm>
        </p:grpSpPr>
        <p:sp>
          <p:nvSpPr>
            <p:cNvPr id="1689"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690"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694" name="Group"/>
          <p:cNvGrpSpPr/>
          <p:nvPr/>
        </p:nvGrpSpPr>
        <p:grpSpPr>
          <a:xfrm>
            <a:off x="533400" y="723900"/>
            <a:ext cx="6667500" cy="609600"/>
            <a:chOff x="0" y="0"/>
            <a:chExt cx="6667500" cy="609600"/>
          </a:xfrm>
        </p:grpSpPr>
        <p:sp>
          <p:nvSpPr>
            <p:cNvPr id="1692"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693" name="Business Recommendations"/>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Business Recommendations</a:t>
              </a:r>
            </a:p>
          </p:txBody>
        </p:sp>
      </p:grpSp>
      <p:grpSp>
        <p:nvGrpSpPr>
          <p:cNvPr id="1697" name="Group"/>
          <p:cNvGrpSpPr/>
          <p:nvPr/>
        </p:nvGrpSpPr>
        <p:grpSpPr>
          <a:xfrm>
            <a:off x="552450" y="1485900"/>
            <a:ext cx="6477000" cy="457200"/>
            <a:chOff x="0" y="0"/>
            <a:chExt cx="6477000" cy="457200"/>
          </a:xfrm>
        </p:grpSpPr>
        <p:sp>
          <p:nvSpPr>
            <p:cNvPr id="1695"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696" name="The analytics output should be turned into member actions, not left as model scores only."/>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analytics output should be turned into member actions, not left as model scores only.</a:t>
              </a:r>
            </a:p>
          </p:txBody>
        </p:sp>
      </p:grpSp>
      <p:grpSp>
        <p:nvGrpSpPr>
          <p:cNvPr id="1700" name="Group"/>
          <p:cNvGrpSpPr/>
          <p:nvPr/>
        </p:nvGrpSpPr>
        <p:grpSpPr>
          <a:xfrm>
            <a:off x="533400" y="6438900"/>
            <a:ext cx="4953000" cy="228600"/>
            <a:chOff x="0" y="0"/>
            <a:chExt cx="4953000" cy="228600"/>
          </a:xfrm>
        </p:grpSpPr>
        <p:sp>
          <p:nvSpPr>
            <p:cNvPr id="1698"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699"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703" name="Group"/>
          <p:cNvGrpSpPr/>
          <p:nvPr/>
        </p:nvGrpSpPr>
        <p:grpSpPr>
          <a:xfrm>
            <a:off x="11125200" y="6419850"/>
            <a:ext cx="514350" cy="228600"/>
            <a:chOff x="0" y="0"/>
            <a:chExt cx="514350" cy="228600"/>
          </a:xfrm>
        </p:grpSpPr>
        <p:sp>
          <p:nvSpPr>
            <p:cNvPr id="1701"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702" name="22"/>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22</a:t>
              </a:r>
            </a:p>
          </p:txBody>
        </p:sp>
      </p:grpSp>
      <p:sp>
        <p:nvSpPr>
          <p:cNvPr id="1704" name="Rectangle"/>
          <p:cNvSpPr/>
          <p:nvPr/>
        </p:nvSpPr>
        <p:spPr>
          <a:xfrm>
            <a:off x="819150" y="2190750"/>
            <a:ext cx="1238250" cy="476250"/>
          </a:xfrm>
          <a:prstGeom prst="rect">
            <a:avLst/>
          </a:prstGeom>
          <a:solidFill>
            <a:srgbClr val="0A6B61"/>
          </a:solidFill>
          <a:ln w="3175">
            <a:solidFill>
              <a:srgbClr val="000000">
                <a:alpha val="0"/>
              </a:srgbClr>
            </a:solidFill>
          </a:ln>
        </p:spPr>
        <p:txBody>
          <a:bodyPr lIns="0" tIns="0" rIns="0" bIns="0"/>
          <a:lstStyle/>
          <a:p>
            <a:endParaRPr/>
          </a:p>
        </p:txBody>
      </p:sp>
      <p:grpSp>
        <p:nvGrpSpPr>
          <p:cNvPr id="1707" name="Group"/>
          <p:cNvGrpSpPr/>
          <p:nvPr/>
        </p:nvGrpSpPr>
        <p:grpSpPr>
          <a:xfrm>
            <a:off x="819150" y="2324100"/>
            <a:ext cx="1238250" cy="203200"/>
            <a:chOff x="0" y="0"/>
            <a:chExt cx="1238250" cy="203200"/>
          </a:xfrm>
        </p:grpSpPr>
        <p:sp>
          <p:nvSpPr>
            <p:cNvPr id="1705" name="Rectangle"/>
            <p:cNvSpPr/>
            <p:nvPr/>
          </p:nvSpPr>
          <p:spPr>
            <a:xfrm>
              <a:off x="0" y="0"/>
              <a:ext cx="1238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1706" name="Protect"/>
            <p:cNvSpPr txBox="1"/>
            <p:nvPr/>
          </p:nvSpPr>
          <p:spPr>
            <a:xfrm>
              <a:off x="0" y="0"/>
              <a:ext cx="1238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Protect</a:t>
              </a:r>
            </a:p>
          </p:txBody>
        </p:sp>
      </p:grpSp>
      <p:grpSp>
        <p:nvGrpSpPr>
          <p:cNvPr id="1710" name="Group"/>
          <p:cNvGrpSpPr/>
          <p:nvPr/>
        </p:nvGrpSpPr>
        <p:grpSpPr>
          <a:xfrm>
            <a:off x="2381250" y="2181225"/>
            <a:ext cx="2571750" cy="228600"/>
            <a:chOff x="0" y="0"/>
            <a:chExt cx="2571750" cy="228600"/>
          </a:xfrm>
        </p:grpSpPr>
        <p:sp>
          <p:nvSpPr>
            <p:cNvPr id="1708" name="Rectangle"/>
            <p:cNvSpPr/>
            <p:nvPr/>
          </p:nvSpPr>
          <p:spPr>
            <a:xfrm>
              <a:off x="0" y="0"/>
              <a:ext cx="2571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709" name="Most Loyal and Cluster 3"/>
            <p:cNvSpPr txBox="1"/>
            <p:nvPr/>
          </p:nvSpPr>
          <p:spPr>
            <a:xfrm>
              <a:off x="0" y="0"/>
              <a:ext cx="25717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Most Loyal and Cluster 3</a:t>
              </a:r>
            </a:p>
          </p:txBody>
        </p:sp>
      </p:grpSp>
      <p:grpSp>
        <p:nvGrpSpPr>
          <p:cNvPr id="1713" name="Group"/>
          <p:cNvGrpSpPr/>
          <p:nvPr/>
        </p:nvGrpSpPr>
        <p:grpSpPr>
          <a:xfrm>
            <a:off x="5238750" y="2190750"/>
            <a:ext cx="5143500" cy="400050"/>
            <a:chOff x="0" y="0"/>
            <a:chExt cx="5143500" cy="400050"/>
          </a:xfrm>
        </p:grpSpPr>
        <p:sp>
          <p:nvSpPr>
            <p:cNvPr id="1711" name="Rectangle"/>
            <p:cNvSpPr/>
            <p:nvPr/>
          </p:nvSpPr>
          <p:spPr>
            <a:xfrm>
              <a:off x="0" y="0"/>
              <a:ext cx="5143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712" name="VIP treatment, early access, and personal recognition."/>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VIP treatment, early access, and personal recognition.</a:t>
              </a:r>
            </a:p>
          </p:txBody>
        </p:sp>
      </p:grpSp>
      <p:sp>
        <p:nvSpPr>
          <p:cNvPr id="1714" name="Rectangle"/>
          <p:cNvSpPr/>
          <p:nvPr/>
        </p:nvSpPr>
        <p:spPr>
          <a:xfrm>
            <a:off x="819150" y="3028950"/>
            <a:ext cx="1238250" cy="476250"/>
          </a:xfrm>
          <a:prstGeom prst="rect">
            <a:avLst/>
          </a:prstGeom>
          <a:solidFill>
            <a:srgbClr val="3C9D72"/>
          </a:solidFill>
          <a:ln w="3175">
            <a:solidFill>
              <a:srgbClr val="000000">
                <a:alpha val="0"/>
              </a:srgbClr>
            </a:solidFill>
          </a:ln>
        </p:spPr>
        <p:txBody>
          <a:bodyPr lIns="0" tIns="0" rIns="0" bIns="0"/>
          <a:lstStyle/>
          <a:p>
            <a:endParaRPr/>
          </a:p>
        </p:txBody>
      </p:sp>
      <p:grpSp>
        <p:nvGrpSpPr>
          <p:cNvPr id="1717" name="Group"/>
          <p:cNvGrpSpPr/>
          <p:nvPr/>
        </p:nvGrpSpPr>
        <p:grpSpPr>
          <a:xfrm>
            <a:off x="819150" y="3162300"/>
            <a:ext cx="1238250" cy="203200"/>
            <a:chOff x="0" y="0"/>
            <a:chExt cx="1238250" cy="203200"/>
          </a:xfrm>
        </p:grpSpPr>
        <p:sp>
          <p:nvSpPr>
            <p:cNvPr id="1715" name="Rectangle"/>
            <p:cNvSpPr/>
            <p:nvPr/>
          </p:nvSpPr>
          <p:spPr>
            <a:xfrm>
              <a:off x="0" y="0"/>
              <a:ext cx="1238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1716" name="Grow"/>
            <p:cNvSpPr txBox="1"/>
            <p:nvPr/>
          </p:nvSpPr>
          <p:spPr>
            <a:xfrm>
              <a:off x="0" y="0"/>
              <a:ext cx="1238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Grow</a:t>
              </a:r>
            </a:p>
          </p:txBody>
        </p:sp>
      </p:grpSp>
      <p:grpSp>
        <p:nvGrpSpPr>
          <p:cNvPr id="1720" name="Group"/>
          <p:cNvGrpSpPr/>
          <p:nvPr/>
        </p:nvGrpSpPr>
        <p:grpSpPr>
          <a:xfrm>
            <a:off x="2381250" y="3019425"/>
            <a:ext cx="2571750" cy="228600"/>
            <a:chOff x="0" y="0"/>
            <a:chExt cx="2571750" cy="228600"/>
          </a:xfrm>
        </p:grpSpPr>
        <p:sp>
          <p:nvSpPr>
            <p:cNvPr id="1718" name="Rectangle"/>
            <p:cNvSpPr/>
            <p:nvPr/>
          </p:nvSpPr>
          <p:spPr>
            <a:xfrm>
              <a:off x="0" y="0"/>
              <a:ext cx="2571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719" name="Highly Active and Active"/>
            <p:cNvSpPr txBox="1"/>
            <p:nvPr/>
          </p:nvSpPr>
          <p:spPr>
            <a:xfrm>
              <a:off x="0" y="0"/>
              <a:ext cx="25717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Highly Active and Active</a:t>
              </a:r>
            </a:p>
          </p:txBody>
        </p:sp>
      </p:grpSp>
      <p:grpSp>
        <p:nvGrpSpPr>
          <p:cNvPr id="1723" name="Group"/>
          <p:cNvGrpSpPr/>
          <p:nvPr/>
        </p:nvGrpSpPr>
        <p:grpSpPr>
          <a:xfrm>
            <a:off x="5238750" y="3028950"/>
            <a:ext cx="5143500" cy="400050"/>
            <a:chOff x="0" y="0"/>
            <a:chExt cx="5143500" cy="400050"/>
          </a:xfrm>
        </p:grpSpPr>
        <p:sp>
          <p:nvSpPr>
            <p:cNvPr id="1721" name="Rectangle"/>
            <p:cNvSpPr/>
            <p:nvPr/>
          </p:nvSpPr>
          <p:spPr>
            <a:xfrm>
              <a:off x="0" y="0"/>
              <a:ext cx="5143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722" name="Point multipliers, basket-building offers, and category bundles."/>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Point multipliers, basket-building offers, and category bundles.</a:t>
              </a:r>
            </a:p>
          </p:txBody>
        </p:sp>
      </p:grpSp>
      <p:sp>
        <p:nvSpPr>
          <p:cNvPr id="1724" name="Rectangle"/>
          <p:cNvSpPr/>
          <p:nvPr/>
        </p:nvSpPr>
        <p:spPr>
          <a:xfrm>
            <a:off x="819150" y="3867150"/>
            <a:ext cx="1238250" cy="476250"/>
          </a:xfrm>
          <a:prstGeom prst="rect">
            <a:avLst/>
          </a:prstGeom>
          <a:solidFill>
            <a:srgbClr val="D99A16"/>
          </a:solidFill>
          <a:ln w="3175">
            <a:solidFill>
              <a:srgbClr val="000000">
                <a:alpha val="0"/>
              </a:srgbClr>
            </a:solidFill>
          </a:ln>
        </p:spPr>
        <p:txBody>
          <a:bodyPr lIns="0" tIns="0" rIns="0" bIns="0"/>
          <a:lstStyle/>
          <a:p>
            <a:endParaRPr/>
          </a:p>
        </p:txBody>
      </p:sp>
      <p:grpSp>
        <p:nvGrpSpPr>
          <p:cNvPr id="1727" name="Group"/>
          <p:cNvGrpSpPr/>
          <p:nvPr/>
        </p:nvGrpSpPr>
        <p:grpSpPr>
          <a:xfrm>
            <a:off x="819150" y="4000500"/>
            <a:ext cx="1238250" cy="203200"/>
            <a:chOff x="0" y="0"/>
            <a:chExt cx="1238250" cy="203200"/>
          </a:xfrm>
        </p:grpSpPr>
        <p:sp>
          <p:nvSpPr>
            <p:cNvPr id="1725" name="Rectangle"/>
            <p:cNvSpPr/>
            <p:nvPr/>
          </p:nvSpPr>
          <p:spPr>
            <a:xfrm>
              <a:off x="0" y="0"/>
              <a:ext cx="1238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1726" name="Convert"/>
            <p:cNvSpPr txBox="1"/>
            <p:nvPr/>
          </p:nvSpPr>
          <p:spPr>
            <a:xfrm>
              <a:off x="0" y="0"/>
              <a:ext cx="1238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Convert</a:t>
              </a:r>
            </a:p>
          </p:txBody>
        </p:sp>
      </p:grpSp>
      <p:grpSp>
        <p:nvGrpSpPr>
          <p:cNvPr id="1730" name="Group"/>
          <p:cNvGrpSpPr/>
          <p:nvPr/>
        </p:nvGrpSpPr>
        <p:grpSpPr>
          <a:xfrm>
            <a:off x="2381250" y="3857625"/>
            <a:ext cx="2571750" cy="228600"/>
            <a:chOff x="0" y="0"/>
            <a:chExt cx="2571750" cy="228600"/>
          </a:xfrm>
        </p:grpSpPr>
        <p:sp>
          <p:nvSpPr>
            <p:cNvPr id="1728" name="Rectangle"/>
            <p:cNvSpPr/>
            <p:nvPr/>
          </p:nvSpPr>
          <p:spPr>
            <a:xfrm>
              <a:off x="0" y="0"/>
              <a:ext cx="2571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729" name="Potential"/>
            <p:cNvSpPr txBox="1"/>
            <p:nvPr/>
          </p:nvSpPr>
          <p:spPr>
            <a:xfrm>
              <a:off x="0" y="0"/>
              <a:ext cx="25717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Potential</a:t>
              </a:r>
            </a:p>
          </p:txBody>
        </p:sp>
      </p:grpSp>
      <p:grpSp>
        <p:nvGrpSpPr>
          <p:cNvPr id="1733" name="Group"/>
          <p:cNvGrpSpPr/>
          <p:nvPr/>
        </p:nvGrpSpPr>
        <p:grpSpPr>
          <a:xfrm>
            <a:off x="5238750" y="3867150"/>
            <a:ext cx="5143500" cy="400050"/>
            <a:chOff x="0" y="0"/>
            <a:chExt cx="5143500" cy="400050"/>
          </a:xfrm>
        </p:grpSpPr>
        <p:sp>
          <p:nvSpPr>
            <p:cNvPr id="1731" name="Rectangle"/>
            <p:cNvSpPr/>
            <p:nvPr/>
          </p:nvSpPr>
          <p:spPr>
            <a:xfrm>
              <a:off x="0" y="0"/>
              <a:ext cx="5143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732" name="Clear next-step missions and low-friction onboarding rewards."/>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Clear next-step missions and low-friction onboarding rewards.</a:t>
              </a:r>
            </a:p>
          </p:txBody>
        </p:sp>
      </p:grpSp>
      <p:sp>
        <p:nvSpPr>
          <p:cNvPr id="1734" name="Rectangle"/>
          <p:cNvSpPr/>
          <p:nvPr/>
        </p:nvSpPr>
        <p:spPr>
          <a:xfrm>
            <a:off x="819150" y="4705350"/>
            <a:ext cx="1238250" cy="476250"/>
          </a:xfrm>
          <a:prstGeom prst="rect">
            <a:avLst/>
          </a:prstGeom>
          <a:solidFill>
            <a:srgbClr val="C94E3C"/>
          </a:solidFill>
          <a:ln w="3175">
            <a:solidFill>
              <a:srgbClr val="000000">
                <a:alpha val="0"/>
              </a:srgbClr>
            </a:solidFill>
          </a:ln>
        </p:spPr>
        <p:txBody>
          <a:bodyPr lIns="0" tIns="0" rIns="0" bIns="0"/>
          <a:lstStyle/>
          <a:p>
            <a:endParaRPr/>
          </a:p>
        </p:txBody>
      </p:sp>
      <p:grpSp>
        <p:nvGrpSpPr>
          <p:cNvPr id="1737" name="Group"/>
          <p:cNvGrpSpPr/>
          <p:nvPr/>
        </p:nvGrpSpPr>
        <p:grpSpPr>
          <a:xfrm>
            <a:off x="819150" y="4838700"/>
            <a:ext cx="1238250" cy="203200"/>
            <a:chOff x="0" y="0"/>
            <a:chExt cx="1238250" cy="203200"/>
          </a:xfrm>
        </p:grpSpPr>
        <p:sp>
          <p:nvSpPr>
            <p:cNvPr id="1735" name="Rectangle"/>
            <p:cNvSpPr/>
            <p:nvPr/>
          </p:nvSpPr>
          <p:spPr>
            <a:xfrm>
              <a:off x="0" y="0"/>
              <a:ext cx="1238250" cy="1905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b="1">
                  <a:solidFill>
                    <a:srgbClr val="FFFFFF"/>
                  </a:solidFill>
                  <a:latin typeface="Aptos"/>
                  <a:ea typeface="Aptos"/>
                  <a:cs typeface="Aptos"/>
                  <a:sym typeface="Aptos"/>
                </a:defRPr>
              </a:pPr>
              <a:endParaRPr/>
            </a:p>
          </p:txBody>
        </p:sp>
        <p:sp>
          <p:nvSpPr>
            <p:cNvPr id="1736" name="Reactivate"/>
            <p:cNvSpPr txBox="1"/>
            <p:nvPr/>
          </p:nvSpPr>
          <p:spPr>
            <a:xfrm>
              <a:off x="0" y="0"/>
              <a:ext cx="1238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b="1">
                  <a:solidFill>
                    <a:srgbClr val="FFFFFF"/>
                  </a:solidFill>
                  <a:latin typeface="Aptos"/>
                  <a:ea typeface="Aptos"/>
                  <a:cs typeface="Aptos"/>
                  <a:sym typeface="Aptos"/>
                </a:defRPr>
              </a:lvl1pPr>
            </a:lstStyle>
            <a:p>
              <a:r>
                <a:t>Reactivate</a:t>
              </a:r>
            </a:p>
          </p:txBody>
        </p:sp>
      </p:grpSp>
      <p:grpSp>
        <p:nvGrpSpPr>
          <p:cNvPr id="1740" name="Group"/>
          <p:cNvGrpSpPr/>
          <p:nvPr/>
        </p:nvGrpSpPr>
        <p:grpSpPr>
          <a:xfrm>
            <a:off x="2381250" y="4695825"/>
            <a:ext cx="2571750" cy="228600"/>
            <a:chOff x="0" y="0"/>
            <a:chExt cx="2571750" cy="228600"/>
          </a:xfrm>
        </p:grpSpPr>
        <p:sp>
          <p:nvSpPr>
            <p:cNvPr id="1738" name="Rectangle"/>
            <p:cNvSpPr/>
            <p:nvPr/>
          </p:nvSpPr>
          <p:spPr>
            <a:xfrm>
              <a:off x="0" y="0"/>
              <a:ext cx="25717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400" b="1">
                  <a:solidFill>
                    <a:srgbClr val="10242C"/>
                  </a:solidFill>
                  <a:latin typeface="Aptos Display"/>
                  <a:ea typeface="Aptos Display"/>
                  <a:cs typeface="Aptos Display"/>
                  <a:sym typeface="Aptos Display"/>
                </a:defRPr>
              </a:pPr>
              <a:endParaRPr/>
            </a:p>
          </p:txBody>
        </p:sp>
        <p:sp>
          <p:nvSpPr>
            <p:cNvPr id="1739" name="Least Loyal and Inactive"/>
            <p:cNvSpPr txBox="1"/>
            <p:nvPr/>
          </p:nvSpPr>
          <p:spPr>
            <a:xfrm>
              <a:off x="0" y="0"/>
              <a:ext cx="2571750" cy="2159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400" b="1">
                  <a:solidFill>
                    <a:srgbClr val="10242C"/>
                  </a:solidFill>
                  <a:latin typeface="Aptos Display"/>
                  <a:ea typeface="Aptos Display"/>
                  <a:cs typeface="Aptos Display"/>
                  <a:sym typeface="Aptos Display"/>
                </a:defRPr>
              </a:lvl1pPr>
            </a:lstStyle>
            <a:p>
              <a:r>
                <a:t>Least Loyal and Inactive</a:t>
              </a:r>
            </a:p>
          </p:txBody>
        </p:sp>
      </p:grpSp>
      <p:grpSp>
        <p:nvGrpSpPr>
          <p:cNvPr id="1743" name="Group"/>
          <p:cNvGrpSpPr/>
          <p:nvPr/>
        </p:nvGrpSpPr>
        <p:grpSpPr>
          <a:xfrm>
            <a:off x="5238750" y="4705350"/>
            <a:ext cx="5143500" cy="400050"/>
            <a:chOff x="0" y="0"/>
            <a:chExt cx="5143500" cy="400050"/>
          </a:xfrm>
        </p:grpSpPr>
        <p:sp>
          <p:nvSpPr>
            <p:cNvPr id="1741" name="Rectangle"/>
            <p:cNvSpPr/>
            <p:nvPr/>
          </p:nvSpPr>
          <p:spPr>
            <a:xfrm>
              <a:off x="0" y="0"/>
              <a:ext cx="514350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5E6A70"/>
                  </a:solidFill>
                  <a:latin typeface="Aptos"/>
                  <a:ea typeface="Aptos"/>
                  <a:cs typeface="Aptos"/>
                  <a:sym typeface="Aptos"/>
                </a:defRPr>
              </a:pPr>
              <a:endParaRPr/>
            </a:p>
          </p:txBody>
        </p:sp>
        <p:sp>
          <p:nvSpPr>
            <p:cNvPr id="1742" name="Small win-back offers, then measure response before deeper discounting."/>
            <p:cNvSpPr txBox="1"/>
            <p:nvPr/>
          </p:nvSpPr>
          <p:spPr>
            <a:xfrm>
              <a:off x="0" y="0"/>
              <a:ext cx="5143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5E6A70"/>
                  </a:solidFill>
                  <a:latin typeface="Aptos"/>
                  <a:ea typeface="Aptos"/>
                  <a:cs typeface="Aptos"/>
                  <a:sym typeface="Aptos"/>
                </a:defRPr>
              </a:lvl1pPr>
            </a:lstStyle>
            <a:p>
              <a:r>
                <a:t>Small win-back offers, then measure response before deeper discounting.</a:t>
              </a:r>
            </a:p>
          </p:txBody>
        </p:sp>
      </p:grpSp>
      <p:sp>
        <p:nvSpPr>
          <p:cNvPr id="1744" name="Rectangle"/>
          <p:cNvSpPr/>
          <p:nvPr/>
        </p:nvSpPr>
        <p:spPr>
          <a:xfrm>
            <a:off x="819150" y="5676900"/>
            <a:ext cx="94297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747" name="Group"/>
          <p:cNvGrpSpPr/>
          <p:nvPr/>
        </p:nvGrpSpPr>
        <p:grpSpPr>
          <a:xfrm>
            <a:off x="819150" y="5867400"/>
            <a:ext cx="1714500" cy="228600"/>
            <a:chOff x="0" y="0"/>
            <a:chExt cx="1714500" cy="228600"/>
          </a:xfrm>
        </p:grpSpPr>
        <p:sp>
          <p:nvSpPr>
            <p:cNvPr id="1745" name="Rectangle"/>
            <p:cNvSpPr/>
            <p:nvPr/>
          </p:nvSpPr>
          <p:spPr>
            <a:xfrm>
              <a:off x="0" y="0"/>
              <a:ext cx="1714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b="1">
                  <a:solidFill>
                    <a:srgbClr val="10242C"/>
                  </a:solidFill>
                  <a:latin typeface="Aptos Display"/>
                  <a:ea typeface="Aptos Display"/>
                  <a:cs typeface="Aptos Display"/>
                  <a:sym typeface="Aptos Display"/>
                </a:defRPr>
              </a:pPr>
              <a:endParaRPr/>
            </a:p>
          </p:txBody>
        </p:sp>
        <p:sp>
          <p:nvSpPr>
            <p:cNvPr id="1746" name="Campaign logic"/>
            <p:cNvSpPr txBox="1"/>
            <p:nvPr/>
          </p:nvSpPr>
          <p:spPr>
            <a:xfrm>
              <a:off x="0" y="0"/>
              <a:ext cx="1714500" cy="177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b="1">
                  <a:solidFill>
                    <a:srgbClr val="10242C"/>
                  </a:solidFill>
                  <a:latin typeface="Aptos Display"/>
                  <a:ea typeface="Aptos Display"/>
                  <a:cs typeface="Aptos Display"/>
                  <a:sym typeface="Aptos Display"/>
                </a:defRPr>
              </a:lvl1pPr>
            </a:lstStyle>
            <a:p>
              <a:r>
                <a:t>Campaign logic</a:t>
              </a:r>
            </a:p>
          </p:txBody>
        </p:sp>
      </p:grpSp>
      <p:grpSp>
        <p:nvGrpSpPr>
          <p:cNvPr id="1750" name="Group"/>
          <p:cNvGrpSpPr/>
          <p:nvPr/>
        </p:nvGrpSpPr>
        <p:grpSpPr>
          <a:xfrm>
            <a:off x="2667000" y="5848350"/>
            <a:ext cx="7239000" cy="304800"/>
            <a:chOff x="0" y="0"/>
            <a:chExt cx="7239000" cy="304800"/>
          </a:xfrm>
        </p:grpSpPr>
        <p:sp>
          <p:nvSpPr>
            <p:cNvPr id="1748" name="Rectangle"/>
            <p:cNvSpPr/>
            <p:nvPr/>
          </p:nvSpPr>
          <p:spPr>
            <a:xfrm>
              <a:off x="0" y="0"/>
              <a:ext cx="7239000" cy="3048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000">
                  <a:solidFill>
                    <a:srgbClr val="5E6A70"/>
                  </a:solidFill>
                  <a:latin typeface="Aptos"/>
                  <a:ea typeface="Aptos"/>
                  <a:cs typeface="Aptos"/>
                  <a:sym typeface="Aptos"/>
                </a:defRPr>
              </a:pPr>
              <a:endParaRPr/>
            </a:p>
          </p:txBody>
        </p:sp>
        <p:sp>
          <p:nvSpPr>
            <p:cNvPr id="1749" name="The ranking tells who matters most; the segment tells what message they should receive."/>
            <p:cNvSpPr txBox="1"/>
            <p:nvPr/>
          </p:nvSpPr>
          <p:spPr>
            <a:xfrm>
              <a:off x="0" y="0"/>
              <a:ext cx="7239000" cy="152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000">
                  <a:solidFill>
                    <a:srgbClr val="5E6A70"/>
                  </a:solidFill>
                  <a:latin typeface="Aptos"/>
                  <a:ea typeface="Aptos"/>
                  <a:cs typeface="Aptos"/>
                  <a:sym typeface="Aptos"/>
                </a:defRPr>
              </a:lvl1pPr>
            </a:lstStyle>
            <a:p>
              <a:r>
                <a:t>The ranking tells who matters most; the segment tells what message they should receive.</a:t>
              </a:r>
            </a:p>
          </p:txBody>
        </p:sp>
      </p:gr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 name="Rectangle"/>
          <p:cNvSpPr/>
          <p:nvPr/>
        </p:nvSpPr>
        <p:spPr>
          <a:xfrm>
            <a:off x="0" y="0"/>
            <a:ext cx="12192000" cy="6858000"/>
          </a:xfrm>
          <a:prstGeom prst="rect">
            <a:avLst/>
          </a:prstGeom>
          <a:solidFill>
            <a:srgbClr val="F8FAF9"/>
          </a:solidFill>
          <a:ln w="3175">
            <a:solidFill>
              <a:srgbClr val="000000">
                <a:alpha val="0"/>
              </a:srgbClr>
            </a:solidFill>
          </a:ln>
        </p:spPr>
        <p:txBody>
          <a:bodyPr lIns="0" tIns="0" rIns="0" bIns="0"/>
          <a:lstStyle/>
          <a:p>
            <a:endParaRPr/>
          </a:p>
        </p:txBody>
      </p:sp>
      <p:sp>
        <p:nvSpPr>
          <p:cNvPr id="1753" name="Rectangle"/>
          <p:cNvSpPr/>
          <p:nvPr/>
        </p:nvSpPr>
        <p:spPr>
          <a:xfrm>
            <a:off x="0" y="0"/>
            <a:ext cx="12192000" cy="76200"/>
          </a:xfrm>
          <a:prstGeom prst="rect">
            <a:avLst/>
          </a:prstGeom>
          <a:solidFill>
            <a:srgbClr val="0A6B61"/>
          </a:solidFill>
          <a:ln w="3175">
            <a:solidFill>
              <a:srgbClr val="000000">
                <a:alpha val="0"/>
              </a:srgbClr>
            </a:solidFill>
          </a:ln>
        </p:spPr>
        <p:txBody>
          <a:bodyPr lIns="0" tIns="0" rIns="0" bIns="0"/>
          <a:lstStyle/>
          <a:p>
            <a:endParaRPr/>
          </a:p>
        </p:txBody>
      </p:sp>
      <p:grpSp>
        <p:nvGrpSpPr>
          <p:cNvPr id="1756" name="Group"/>
          <p:cNvGrpSpPr/>
          <p:nvPr/>
        </p:nvGrpSpPr>
        <p:grpSpPr>
          <a:xfrm>
            <a:off x="533400" y="323850"/>
            <a:ext cx="4953000" cy="228600"/>
            <a:chOff x="0" y="0"/>
            <a:chExt cx="4953000" cy="228600"/>
          </a:xfrm>
        </p:grpSpPr>
        <p:sp>
          <p:nvSpPr>
            <p:cNvPr id="1754"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0A6B61"/>
                  </a:solidFill>
                  <a:latin typeface="Aptos"/>
                  <a:ea typeface="Aptos"/>
                  <a:cs typeface="Aptos"/>
                  <a:sym typeface="Aptos"/>
                </a:defRPr>
              </a:pPr>
              <a:endParaRPr/>
            </a:p>
          </p:txBody>
        </p:sp>
        <p:sp>
          <p:nvSpPr>
            <p:cNvPr id="1755"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0A6B61"/>
                  </a:solidFill>
                  <a:latin typeface="Aptos"/>
                  <a:ea typeface="Aptos"/>
                  <a:cs typeface="Aptos"/>
                  <a:sym typeface="Aptos"/>
                </a:defRPr>
              </a:lvl1pPr>
            </a:lstStyle>
            <a:p>
              <a:r>
                <a:t>CLICKS LOYALTY ANALYTICS</a:t>
              </a:r>
            </a:p>
          </p:txBody>
        </p:sp>
      </p:grpSp>
      <p:grpSp>
        <p:nvGrpSpPr>
          <p:cNvPr id="1759" name="Group"/>
          <p:cNvGrpSpPr/>
          <p:nvPr/>
        </p:nvGrpSpPr>
        <p:grpSpPr>
          <a:xfrm>
            <a:off x="533400" y="723900"/>
            <a:ext cx="6667500" cy="609600"/>
            <a:chOff x="0" y="0"/>
            <a:chExt cx="6667500" cy="609600"/>
          </a:xfrm>
        </p:grpSpPr>
        <p:sp>
          <p:nvSpPr>
            <p:cNvPr id="1757"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10242C"/>
                  </a:solidFill>
                  <a:latin typeface="Aptos Display"/>
                  <a:ea typeface="Aptos Display"/>
                  <a:cs typeface="Aptos Display"/>
                  <a:sym typeface="Aptos Display"/>
                </a:defRPr>
              </a:pPr>
              <a:endParaRPr/>
            </a:p>
          </p:txBody>
        </p:sp>
        <p:sp>
          <p:nvSpPr>
            <p:cNvPr id="1758" name="Limitations and Future Work"/>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10242C"/>
                  </a:solidFill>
                  <a:latin typeface="Aptos Display"/>
                  <a:ea typeface="Aptos Display"/>
                  <a:cs typeface="Aptos Display"/>
                  <a:sym typeface="Aptos Display"/>
                </a:defRPr>
              </a:lvl1pPr>
            </a:lstStyle>
            <a:p>
              <a:r>
                <a:t>Limitations and Future Work</a:t>
              </a:r>
            </a:p>
          </p:txBody>
        </p:sp>
      </p:grpSp>
      <p:grpSp>
        <p:nvGrpSpPr>
          <p:cNvPr id="1762" name="Group"/>
          <p:cNvGrpSpPr/>
          <p:nvPr/>
        </p:nvGrpSpPr>
        <p:grpSpPr>
          <a:xfrm>
            <a:off x="552450" y="1485900"/>
            <a:ext cx="6477000" cy="457200"/>
            <a:chOff x="0" y="0"/>
            <a:chExt cx="6477000" cy="457200"/>
          </a:xfrm>
        </p:grpSpPr>
        <p:sp>
          <p:nvSpPr>
            <p:cNvPr id="1760"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5E6A70"/>
                  </a:solidFill>
                  <a:latin typeface="Aptos"/>
                  <a:ea typeface="Aptos"/>
                  <a:cs typeface="Aptos"/>
                  <a:sym typeface="Aptos"/>
                </a:defRPr>
              </a:pPr>
              <a:endParaRPr/>
            </a:p>
          </p:txBody>
        </p:sp>
        <p:sp>
          <p:nvSpPr>
            <p:cNvPr id="1761" name="The system is strong for the project scope, but richer transaction history would make it more realistic for production."/>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5E6A70"/>
                  </a:solidFill>
                  <a:latin typeface="Aptos"/>
                  <a:ea typeface="Aptos"/>
                  <a:cs typeface="Aptos"/>
                  <a:sym typeface="Aptos"/>
                </a:defRPr>
              </a:lvl1pPr>
            </a:lstStyle>
            <a:p>
              <a:r>
                <a:t>The system is strong for the project scope, but richer transaction history would make it more realistic for production.</a:t>
              </a:r>
            </a:p>
          </p:txBody>
        </p:sp>
      </p:grpSp>
      <p:grpSp>
        <p:nvGrpSpPr>
          <p:cNvPr id="1765" name="Group"/>
          <p:cNvGrpSpPr/>
          <p:nvPr/>
        </p:nvGrpSpPr>
        <p:grpSpPr>
          <a:xfrm>
            <a:off x="533400" y="6438900"/>
            <a:ext cx="4953000" cy="228600"/>
            <a:chOff x="0" y="0"/>
            <a:chExt cx="4953000" cy="228600"/>
          </a:xfrm>
        </p:grpSpPr>
        <p:sp>
          <p:nvSpPr>
            <p:cNvPr id="176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738085"/>
                  </a:solidFill>
                  <a:latin typeface="Aptos"/>
                  <a:ea typeface="Aptos"/>
                  <a:cs typeface="Aptos"/>
                  <a:sym typeface="Aptos"/>
                </a:defRPr>
              </a:pPr>
              <a:endParaRPr/>
            </a:p>
          </p:txBody>
        </p:sp>
        <p:sp>
          <p:nvSpPr>
            <p:cNvPr id="1764"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738085"/>
                  </a:solidFill>
                  <a:latin typeface="Aptos"/>
                  <a:ea typeface="Aptos"/>
                  <a:cs typeface="Aptos"/>
                  <a:sym typeface="Aptos"/>
                </a:defRPr>
              </a:lvl1pPr>
            </a:lstStyle>
            <a:p>
              <a:r>
                <a:t>Clicks Loyalty Customer Analytics System</a:t>
              </a:r>
            </a:p>
          </p:txBody>
        </p:sp>
      </p:grpSp>
      <p:grpSp>
        <p:nvGrpSpPr>
          <p:cNvPr id="1768" name="Group"/>
          <p:cNvGrpSpPr/>
          <p:nvPr/>
        </p:nvGrpSpPr>
        <p:grpSpPr>
          <a:xfrm>
            <a:off x="11125200" y="6419850"/>
            <a:ext cx="514350" cy="228600"/>
            <a:chOff x="0" y="0"/>
            <a:chExt cx="514350" cy="228600"/>
          </a:xfrm>
        </p:grpSpPr>
        <p:sp>
          <p:nvSpPr>
            <p:cNvPr id="1766"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0A6B61"/>
                  </a:solidFill>
                  <a:latin typeface="Aptos"/>
                  <a:ea typeface="Aptos"/>
                  <a:cs typeface="Aptos"/>
                  <a:sym typeface="Aptos"/>
                </a:defRPr>
              </a:pPr>
              <a:endParaRPr/>
            </a:p>
          </p:txBody>
        </p:sp>
        <p:sp>
          <p:nvSpPr>
            <p:cNvPr id="1767" name="23"/>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0A6B61"/>
                  </a:solidFill>
                  <a:latin typeface="Aptos"/>
                  <a:ea typeface="Aptos"/>
                  <a:cs typeface="Aptos"/>
                  <a:sym typeface="Aptos"/>
                </a:defRPr>
              </a:lvl1pPr>
            </a:lstStyle>
            <a:p>
              <a:r>
                <a:t>23</a:t>
              </a:r>
            </a:p>
          </p:txBody>
        </p:sp>
      </p:grpSp>
      <p:grpSp>
        <p:nvGrpSpPr>
          <p:cNvPr id="1771" name="Group"/>
          <p:cNvGrpSpPr/>
          <p:nvPr/>
        </p:nvGrpSpPr>
        <p:grpSpPr>
          <a:xfrm>
            <a:off x="876300" y="2190750"/>
            <a:ext cx="1333500" cy="228600"/>
            <a:chOff x="0" y="0"/>
            <a:chExt cx="1333500" cy="228600"/>
          </a:xfrm>
        </p:grpSpPr>
        <p:sp>
          <p:nvSpPr>
            <p:cNvPr id="1769" name="Rectangle"/>
            <p:cNvSpPr/>
            <p:nvPr/>
          </p:nvSpPr>
          <p:spPr>
            <a:xfrm>
              <a:off x="0" y="0"/>
              <a:ext cx="1333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b="1">
                  <a:solidFill>
                    <a:srgbClr val="C94E3C"/>
                  </a:solidFill>
                  <a:latin typeface="Aptos"/>
                  <a:ea typeface="Aptos"/>
                  <a:cs typeface="Aptos"/>
                  <a:sym typeface="Aptos"/>
                </a:defRPr>
              </a:pPr>
              <a:endParaRPr/>
            </a:p>
          </p:txBody>
        </p:sp>
        <p:sp>
          <p:nvSpPr>
            <p:cNvPr id="1770" name="Limitation"/>
            <p:cNvSpPr txBox="1"/>
            <p:nvPr/>
          </p:nvSpPr>
          <p:spPr>
            <a:xfrm>
              <a:off x="0" y="0"/>
              <a:ext cx="13335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b="1">
                  <a:solidFill>
                    <a:srgbClr val="C94E3C"/>
                  </a:solidFill>
                  <a:latin typeface="Aptos"/>
                  <a:ea typeface="Aptos"/>
                  <a:cs typeface="Aptos"/>
                  <a:sym typeface="Aptos"/>
                </a:defRPr>
              </a:lvl1pPr>
            </a:lstStyle>
            <a:p>
              <a:r>
                <a:t>Limitation</a:t>
              </a:r>
            </a:p>
          </p:txBody>
        </p:sp>
      </p:grpSp>
      <p:sp>
        <p:nvSpPr>
          <p:cNvPr id="1772" name="Rectangle"/>
          <p:cNvSpPr/>
          <p:nvPr/>
        </p:nvSpPr>
        <p:spPr>
          <a:xfrm>
            <a:off x="2333625" y="2295525"/>
            <a:ext cx="476250" cy="19050"/>
          </a:xfrm>
          <a:prstGeom prst="rect">
            <a:avLst/>
          </a:prstGeom>
          <a:solidFill>
            <a:srgbClr val="C94E3C"/>
          </a:solidFill>
          <a:ln w="3175">
            <a:solidFill>
              <a:srgbClr val="000000">
                <a:alpha val="0"/>
              </a:srgbClr>
            </a:solidFill>
          </a:ln>
        </p:spPr>
        <p:txBody>
          <a:bodyPr lIns="0" tIns="0" rIns="0" bIns="0"/>
          <a:lstStyle/>
          <a:p>
            <a:endParaRPr/>
          </a:p>
        </p:txBody>
      </p:sp>
      <p:grpSp>
        <p:nvGrpSpPr>
          <p:cNvPr id="1775" name="Group"/>
          <p:cNvGrpSpPr/>
          <p:nvPr/>
        </p:nvGrpSpPr>
        <p:grpSpPr>
          <a:xfrm>
            <a:off x="3067050" y="2152650"/>
            <a:ext cx="6953250" cy="406400"/>
            <a:chOff x="0" y="0"/>
            <a:chExt cx="6953250" cy="406400"/>
          </a:xfrm>
        </p:grpSpPr>
        <p:sp>
          <p:nvSpPr>
            <p:cNvPr id="1773" name="Rectangle"/>
            <p:cNvSpPr/>
            <p:nvPr/>
          </p:nvSpPr>
          <p:spPr>
            <a:xfrm>
              <a:off x="0" y="0"/>
              <a:ext cx="69532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10242C"/>
                  </a:solidFill>
                  <a:latin typeface="Aptos"/>
                  <a:ea typeface="Aptos"/>
                  <a:cs typeface="Aptos"/>
                  <a:sym typeface="Aptos"/>
                </a:defRPr>
              </a:pPr>
              <a:endParaRPr/>
            </a:p>
          </p:txBody>
        </p:sp>
        <p:sp>
          <p:nvSpPr>
            <p:cNvPr id="1774" name="The dataset is member-level, not transaction-level, so it cannot measure exact purchase frequency or basket value."/>
            <p:cNvSpPr txBox="1"/>
            <p:nvPr/>
          </p:nvSpPr>
          <p:spPr>
            <a:xfrm>
              <a:off x="0" y="0"/>
              <a:ext cx="695325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10242C"/>
                  </a:solidFill>
                  <a:latin typeface="Aptos"/>
                  <a:ea typeface="Aptos"/>
                  <a:cs typeface="Aptos"/>
                  <a:sym typeface="Aptos"/>
                </a:defRPr>
              </a:lvl1pPr>
            </a:lstStyle>
            <a:p>
              <a:r>
                <a:t>The dataset is member-level, not transaction-level, so it cannot measure exact purchase frequency or basket value.</a:t>
              </a:r>
            </a:p>
          </p:txBody>
        </p:sp>
      </p:grpSp>
      <p:grpSp>
        <p:nvGrpSpPr>
          <p:cNvPr id="1778" name="Group"/>
          <p:cNvGrpSpPr/>
          <p:nvPr/>
        </p:nvGrpSpPr>
        <p:grpSpPr>
          <a:xfrm>
            <a:off x="876300" y="3829050"/>
            <a:ext cx="1333500" cy="228600"/>
            <a:chOff x="0" y="0"/>
            <a:chExt cx="1333500" cy="228600"/>
          </a:xfrm>
        </p:grpSpPr>
        <p:sp>
          <p:nvSpPr>
            <p:cNvPr id="1776" name="Rectangle"/>
            <p:cNvSpPr/>
            <p:nvPr/>
          </p:nvSpPr>
          <p:spPr>
            <a:xfrm>
              <a:off x="0" y="0"/>
              <a:ext cx="1333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b="1">
                  <a:solidFill>
                    <a:srgbClr val="0A6B61"/>
                  </a:solidFill>
                  <a:latin typeface="Aptos"/>
                  <a:ea typeface="Aptos"/>
                  <a:cs typeface="Aptos"/>
                  <a:sym typeface="Aptos"/>
                </a:defRPr>
              </a:pPr>
              <a:endParaRPr/>
            </a:p>
          </p:txBody>
        </p:sp>
        <p:sp>
          <p:nvSpPr>
            <p:cNvPr id="1777" name="Future Work"/>
            <p:cNvSpPr txBox="1"/>
            <p:nvPr/>
          </p:nvSpPr>
          <p:spPr>
            <a:xfrm>
              <a:off x="0" y="0"/>
              <a:ext cx="13335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b="1">
                  <a:solidFill>
                    <a:srgbClr val="0A6B61"/>
                  </a:solidFill>
                  <a:latin typeface="Aptos"/>
                  <a:ea typeface="Aptos"/>
                  <a:cs typeface="Aptos"/>
                  <a:sym typeface="Aptos"/>
                </a:defRPr>
              </a:lvl1pPr>
            </a:lstStyle>
            <a:p>
              <a:r>
                <a:t>Future Work</a:t>
              </a:r>
            </a:p>
          </p:txBody>
        </p:sp>
      </p:grpSp>
      <p:sp>
        <p:nvSpPr>
          <p:cNvPr id="1779" name="Rectangle"/>
          <p:cNvSpPr/>
          <p:nvPr/>
        </p:nvSpPr>
        <p:spPr>
          <a:xfrm>
            <a:off x="2333625" y="3933825"/>
            <a:ext cx="4762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1782" name="Group"/>
          <p:cNvGrpSpPr/>
          <p:nvPr/>
        </p:nvGrpSpPr>
        <p:grpSpPr>
          <a:xfrm>
            <a:off x="3067049" y="3790950"/>
            <a:ext cx="6953251" cy="406400"/>
            <a:chOff x="0" y="0"/>
            <a:chExt cx="6953250" cy="406400"/>
          </a:xfrm>
        </p:grpSpPr>
        <p:sp>
          <p:nvSpPr>
            <p:cNvPr id="1780" name="Rectangle"/>
            <p:cNvSpPr/>
            <p:nvPr/>
          </p:nvSpPr>
          <p:spPr>
            <a:xfrm>
              <a:off x="-1" y="3175"/>
              <a:ext cx="6953251" cy="400051"/>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10242C"/>
                  </a:solidFill>
                  <a:latin typeface="Aptos"/>
                  <a:ea typeface="Aptos"/>
                  <a:cs typeface="Aptos"/>
                  <a:sym typeface="Aptos"/>
                </a:defRPr>
              </a:pPr>
              <a:endParaRPr/>
            </a:p>
          </p:txBody>
        </p:sp>
        <p:sp>
          <p:nvSpPr>
            <p:cNvPr id="1781" name="Add transaction history, campaign responses, category preferences, and store/channel behavior."/>
            <p:cNvSpPr txBox="1"/>
            <p:nvPr/>
          </p:nvSpPr>
          <p:spPr>
            <a:xfrm>
              <a:off x="0" y="0"/>
              <a:ext cx="695325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10242C"/>
                  </a:solidFill>
                  <a:latin typeface="Aptos"/>
                  <a:ea typeface="Aptos"/>
                  <a:cs typeface="Aptos"/>
                  <a:sym typeface="Aptos"/>
                </a:defRPr>
              </a:lvl1pPr>
            </a:lstStyle>
            <a:p>
              <a:r>
                <a:t>Add transaction history, campaign responses, category preferences, and store/channel behavior.</a:t>
              </a:r>
            </a:p>
          </p:txBody>
        </p:sp>
      </p:grpSp>
      <p:grpSp>
        <p:nvGrpSpPr>
          <p:cNvPr id="2" name="Group"/>
          <p:cNvGrpSpPr/>
          <p:nvPr/>
        </p:nvGrpSpPr>
        <p:grpSpPr>
          <a:xfrm>
            <a:off x="876300" y="3086100"/>
            <a:ext cx="1333500" cy="228600"/>
            <a:chOff x="0" y="0"/>
            <a:chExt cx="1333500" cy="228600"/>
          </a:xfrm>
        </p:grpSpPr>
        <p:sp>
          <p:nvSpPr>
            <p:cNvPr id="3" name="Rectangle"/>
            <p:cNvSpPr/>
            <p:nvPr/>
          </p:nvSpPr>
          <p:spPr>
            <a:xfrm>
              <a:off x="0" y="0"/>
              <a:ext cx="13335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100" b="1">
                  <a:solidFill>
                    <a:srgbClr val="0A6B61"/>
                  </a:solidFill>
                  <a:latin typeface="Aptos"/>
                  <a:ea typeface="Aptos"/>
                  <a:cs typeface="Aptos"/>
                  <a:sym typeface="Aptos"/>
                </a:defRPr>
              </a:pPr>
              <a:endParaRPr/>
            </a:p>
          </p:txBody>
        </p:sp>
        <p:sp>
          <p:nvSpPr>
            <p:cNvPr id="4" name="Future Work"/>
            <p:cNvSpPr txBox="1"/>
            <p:nvPr/>
          </p:nvSpPr>
          <p:spPr>
            <a:xfrm>
              <a:off x="0" y="0"/>
              <a:ext cx="1333500" cy="1651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100" b="1">
                  <a:solidFill>
                    <a:srgbClr val="0A6B61"/>
                  </a:solidFill>
                  <a:latin typeface="Aptos"/>
                  <a:ea typeface="Aptos"/>
                  <a:cs typeface="Aptos"/>
                  <a:sym typeface="Aptos"/>
                </a:defRPr>
              </a:lvl1pPr>
            </a:lstStyle>
            <a:p>
              <a:r>
                <a:t>Future Work</a:t>
              </a:r>
            </a:p>
          </p:txBody>
        </p:sp>
      </p:grpSp>
      <p:sp>
        <p:nvSpPr>
          <p:cNvPr id="5" name="Rectangle"/>
          <p:cNvSpPr/>
          <p:nvPr/>
        </p:nvSpPr>
        <p:spPr>
          <a:xfrm>
            <a:off x="2333625" y="3190875"/>
            <a:ext cx="476250" cy="19050"/>
          </a:xfrm>
          <a:prstGeom prst="rect">
            <a:avLst/>
          </a:prstGeom>
          <a:solidFill>
            <a:srgbClr val="0A6B61"/>
          </a:solidFill>
          <a:ln w="3175">
            <a:solidFill>
              <a:srgbClr val="000000">
                <a:alpha val="0"/>
              </a:srgbClr>
            </a:solidFill>
          </a:ln>
        </p:spPr>
        <p:txBody>
          <a:bodyPr lIns="0" tIns="0" rIns="0" bIns="0"/>
          <a:lstStyle/>
          <a:p>
            <a:endParaRPr/>
          </a:p>
        </p:txBody>
      </p:sp>
      <p:grpSp>
        <p:nvGrpSpPr>
          <p:cNvPr id="6" name="Group"/>
          <p:cNvGrpSpPr/>
          <p:nvPr/>
        </p:nvGrpSpPr>
        <p:grpSpPr>
          <a:xfrm>
            <a:off x="3067050" y="3048000"/>
            <a:ext cx="6953250" cy="400050"/>
            <a:chOff x="0" y="0"/>
            <a:chExt cx="6953250" cy="400050"/>
          </a:xfrm>
        </p:grpSpPr>
        <p:sp>
          <p:nvSpPr>
            <p:cNvPr id="7" name="Rectangle"/>
            <p:cNvSpPr/>
            <p:nvPr/>
          </p:nvSpPr>
          <p:spPr>
            <a:xfrm>
              <a:off x="0" y="0"/>
              <a:ext cx="69532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10242C"/>
                  </a:solidFill>
                  <a:latin typeface="Aptos"/>
                  <a:ea typeface="Aptos"/>
                  <a:cs typeface="Aptos"/>
                  <a:sym typeface="Aptos"/>
                </a:defRPr>
              </a:pPr>
              <a:endParaRPr/>
            </a:p>
          </p:txBody>
        </p:sp>
        <p:sp>
          <p:nvSpPr>
            <p:cNvPr id="8" name="Use cross-validation and time-based validation when real customer history becomes available."/>
            <p:cNvSpPr txBox="1"/>
            <p:nvPr/>
          </p:nvSpPr>
          <p:spPr>
            <a:xfrm>
              <a:off x="0" y="0"/>
              <a:ext cx="6953250" cy="203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10242C"/>
                  </a:solidFill>
                  <a:latin typeface="Aptos"/>
                  <a:ea typeface="Aptos"/>
                  <a:cs typeface="Aptos"/>
                  <a:sym typeface="Aptos"/>
                </a:defRPr>
              </a:lvl1pPr>
            </a:lstStyle>
            <a:p>
              <a:r>
                <a:t>Use cross-validation and time-based validation when real customer history becomes available.</a:t>
              </a:r>
            </a:p>
          </p:txBody>
        </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1" name="Rectangle"/>
          <p:cNvSpPr/>
          <p:nvPr/>
        </p:nvSpPr>
        <p:spPr>
          <a:xfrm>
            <a:off x="0" y="0"/>
            <a:ext cx="12192000" cy="6858000"/>
          </a:xfrm>
          <a:prstGeom prst="rect">
            <a:avLst/>
          </a:prstGeom>
          <a:solidFill>
            <a:srgbClr val="0E2834"/>
          </a:solidFill>
          <a:ln w="3175">
            <a:solidFill>
              <a:srgbClr val="000000">
                <a:alpha val="0"/>
              </a:srgbClr>
            </a:solidFill>
          </a:ln>
        </p:spPr>
        <p:txBody>
          <a:bodyPr lIns="0" tIns="0" rIns="0" bIns="0"/>
          <a:lstStyle/>
          <a:p>
            <a:endParaRPr/>
          </a:p>
        </p:txBody>
      </p:sp>
      <p:sp>
        <p:nvSpPr>
          <p:cNvPr id="1792" name="Rectangle"/>
          <p:cNvSpPr/>
          <p:nvPr/>
        </p:nvSpPr>
        <p:spPr>
          <a:xfrm>
            <a:off x="0" y="0"/>
            <a:ext cx="12192000" cy="76200"/>
          </a:xfrm>
          <a:prstGeom prst="rect">
            <a:avLst/>
          </a:prstGeom>
          <a:solidFill>
            <a:srgbClr val="3C9D72"/>
          </a:solidFill>
          <a:ln w="3175">
            <a:solidFill>
              <a:srgbClr val="000000">
                <a:alpha val="0"/>
              </a:srgbClr>
            </a:solidFill>
          </a:ln>
        </p:spPr>
        <p:txBody>
          <a:bodyPr lIns="0" tIns="0" rIns="0" bIns="0"/>
          <a:lstStyle/>
          <a:p>
            <a:endParaRPr/>
          </a:p>
        </p:txBody>
      </p:sp>
      <p:grpSp>
        <p:nvGrpSpPr>
          <p:cNvPr id="1795" name="Group"/>
          <p:cNvGrpSpPr/>
          <p:nvPr/>
        </p:nvGrpSpPr>
        <p:grpSpPr>
          <a:xfrm>
            <a:off x="533400" y="323850"/>
            <a:ext cx="4953000" cy="228600"/>
            <a:chOff x="0" y="0"/>
            <a:chExt cx="4953000" cy="228600"/>
          </a:xfrm>
        </p:grpSpPr>
        <p:sp>
          <p:nvSpPr>
            <p:cNvPr id="1793"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900" b="1">
                  <a:solidFill>
                    <a:srgbClr val="BDE8DD"/>
                  </a:solidFill>
                  <a:latin typeface="Aptos"/>
                  <a:ea typeface="Aptos"/>
                  <a:cs typeface="Aptos"/>
                  <a:sym typeface="Aptos"/>
                </a:defRPr>
              </a:pPr>
              <a:endParaRPr/>
            </a:p>
          </p:txBody>
        </p:sp>
        <p:sp>
          <p:nvSpPr>
            <p:cNvPr id="1794" name="CLICKS LOYALTY ANALYTICS"/>
            <p:cNvSpPr txBox="1"/>
            <p:nvPr/>
          </p:nvSpPr>
          <p:spPr>
            <a:xfrm>
              <a:off x="0" y="0"/>
              <a:ext cx="495300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900" b="1">
                  <a:solidFill>
                    <a:srgbClr val="BDE8DD"/>
                  </a:solidFill>
                  <a:latin typeface="Aptos"/>
                  <a:ea typeface="Aptos"/>
                  <a:cs typeface="Aptos"/>
                  <a:sym typeface="Aptos"/>
                </a:defRPr>
              </a:lvl1pPr>
            </a:lstStyle>
            <a:p>
              <a:r>
                <a:t>CLICKS LOYALTY ANALYTICS</a:t>
              </a:r>
            </a:p>
          </p:txBody>
        </p:sp>
      </p:grpSp>
      <p:grpSp>
        <p:nvGrpSpPr>
          <p:cNvPr id="1798" name="Group"/>
          <p:cNvGrpSpPr/>
          <p:nvPr/>
        </p:nvGrpSpPr>
        <p:grpSpPr>
          <a:xfrm>
            <a:off x="533400" y="723900"/>
            <a:ext cx="6667500" cy="609600"/>
            <a:chOff x="0" y="0"/>
            <a:chExt cx="6667500" cy="609600"/>
          </a:xfrm>
        </p:grpSpPr>
        <p:sp>
          <p:nvSpPr>
            <p:cNvPr id="1796" name="Rectangle"/>
            <p:cNvSpPr/>
            <p:nvPr/>
          </p:nvSpPr>
          <p:spPr>
            <a:xfrm>
              <a:off x="0" y="0"/>
              <a:ext cx="6667500" cy="609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2900" b="1">
                  <a:solidFill>
                    <a:srgbClr val="FFFFFF"/>
                  </a:solidFill>
                  <a:latin typeface="Aptos Display"/>
                  <a:ea typeface="Aptos Display"/>
                  <a:cs typeface="Aptos Display"/>
                  <a:sym typeface="Aptos Display"/>
                </a:defRPr>
              </a:pPr>
              <a:endParaRPr/>
            </a:p>
          </p:txBody>
        </p:sp>
        <p:sp>
          <p:nvSpPr>
            <p:cNvPr id="1797" name="Final Conclusion"/>
            <p:cNvSpPr txBox="1"/>
            <p:nvPr/>
          </p:nvSpPr>
          <p:spPr>
            <a:xfrm>
              <a:off x="0" y="0"/>
              <a:ext cx="6667500"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2900" b="1">
                  <a:solidFill>
                    <a:srgbClr val="FFFFFF"/>
                  </a:solidFill>
                  <a:latin typeface="Aptos Display"/>
                  <a:ea typeface="Aptos Display"/>
                  <a:cs typeface="Aptos Display"/>
                  <a:sym typeface="Aptos Display"/>
                </a:defRPr>
              </a:lvl1pPr>
            </a:lstStyle>
            <a:p>
              <a:r>
                <a:t>Final Conclusion</a:t>
              </a:r>
            </a:p>
          </p:txBody>
        </p:sp>
      </p:grpSp>
      <p:grpSp>
        <p:nvGrpSpPr>
          <p:cNvPr id="1801" name="Group"/>
          <p:cNvGrpSpPr/>
          <p:nvPr/>
        </p:nvGrpSpPr>
        <p:grpSpPr>
          <a:xfrm>
            <a:off x="552450" y="1485900"/>
            <a:ext cx="6477000" cy="457200"/>
            <a:chOff x="0" y="0"/>
            <a:chExt cx="6477000" cy="457200"/>
          </a:xfrm>
        </p:grpSpPr>
        <p:sp>
          <p:nvSpPr>
            <p:cNvPr id="1799" name="Rectangle"/>
            <p:cNvSpPr/>
            <p:nvPr/>
          </p:nvSpPr>
          <p:spPr>
            <a:xfrm>
              <a:off x="0" y="0"/>
              <a:ext cx="6477000" cy="4572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300">
                  <a:solidFill>
                    <a:srgbClr val="DBE7E5"/>
                  </a:solidFill>
                  <a:latin typeface="Aptos"/>
                  <a:ea typeface="Aptos"/>
                  <a:cs typeface="Aptos"/>
                  <a:sym typeface="Aptos"/>
                </a:defRPr>
              </a:pPr>
              <a:endParaRPr/>
            </a:p>
          </p:txBody>
        </p:sp>
        <p:sp>
          <p:nvSpPr>
            <p:cNvPr id="1800" name="The final project is a complete loyalty analytics workflow with realistic data, documented logic, and model-backed business recommendations."/>
            <p:cNvSpPr txBox="1"/>
            <p:nvPr/>
          </p:nvSpPr>
          <p:spPr>
            <a:xfrm>
              <a:off x="0" y="0"/>
              <a:ext cx="647700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300">
                  <a:solidFill>
                    <a:srgbClr val="DBE7E5"/>
                  </a:solidFill>
                  <a:latin typeface="Aptos"/>
                  <a:ea typeface="Aptos"/>
                  <a:cs typeface="Aptos"/>
                  <a:sym typeface="Aptos"/>
                </a:defRPr>
              </a:lvl1pPr>
            </a:lstStyle>
            <a:p>
              <a:r>
                <a:t>The final project is a complete loyalty analytics workflow with realistic data, documented logic, and model-backed business recommendations.</a:t>
              </a:r>
            </a:p>
          </p:txBody>
        </p:sp>
      </p:grpSp>
      <p:grpSp>
        <p:nvGrpSpPr>
          <p:cNvPr id="1804" name="Group"/>
          <p:cNvGrpSpPr/>
          <p:nvPr/>
        </p:nvGrpSpPr>
        <p:grpSpPr>
          <a:xfrm>
            <a:off x="533400" y="6438900"/>
            <a:ext cx="4953000" cy="228600"/>
            <a:chOff x="0" y="0"/>
            <a:chExt cx="4953000" cy="228600"/>
          </a:xfrm>
        </p:grpSpPr>
        <p:sp>
          <p:nvSpPr>
            <p:cNvPr id="1802" name="Rectangle"/>
            <p:cNvSpPr/>
            <p:nvPr/>
          </p:nvSpPr>
          <p:spPr>
            <a:xfrm>
              <a:off x="0" y="0"/>
              <a:ext cx="495300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800">
                  <a:solidFill>
                    <a:srgbClr val="B6C9C6"/>
                  </a:solidFill>
                  <a:latin typeface="Aptos"/>
                  <a:ea typeface="Aptos"/>
                  <a:cs typeface="Aptos"/>
                  <a:sym typeface="Aptos"/>
                </a:defRPr>
              </a:pPr>
              <a:endParaRPr/>
            </a:p>
          </p:txBody>
        </p:sp>
        <p:sp>
          <p:nvSpPr>
            <p:cNvPr id="1803" name="Clicks Loyalty Customer Analytics System"/>
            <p:cNvSpPr txBox="1"/>
            <p:nvPr/>
          </p:nvSpPr>
          <p:spPr>
            <a:xfrm>
              <a:off x="0" y="0"/>
              <a:ext cx="4953000"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800">
                  <a:solidFill>
                    <a:srgbClr val="B6C9C6"/>
                  </a:solidFill>
                  <a:latin typeface="Aptos"/>
                  <a:ea typeface="Aptos"/>
                  <a:cs typeface="Aptos"/>
                  <a:sym typeface="Aptos"/>
                </a:defRPr>
              </a:lvl1pPr>
            </a:lstStyle>
            <a:p>
              <a:r>
                <a:t>Clicks Loyalty Customer Analytics System</a:t>
              </a:r>
            </a:p>
          </p:txBody>
        </p:sp>
      </p:grpSp>
      <p:grpSp>
        <p:nvGrpSpPr>
          <p:cNvPr id="1807" name="Group"/>
          <p:cNvGrpSpPr/>
          <p:nvPr/>
        </p:nvGrpSpPr>
        <p:grpSpPr>
          <a:xfrm>
            <a:off x="11125200" y="6419850"/>
            <a:ext cx="514350" cy="228600"/>
            <a:chOff x="0" y="0"/>
            <a:chExt cx="514350" cy="228600"/>
          </a:xfrm>
        </p:grpSpPr>
        <p:sp>
          <p:nvSpPr>
            <p:cNvPr id="1805" name="Rectangle"/>
            <p:cNvSpPr/>
            <p:nvPr/>
          </p:nvSpPr>
          <p:spPr>
            <a:xfrm>
              <a:off x="0" y="0"/>
              <a:ext cx="514350" cy="2286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r">
                <a:defRPr sz="900" b="1">
                  <a:solidFill>
                    <a:srgbClr val="BDE8DD"/>
                  </a:solidFill>
                  <a:latin typeface="Aptos"/>
                  <a:ea typeface="Aptos"/>
                  <a:cs typeface="Aptos"/>
                  <a:sym typeface="Aptos"/>
                </a:defRPr>
              </a:pPr>
              <a:endParaRPr/>
            </a:p>
          </p:txBody>
        </p:sp>
        <p:sp>
          <p:nvSpPr>
            <p:cNvPr id="1806" name="24"/>
            <p:cNvSpPr txBox="1"/>
            <p:nvPr/>
          </p:nvSpPr>
          <p:spPr>
            <a:xfrm>
              <a:off x="0" y="0"/>
              <a:ext cx="514350" cy="139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r">
                <a:defRPr sz="900" b="1">
                  <a:solidFill>
                    <a:srgbClr val="BDE8DD"/>
                  </a:solidFill>
                  <a:latin typeface="Aptos"/>
                  <a:ea typeface="Aptos"/>
                  <a:cs typeface="Aptos"/>
                  <a:sym typeface="Aptos"/>
                </a:defRPr>
              </a:lvl1pPr>
            </a:lstStyle>
            <a:p>
              <a:r>
                <a:t>24</a:t>
              </a:r>
            </a:p>
          </p:txBody>
        </p:sp>
      </p:grpSp>
      <p:sp>
        <p:nvSpPr>
          <p:cNvPr id="1808" name="Rectangle"/>
          <p:cNvSpPr/>
          <p:nvPr/>
        </p:nvSpPr>
        <p:spPr>
          <a:xfrm>
            <a:off x="704850" y="2381250"/>
            <a:ext cx="2990850" cy="2095500"/>
          </a:xfrm>
          <a:prstGeom prst="rect">
            <a:avLst/>
          </a:prstGeom>
          <a:solidFill>
            <a:srgbClr val="143744"/>
          </a:solidFill>
          <a:ln>
            <a:solidFill>
              <a:srgbClr val="2B5260"/>
            </a:solidFill>
          </a:ln>
        </p:spPr>
        <p:txBody>
          <a:bodyPr lIns="0" tIns="0" rIns="0" bIns="0"/>
          <a:lstStyle/>
          <a:p>
            <a:endParaRPr/>
          </a:p>
        </p:txBody>
      </p:sp>
      <p:sp>
        <p:nvSpPr>
          <p:cNvPr id="1809" name="Rectangle"/>
          <p:cNvSpPr/>
          <p:nvPr/>
        </p:nvSpPr>
        <p:spPr>
          <a:xfrm>
            <a:off x="704850" y="2381250"/>
            <a:ext cx="2990850" cy="66675"/>
          </a:xfrm>
          <a:prstGeom prst="rect">
            <a:avLst/>
          </a:prstGeom>
          <a:solidFill>
            <a:srgbClr val="3C9D72"/>
          </a:solidFill>
          <a:ln w="3175">
            <a:solidFill>
              <a:srgbClr val="000000">
                <a:alpha val="0"/>
              </a:srgbClr>
            </a:solidFill>
          </a:ln>
        </p:spPr>
        <p:txBody>
          <a:bodyPr lIns="0" tIns="0" rIns="0" bIns="0"/>
          <a:lstStyle/>
          <a:p>
            <a:endParaRPr/>
          </a:p>
        </p:txBody>
      </p:sp>
      <p:grpSp>
        <p:nvGrpSpPr>
          <p:cNvPr id="1812" name="Group"/>
          <p:cNvGrpSpPr/>
          <p:nvPr/>
        </p:nvGrpSpPr>
        <p:grpSpPr>
          <a:xfrm>
            <a:off x="933450" y="2724150"/>
            <a:ext cx="2533650" cy="323850"/>
            <a:chOff x="0" y="0"/>
            <a:chExt cx="2533650" cy="323850"/>
          </a:xfrm>
        </p:grpSpPr>
        <p:sp>
          <p:nvSpPr>
            <p:cNvPr id="1810" name="Rectangle"/>
            <p:cNvSpPr/>
            <p:nvPr/>
          </p:nvSpPr>
          <p:spPr>
            <a:xfrm>
              <a:off x="0" y="0"/>
              <a:ext cx="2533650" cy="3238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FFFFFF"/>
                  </a:solidFill>
                  <a:latin typeface="Aptos Display"/>
                  <a:ea typeface="Aptos Display"/>
                  <a:cs typeface="Aptos Display"/>
                  <a:sym typeface="Aptos Display"/>
                </a:defRPr>
              </a:pPr>
              <a:endParaRPr/>
            </a:p>
          </p:txBody>
        </p:sp>
        <p:sp>
          <p:nvSpPr>
            <p:cNvPr id="1811" name="Best Model"/>
            <p:cNvSpPr txBox="1"/>
            <p:nvPr/>
          </p:nvSpPr>
          <p:spPr>
            <a:xfrm>
              <a:off x="0" y="0"/>
              <a:ext cx="25336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FFFFFF"/>
                  </a:solidFill>
                  <a:latin typeface="Aptos Display"/>
                  <a:ea typeface="Aptos Display"/>
                  <a:cs typeface="Aptos Display"/>
                  <a:sym typeface="Aptos Display"/>
                </a:defRPr>
              </a:lvl1pPr>
            </a:lstStyle>
            <a:p>
              <a:r>
                <a:t>Best Model</a:t>
              </a:r>
            </a:p>
          </p:txBody>
        </p:sp>
      </p:grpSp>
      <p:grpSp>
        <p:nvGrpSpPr>
          <p:cNvPr id="1815" name="Group"/>
          <p:cNvGrpSpPr/>
          <p:nvPr/>
        </p:nvGrpSpPr>
        <p:grpSpPr>
          <a:xfrm>
            <a:off x="933450" y="3238500"/>
            <a:ext cx="2533650" cy="876300"/>
            <a:chOff x="0" y="0"/>
            <a:chExt cx="2533650" cy="876300"/>
          </a:xfrm>
        </p:grpSpPr>
        <p:sp>
          <p:nvSpPr>
            <p:cNvPr id="1813" name="Rectangle"/>
            <p:cNvSpPr/>
            <p:nvPr/>
          </p:nvSpPr>
          <p:spPr>
            <a:xfrm>
              <a:off x="0" y="0"/>
              <a:ext cx="2533650" cy="8763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D7E4E1"/>
                  </a:solidFill>
                  <a:latin typeface="Aptos"/>
                  <a:ea typeface="Aptos"/>
                  <a:cs typeface="Aptos"/>
                  <a:sym typeface="Aptos"/>
                </a:defRPr>
              </a:pPr>
              <a:endParaRPr/>
            </a:p>
          </p:txBody>
        </p:sp>
        <p:sp>
          <p:nvSpPr>
            <p:cNvPr id="1814" name="Gradient Boosting is selected because it leads the comparison on accuracy, balanced accuracy, and F1."/>
            <p:cNvSpPr txBox="1"/>
            <p:nvPr/>
          </p:nvSpPr>
          <p:spPr>
            <a:xfrm>
              <a:off x="0" y="0"/>
              <a:ext cx="2533650" cy="7112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D7E4E1"/>
                  </a:solidFill>
                  <a:latin typeface="Aptos"/>
                  <a:ea typeface="Aptos"/>
                  <a:cs typeface="Aptos"/>
                  <a:sym typeface="Aptos"/>
                </a:defRPr>
              </a:lvl1pPr>
            </a:lstStyle>
            <a:p>
              <a:r>
                <a:t>Gradient Boosting is selected because it leads the comparison on accuracy, balanced accuracy, and F1.</a:t>
              </a:r>
            </a:p>
          </p:txBody>
        </p:sp>
      </p:grpSp>
      <p:sp>
        <p:nvSpPr>
          <p:cNvPr id="1816" name="Rectangle"/>
          <p:cNvSpPr/>
          <p:nvPr/>
        </p:nvSpPr>
        <p:spPr>
          <a:xfrm>
            <a:off x="4210050" y="2381250"/>
            <a:ext cx="2990850" cy="2095500"/>
          </a:xfrm>
          <a:prstGeom prst="rect">
            <a:avLst/>
          </a:prstGeom>
          <a:solidFill>
            <a:srgbClr val="143744"/>
          </a:solidFill>
          <a:ln>
            <a:solidFill>
              <a:srgbClr val="2B5260"/>
            </a:solidFill>
          </a:ln>
        </p:spPr>
        <p:txBody>
          <a:bodyPr lIns="0" tIns="0" rIns="0" bIns="0"/>
          <a:lstStyle/>
          <a:p>
            <a:endParaRPr/>
          </a:p>
        </p:txBody>
      </p:sp>
      <p:sp>
        <p:nvSpPr>
          <p:cNvPr id="1817" name="Rectangle"/>
          <p:cNvSpPr/>
          <p:nvPr/>
        </p:nvSpPr>
        <p:spPr>
          <a:xfrm>
            <a:off x="4210050" y="2381250"/>
            <a:ext cx="2990850" cy="66675"/>
          </a:xfrm>
          <a:prstGeom prst="rect">
            <a:avLst/>
          </a:prstGeom>
          <a:solidFill>
            <a:srgbClr val="D99A16"/>
          </a:solidFill>
          <a:ln w="3175">
            <a:solidFill>
              <a:srgbClr val="000000">
                <a:alpha val="0"/>
              </a:srgbClr>
            </a:solidFill>
          </a:ln>
        </p:spPr>
        <p:txBody>
          <a:bodyPr lIns="0" tIns="0" rIns="0" bIns="0"/>
          <a:lstStyle/>
          <a:p>
            <a:endParaRPr/>
          </a:p>
        </p:txBody>
      </p:sp>
      <p:grpSp>
        <p:nvGrpSpPr>
          <p:cNvPr id="1820" name="Group"/>
          <p:cNvGrpSpPr/>
          <p:nvPr/>
        </p:nvGrpSpPr>
        <p:grpSpPr>
          <a:xfrm>
            <a:off x="4438650" y="2724150"/>
            <a:ext cx="2533650" cy="323850"/>
            <a:chOff x="0" y="0"/>
            <a:chExt cx="2533650" cy="323850"/>
          </a:xfrm>
        </p:grpSpPr>
        <p:sp>
          <p:nvSpPr>
            <p:cNvPr id="1818" name="Rectangle"/>
            <p:cNvSpPr/>
            <p:nvPr/>
          </p:nvSpPr>
          <p:spPr>
            <a:xfrm>
              <a:off x="0" y="0"/>
              <a:ext cx="2533650" cy="3238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FFFFFF"/>
                  </a:solidFill>
                  <a:latin typeface="Aptos Display"/>
                  <a:ea typeface="Aptos Display"/>
                  <a:cs typeface="Aptos Display"/>
                  <a:sym typeface="Aptos Display"/>
                </a:defRPr>
              </a:pPr>
              <a:endParaRPr/>
            </a:p>
          </p:txBody>
        </p:sp>
        <p:sp>
          <p:nvSpPr>
            <p:cNvPr id="1819" name="Best Use"/>
            <p:cNvSpPr txBox="1"/>
            <p:nvPr/>
          </p:nvSpPr>
          <p:spPr>
            <a:xfrm>
              <a:off x="0" y="0"/>
              <a:ext cx="25336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FFFFFF"/>
                  </a:solidFill>
                  <a:latin typeface="Aptos Display"/>
                  <a:ea typeface="Aptos Display"/>
                  <a:cs typeface="Aptos Display"/>
                  <a:sym typeface="Aptos Display"/>
                </a:defRPr>
              </a:lvl1pPr>
            </a:lstStyle>
            <a:p>
              <a:r>
                <a:t>Best Use</a:t>
              </a:r>
            </a:p>
          </p:txBody>
        </p:sp>
      </p:grpSp>
      <p:grpSp>
        <p:nvGrpSpPr>
          <p:cNvPr id="1823" name="Group"/>
          <p:cNvGrpSpPr/>
          <p:nvPr/>
        </p:nvGrpSpPr>
        <p:grpSpPr>
          <a:xfrm>
            <a:off x="4438650" y="3238500"/>
            <a:ext cx="2533650" cy="876300"/>
            <a:chOff x="0" y="0"/>
            <a:chExt cx="2533650" cy="876300"/>
          </a:xfrm>
        </p:grpSpPr>
        <p:sp>
          <p:nvSpPr>
            <p:cNvPr id="1821" name="Rectangle"/>
            <p:cNvSpPr/>
            <p:nvPr/>
          </p:nvSpPr>
          <p:spPr>
            <a:xfrm>
              <a:off x="0" y="0"/>
              <a:ext cx="2533650" cy="8763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D7E4E1"/>
                  </a:solidFill>
                  <a:latin typeface="Aptos"/>
                  <a:ea typeface="Aptos"/>
                  <a:cs typeface="Aptos"/>
                  <a:sym typeface="Aptos"/>
                </a:defRPr>
              </a:pPr>
              <a:endParaRPr/>
            </a:p>
          </p:txBody>
        </p:sp>
        <p:sp>
          <p:nvSpPr>
            <p:cNvPr id="1822" name="The ranked customer list and segments should drive retention, growth, and reactivation campaigns."/>
            <p:cNvSpPr txBox="1"/>
            <p:nvPr/>
          </p:nvSpPr>
          <p:spPr>
            <a:xfrm>
              <a:off x="0" y="0"/>
              <a:ext cx="2533650" cy="533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D7E4E1"/>
                  </a:solidFill>
                  <a:latin typeface="Aptos"/>
                  <a:ea typeface="Aptos"/>
                  <a:cs typeface="Aptos"/>
                  <a:sym typeface="Aptos"/>
                </a:defRPr>
              </a:lvl1pPr>
            </a:lstStyle>
            <a:p>
              <a:r>
                <a:t>The ranked customer list and segments should drive retention, growth, and reactivation campaigns.</a:t>
              </a:r>
            </a:p>
          </p:txBody>
        </p:sp>
      </p:grpSp>
      <p:sp>
        <p:nvSpPr>
          <p:cNvPr id="1824" name="Rectangle"/>
          <p:cNvSpPr/>
          <p:nvPr/>
        </p:nvSpPr>
        <p:spPr>
          <a:xfrm>
            <a:off x="7715250" y="2381250"/>
            <a:ext cx="2990850" cy="2095500"/>
          </a:xfrm>
          <a:prstGeom prst="rect">
            <a:avLst/>
          </a:prstGeom>
          <a:solidFill>
            <a:srgbClr val="143744"/>
          </a:solidFill>
          <a:ln>
            <a:solidFill>
              <a:srgbClr val="2B5260"/>
            </a:solidFill>
          </a:ln>
        </p:spPr>
        <p:txBody>
          <a:bodyPr lIns="0" tIns="0" rIns="0" bIns="0"/>
          <a:lstStyle/>
          <a:p>
            <a:endParaRPr/>
          </a:p>
        </p:txBody>
      </p:sp>
      <p:sp>
        <p:nvSpPr>
          <p:cNvPr id="1825" name="Rectangle"/>
          <p:cNvSpPr/>
          <p:nvPr/>
        </p:nvSpPr>
        <p:spPr>
          <a:xfrm>
            <a:off x="7715250" y="2381250"/>
            <a:ext cx="2990850" cy="66675"/>
          </a:xfrm>
          <a:prstGeom prst="rect">
            <a:avLst/>
          </a:prstGeom>
          <a:solidFill>
            <a:srgbClr val="C94E3C"/>
          </a:solidFill>
          <a:ln w="3175">
            <a:solidFill>
              <a:srgbClr val="000000">
                <a:alpha val="0"/>
              </a:srgbClr>
            </a:solidFill>
          </a:ln>
        </p:spPr>
        <p:txBody>
          <a:bodyPr lIns="0" tIns="0" rIns="0" bIns="0"/>
          <a:lstStyle/>
          <a:p>
            <a:endParaRPr/>
          </a:p>
        </p:txBody>
      </p:sp>
      <p:grpSp>
        <p:nvGrpSpPr>
          <p:cNvPr id="1828" name="Group"/>
          <p:cNvGrpSpPr/>
          <p:nvPr/>
        </p:nvGrpSpPr>
        <p:grpSpPr>
          <a:xfrm>
            <a:off x="7943850" y="2724150"/>
            <a:ext cx="2533650" cy="323850"/>
            <a:chOff x="0" y="0"/>
            <a:chExt cx="2533650" cy="323850"/>
          </a:xfrm>
        </p:grpSpPr>
        <p:sp>
          <p:nvSpPr>
            <p:cNvPr id="1826" name="Rectangle"/>
            <p:cNvSpPr/>
            <p:nvPr/>
          </p:nvSpPr>
          <p:spPr>
            <a:xfrm>
              <a:off x="0" y="0"/>
              <a:ext cx="2533650" cy="3238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b="1">
                  <a:solidFill>
                    <a:srgbClr val="FFFFFF"/>
                  </a:solidFill>
                  <a:latin typeface="Aptos Display"/>
                  <a:ea typeface="Aptos Display"/>
                  <a:cs typeface="Aptos Display"/>
                  <a:sym typeface="Aptos Display"/>
                </a:defRPr>
              </a:pPr>
              <a:endParaRPr/>
            </a:p>
          </p:txBody>
        </p:sp>
        <p:sp>
          <p:nvSpPr>
            <p:cNvPr id="1827" name="Best Next Step"/>
            <p:cNvSpPr txBox="1"/>
            <p:nvPr/>
          </p:nvSpPr>
          <p:spPr>
            <a:xfrm>
              <a:off x="0" y="0"/>
              <a:ext cx="2533650" cy="27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FFFFFF"/>
                  </a:solidFill>
                  <a:latin typeface="Aptos Display"/>
                  <a:ea typeface="Aptos Display"/>
                  <a:cs typeface="Aptos Display"/>
                  <a:sym typeface="Aptos Display"/>
                </a:defRPr>
              </a:lvl1pPr>
            </a:lstStyle>
            <a:p>
              <a:r>
                <a:t>Best Next Step</a:t>
              </a:r>
            </a:p>
          </p:txBody>
        </p:sp>
      </p:grpSp>
      <p:grpSp>
        <p:nvGrpSpPr>
          <p:cNvPr id="1831" name="Group"/>
          <p:cNvGrpSpPr/>
          <p:nvPr/>
        </p:nvGrpSpPr>
        <p:grpSpPr>
          <a:xfrm>
            <a:off x="7943850" y="3238500"/>
            <a:ext cx="2533650" cy="876300"/>
            <a:chOff x="0" y="0"/>
            <a:chExt cx="2533650" cy="876300"/>
          </a:xfrm>
        </p:grpSpPr>
        <p:sp>
          <p:nvSpPr>
            <p:cNvPr id="1829" name="Rectangle"/>
            <p:cNvSpPr/>
            <p:nvPr/>
          </p:nvSpPr>
          <p:spPr>
            <a:xfrm>
              <a:off x="0" y="0"/>
              <a:ext cx="2533650" cy="87630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defRPr sz="1200">
                  <a:solidFill>
                    <a:srgbClr val="D7E4E1"/>
                  </a:solidFill>
                  <a:latin typeface="Aptos"/>
                  <a:ea typeface="Aptos"/>
                  <a:cs typeface="Aptos"/>
                  <a:sym typeface="Aptos"/>
                </a:defRPr>
              </a:pPr>
              <a:endParaRPr/>
            </a:p>
          </p:txBody>
        </p:sp>
        <p:sp>
          <p:nvSpPr>
            <p:cNvPr id="1830" name="Add real transaction history to improve validation and make the model closer to production."/>
            <p:cNvSpPr txBox="1"/>
            <p:nvPr/>
          </p:nvSpPr>
          <p:spPr>
            <a:xfrm>
              <a:off x="0" y="0"/>
              <a:ext cx="2533650" cy="533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200">
                  <a:solidFill>
                    <a:srgbClr val="D7E4E1"/>
                  </a:solidFill>
                  <a:latin typeface="Aptos"/>
                  <a:ea typeface="Aptos"/>
                  <a:cs typeface="Aptos"/>
                  <a:sym typeface="Aptos"/>
                </a:defRPr>
              </a:lvl1pPr>
            </a:lstStyle>
            <a:p>
              <a:r>
                <a:t>Add real transaction history to improve validation and make the model closer to production.</a:t>
              </a:r>
            </a:p>
          </p:txBody>
        </p:sp>
      </p:grpSp>
      <p:sp>
        <p:nvSpPr>
          <p:cNvPr id="1832" name="Rectangle"/>
          <p:cNvSpPr/>
          <p:nvPr/>
        </p:nvSpPr>
        <p:spPr>
          <a:xfrm>
            <a:off x="704850" y="5008562"/>
            <a:ext cx="9944100" cy="12701"/>
          </a:xfrm>
          <a:prstGeom prst="rect">
            <a:avLst/>
          </a:prstGeom>
          <a:solidFill>
            <a:srgbClr val="315765"/>
          </a:solidFill>
          <a:ln w="3175">
            <a:solidFill>
              <a:srgbClr val="000000">
                <a:alpha val="0"/>
              </a:srgbClr>
            </a:solidFill>
          </a:ln>
        </p:spPr>
        <p:txBody>
          <a:bodyPr lIns="0" tIns="0" rIns="0" bIns="0"/>
          <a:lstStyle/>
          <a:p>
            <a:endParaRPr/>
          </a:p>
        </p:txBody>
      </p:sp>
      <p:grpSp>
        <p:nvGrpSpPr>
          <p:cNvPr id="1835" name="Group"/>
          <p:cNvGrpSpPr/>
          <p:nvPr/>
        </p:nvGrpSpPr>
        <p:grpSpPr>
          <a:xfrm>
            <a:off x="952500" y="5314950"/>
            <a:ext cx="9429750" cy="406400"/>
            <a:chOff x="0" y="0"/>
            <a:chExt cx="9429750" cy="406400"/>
          </a:xfrm>
        </p:grpSpPr>
        <p:sp>
          <p:nvSpPr>
            <p:cNvPr id="1833" name="Rectangle"/>
            <p:cNvSpPr/>
            <p:nvPr/>
          </p:nvSpPr>
          <p:spPr>
            <a:xfrm>
              <a:off x="0" y="0"/>
              <a:ext cx="9429750" cy="400050"/>
            </a:xfrm>
            <a:prstGeom prst="rect">
              <a:avLst/>
            </a:prstGeom>
            <a:solidFill>
              <a:srgbClr val="000000">
                <a:alpha val="0"/>
              </a:srgbClr>
            </a:solidFill>
            <a:ln w="3175" cap="flat">
              <a:solidFill>
                <a:srgbClr val="000000">
                  <a:alpha val="0"/>
                </a:srgbClr>
              </a:solidFill>
              <a:prstDash val="solid"/>
              <a:round/>
            </a:ln>
            <a:effectLst/>
          </p:spPr>
          <p:txBody>
            <a:bodyPr wrap="square" lIns="0" tIns="0" rIns="0" bIns="0" numCol="1" anchor="t">
              <a:noAutofit/>
            </a:bodyPr>
            <a:lstStyle/>
            <a:p>
              <a:pPr algn="ctr">
                <a:defRPr sz="1300">
                  <a:solidFill>
                    <a:srgbClr val="FFFFFF"/>
                  </a:solidFill>
                  <a:latin typeface="Aptos"/>
                  <a:ea typeface="Aptos"/>
                  <a:cs typeface="Aptos"/>
                  <a:sym typeface="Aptos"/>
                </a:defRPr>
              </a:pPr>
              <a:endParaRPr/>
            </a:p>
          </p:txBody>
        </p:sp>
        <p:sp>
          <p:nvSpPr>
            <p:cNvPr id="1834" name="Main takeaway: the model matters, but the full decision structure matters more: clean data, clear score logic, practical segments, and explainable outputs."/>
            <p:cNvSpPr txBox="1"/>
            <p:nvPr/>
          </p:nvSpPr>
          <p:spPr>
            <a:xfrm>
              <a:off x="0" y="0"/>
              <a:ext cx="9429750" cy="406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1300">
                  <a:solidFill>
                    <a:srgbClr val="FFFFFF"/>
                  </a:solidFill>
                  <a:latin typeface="Aptos"/>
                  <a:ea typeface="Aptos"/>
                  <a:cs typeface="Aptos"/>
                  <a:sym typeface="Aptos"/>
                </a:defRPr>
              </a:lvl1pPr>
            </a:lstStyle>
            <a:p>
              <a:r>
                <a:t>Main takeaway: the model matters, but the full decision structure matters more: clean data, clear score logic, practical segments, and explainable outputs.</a:t>
              </a:r>
            </a:p>
          </p:txBody>
        </p:sp>
      </p:grpSp>
    </p:spTree>
  </p:cSld>
  <p:clrMapOvr>
    <a:masterClrMapping/>
  </p:clrMapOvr>
  <p:transition spd="med"/>
</p:sld>
</file>

<file path=ppt/theme/theme1.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51</TotalTime>
  <Words>2711</Words>
  <Application>Microsoft Office PowerPoint</Application>
  <PresentationFormat>Widescreen</PresentationFormat>
  <Paragraphs>502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 Display</vt:lpstr>
      <vt:lpstr>Calibri</vt:lpstr>
      <vt:lpstr>Calibri Light</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faisal abidy</dc:creator>
  <cp:lastModifiedBy>faisal abidy</cp:lastModifiedBy>
  <cp:revision>2</cp:revision>
  <dcterms:modified xsi:type="dcterms:W3CDTF">2026-06-02T18:43:55Z</dcterms:modified>
</cp:coreProperties>
</file>